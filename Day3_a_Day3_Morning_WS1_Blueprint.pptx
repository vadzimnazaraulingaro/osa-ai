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notesSlides/notesSlide11.xml" ContentType="application/vnd.openxmlformats-officedocument.presentationml.notesSlide+xml"/>
  <Override PartName="/docProps/core.xml" ContentType="application/vnd.openxmlformats-package.core-properties+xml"/>
  <Override PartName="/ppt/slides/slide18.xml" ContentType="application/vnd.openxmlformats-officedocument.presentationml.slide+xml"/>
  <Override PartName="/ppt/slides/slide10.xml" ContentType="application/vnd.openxmlformats-officedocument.presentationml.slide+xml"/>
  <Override PartName="/docMetadata/LabelInfo.xml" ContentType="application/vnd.ms-office.classificationlabels+xml"/>
  <Override PartName="/ppt/viewProps.xml" ContentType="application/vnd.openxmlformats-officedocument.presentationml.viewProps+xml"/>
  <Override PartName="/docProps/custom.xml" ContentType="application/vnd.openxmlformats-officedocument.custom-properties+xml"/>
  <Override PartName="/docProps/app.xml" ContentType="application/vnd.openxmlformats-officedocument.extended-properties+xml"/>
  <Override PartName="/ppt/notesSlides/notesSlide4.xml" ContentType="application/vnd.openxmlformats-officedocument.presentationml.notesSlide+xml"/>
  <Override PartName="/ppt/slides/slide2.xml" ContentType="application/vnd.openxmlformats-officedocument.presentationml.slide+xml"/>
  <Override PartName="/ppt/notesMasters/notesMaster1.xml" ContentType="application/vnd.openxmlformats-officedocument.presentationml.notesMaster+xml"/>
  <Override PartName="/ppt/notesSlides/notesSlide3.xml" ContentType="application/vnd.openxmlformats-officedocument.presentationml.notesSlide+xml"/>
  <Override PartName="/ppt/slides/slide5.xml" ContentType="application/vnd.openxmlformats-officedocument.presentationml.slide+xml"/>
  <Override PartName="/ppt/notesSlides/notesSlide18.xml" ContentType="application/vnd.openxmlformats-officedocument.presentationml.notesSlide+xml"/>
  <Override PartName="/ppt/slides/slide16.xml" ContentType="application/vnd.openxmlformats-officedocument.presentationml.slide+xml"/>
  <Override PartName="/ppt/slideLayouts/slideLayout1.xml" ContentType="application/vnd.openxmlformats-officedocument.presentationml.slideLayout+xml"/>
  <Override PartName="/ppt/notesSlides/notesSlide17.xml" ContentType="application/vnd.openxmlformats-officedocument.presentationml.notesSlide+xml"/>
  <Override PartName="/ppt/notesSlides/notesSlide8.xml" ContentType="application/vnd.openxmlformats-officedocument.presentationml.notesSlide+xml"/>
  <Override PartName="/ppt/notesSlides/notesSlide13.xml" ContentType="application/vnd.openxmlformats-officedocument.presentationml.notesSlide+xml"/>
  <Override PartName="/ppt/notesSlides/notesSlide1.xml" ContentType="application/vnd.openxmlformats-officedocument.presentationml.notesSlide+xml"/>
  <Override PartName="/ppt/slides/slide7.xml" ContentType="application/vnd.openxmlformats-officedocument.presentationml.slide+xml"/>
  <Override PartName="/ppt/webextensions/taskpanes.xml" ContentType="application/vnd.ms-office.webextensiontaskpanes+xml"/>
  <Override PartName="/ppt/notesSlides/notesSlide10.xml" ContentType="application/vnd.openxmlformats-officedocument.presentationml.notesSlide+xml"/>
  <Override PartName="/ppt/notesSlides/notesSlide9.xml" ContentType="application/vnd.openxmlformats-officedocument.presentationml.notesSlide+xml"/>
  <Override PartName="/ppt/notesSlides/notesSlide12.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slides/slide4.xml" ContentType="application/vnd.openxmlformats-officedocument.presentationml.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presProps.xml" ContentType="application/vnd.openxmlformats-officedocument.presentationml.presProps+xml"/>
  <Override PartName="/ppt/notesSlides/notesSlide5.xml" ContentType="application/vnd.openxmlformats-officedocument.presentationml.notesSlide+xml"/>
  <Override PartName="/ppt/slides/slide3.xml" ContentType="application/vnd.openxmlformats-officedocument.presentationml.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slides/slide1.xml" ContentType="application/vnd.openxmlformats-officedocument.presentationml.slide+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6.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7.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webextensions/webextension1.xml" ContentType="application/vnd.ms-office.webextens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7" Type="http://schemas.microsoft.com/office/2020/02/relationships/classificationlabels" Target="docMetadata/LabelInfo.xml"/><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55" d="100"/>
          <a:sy n="155" d="100"/>
        </p:scale>
        <p:origin x="2646" y="15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customXml" Target="../customXml/item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28" Type="http://schemas.openxmlformats.org/officeDocument/2006/relationships/customXml" Target="../customXml/item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30" Type="http://schemas.openxmlformats.org/officeDocument/2006/relationships/customXml" Target="../customXml/item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898122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CA8D5B1-3C75-1151-8DC5-D50C2DFFE9ED}"/>
              </a:ext>
            </a:extLst>
          </p:cNvPr>
          <p:cNvSpPr txBox="1"/>
          <p:nvPr userDrawn="1">
            <p:extLst>
              <p:ext uri="{1162E1C5-73C7-4A58-AE30-91384D911F3F}">
                <p184:classification xmlns:p184="http://schemas.microsoft.com/office/powerpoint/2018/4/main" val="ftr"/>
              </p:ext>
            </p:extLst>
          </p:nvPr>
        </p:nvSpPr>
        <p:spPr>
          <a:xfrm>
            <a:off x="5238750" y="6642100"/>
            <a:ext cx="1739900" cy="152400"/>
          </a:xfrm>
          <a:prstGeom prst="rect">
            <a:avLst/>
          </a:prstGeom>
        </p:spPr>
        <p:txBody>
          <a:bodyPr horzOverflow="overflow" lIns="0" tIns="0" rIns="0" bIns="0">
            <a:spAutoFit/>
          </a:bodyPr>
          <a:lstStyle/>
          <a:p>
            <a:pPr algn="l"/>
            <a:r>
              <a:rPr lang="en-US" sz="1000">
                <a:solidFill>
                  <a:srgbClr val="000000">
                    <a:alpha val="50000"/>
                  </a:srgbClr>
                </a:solidFill>
                <a:latin typeface="Aptos" panose="020B0004020202020204" pitchFamily="34" charset="0"/>
              </a:rPr>
              <a:t>Mondelez International Internal</a:t>
            </a:r>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4F2170"/>
        </a:solidFill>
        <a:effectLst/>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E18719"/>
          </a:solidFill>
          <a:ln/>
        </p:spPr>
        <p:txBody>
          <a:bodyPr/>
          <a:lstStyle/>
          <a:p>
            <a:endParaRPr lang="en-US"/>
          </a:p>
        </p:txBody>
      </p:sp>
      <p:sp>
        <p:nvSpPr>
          <p:cNvPr id="3" name="Text 1"/>
          <p:cNvSpPr/>
          <p:nvPr/>
        </p:nvSpPr>
        <p:spPr>
          <a:xfrm>
            <a:off x="914400" y="1280160"/>
            <a:ext cx="9144000" cy="457200"/>
          </a:xfrm>
          <a:prstGeom prst="rect">
            <a:avLst/>
          </a:prstGeom>
          <a:noFill/>
          <a:ln/>
        </p:spPr>
        <p:txBody>
          <a:bodyPr wrap="square" rtlCol="0" anchor="ctr"/>
          <a:lstStyle/>
          <a:p>
            <a:pPr marL="0" indent="0">
              <a:buNone/>
            </a:pPr>
            <a:r>
              <a:rPr lang="en-US" sz="1800" dirty="0">
                <a:solidFill>
                  <a:srgbClr val="E18719"/>
                </a:solidFill>
                <a:latin typeface="Calibri" pitchFamily="34" charset="0"/>
                <a:ea typeface="Calibri" pitchFamily="34" charset="-122"/>
                <a:cs typeface="Calibri" pitchFamily="34" charset="-120"/>
              </a:rPr>
              <a:t>Day 3 — Morning</a:t>
            </a:r>
            <a:endParaRPr lang="en-US" sz="1800" dirty="0"/>
          </a:p>
        </p:txBody>
      </p:sp>
      <p:sp>
        <p:nvSpPr>
          <p:cNvPr id="4" name="Text 2"/>
          <p:cNvSpPr/>
          <p:nvPr/>
        </p:nvSpPr>
        <p:spPr>
          <a:xfrm>
            <a:off x="914400" y="1828800"/>
            <a:ext cx="10058400" cy="731520"/>
          </a:xfrm>
          <a:prstGeom prst="rect">
            <a:avLst/>
          </a:prstGeom>
          <a:noFill/>
          <a:ln/>
        </p:spPr>
        <p:txBody>
          <a:bodyPr wrap="square" rtlCol="0" anchor="ctr"/>
          <a:lstStyle/>
          <a:p>
            <a:pPr marL="0" indent="0">
              <a:buNone/>
            </a:pPr>
            <a:r>
              <a:rPr lang="en-US" sz="3800" dirty="0">
                <a:solidFill>
                  <a:srgbClr val="FFFFFF"/>
                </a:solidFill>
                <a:latin typeface="Arial" pitchFamily="34" charset="0"/>
                <a:ea typeface="Arial" pitchFamily="34" charset="-122"/>
                <a:cs typeface="Arial" pitchFamily="34" charset="-120"/>
              </a:rPr>
              <a:t>WS-1 Executable Blueprint</a:t>
            </a:r>
            <a:endParaRPr lang="en-US" sz="3800" dirty="0"/>
          </a:p>
        </p:txBody>
      </p:sp>
      <p:sp>
        <p:nvSpPr>
          <p:cNvPr id="5" name="Text 3"/>
          <p:cNvSpPr/>
          <p:nvPr/>
        </p:nvSpPr>
        <p:spPr>
          <a:xfrm>
            <a:off x="914400" y="2651760"/>
            <a:ext cx="10058400" cy="822960"/>
          </a:xfrm>
          <a:prstGeom prst="rect">
            <a:avLst/>
          </a:prstGeom>
          <a:noFill/>
          <a:ln/>
        </p:spPr>
        <p:txBody>
          <a:bodyPr wrap="square" rtlCol="0" anchor="ctr"/>
          <a:lstStyle/>
          <a:p>
            <a:pPr marL="0" indent="0">
              <a:buNone/>
            </a:pPr>
            <a:r>
              <a:rPr lang="en-US" sz="2400" dirty="0">
                <a:solidFill>
                  <a:srgbClr val="E8DFF0"/>
                </a:solidFill>
                <a:latin typeface="Arial" pitchFamily="34" charset="0"/>
                <a:ea typeface="Arial" pitchFamily="34" charset="-122"/>
                <a:cs typeface="Arial" pitchFamily="34" charset="-120"/>
              </a:rPr>
              <a:t>Build on Current Databricks / GCP</a:t>
            </a:r>
            <a:endParaRPr lang="en-US" sz="2400" dirty="0"/>
          </a:p>
          <a:p>
            <a:pPr marL="0" indent="0">
              <a:buNone/>
            </a:pPr>
            <a:r>
              <a:rPr lang="en-US" sz="2400" dirty="0">
                <a:solidFill>
                  <a:srgbClr val="E8DFF0"/>
                </a:solidFill>
                <a:latin typeface="Arial" pitchFamily="34" charset="0"/>
                <a:ea typeface="Arial" pitchFamily="34" charset="-122"/>
                <a:cs typeface="Arial" pitchFamily="34" charset="-120"/>
              </a:rPr>
              <a:t>(Mexico &amp; Wacam)</a:t>
            </a:r>
            <a:endParaRPr lang="en-US" sz="2400" dirty="0"/>
          </a:p>
        </p:txBody>
      </p:sp>
      <p:sp>
        <p:nvSpPr>
          <p:cNvPr id="6" name="Shape 4"/>
          <p:cNvSpPr/>
          <p:nvPr/>
        </p:nvSpPr>
        <p:spPr>
          <a:xfrm>
            <a:off x="914400" y="3749040"/>
            <a:ext cx="2743200" cy="36576"/>
          </a:xfrm>
          <a:prstGeom prst="rect">
            <a:avLst/>
          </a:prstGeom>
          <a:solidFill>
            <a:srgbClr val="E18719"/>
          </a:solidFill>
          <a:ln/>
        </p:spPr>
        <p:txBody>
          <a:bodyPr/>
          <a:lstStyle/>
          <a:p>
            <a:endParaRPr lang="en-US"/>
          </a:p>
        </p:txBody>
      </p:sp>
      <p:sp>
        <p:nvSpPr>
          <p:cNvPr id="7" name="Text 5"/>
          <p:cNvSpPr/>
          <p:nvPr/>
        </p:nvSpPr>
        <p:spPr>
          <a:xfrm>
            <a:off x="914400" y="4023360"/>
            <a:ext cx="9144000" cy="640080"/>
          </a:xfrm>
          <a:prstGeom prst="rect">
            <a:avLst/>
          </a:prstGeom>
          <a:noFill/>
          <a:ln/>
        </p:spPr>
        <p:txBody>
          <a:bodyPr wrap="square" rtlCol="0" anchor="ctr"/>
          <a:lstStyle/>
          <a:p>
            <a:pPr marL="0" indent="0">
              <a:buNone/>
            </a:pPr>
            <a:r>
              <a:rPr lang="en-US" sz="1400" dirty="0">
                <a:solidFill>
                  <a:srgbClr val="E8DFF0"/>
                </a:solidFill>
                <a:latin typeface="Calibri" pitchFamily="34" charset="0"/>
                <a:ea typeface="Calibri" pitchFamily="34" charset="-122"/>
                <a:cs typeface="Calibri" pitchFamily="34" charset="-120"/>
              </a:rPr>
              <a:t>LA OSA Mexico &amp; Wacam Harmonization Workshop</a:t>
            </a:r>
            <a:endParaRPr lang="en-US" sz="1400" dirty="0"/>
          </a:p>
          <a:p>
            <a:pPr marL="0" indent="0">
              <a:buNone/>
            </a:pPr>
            <a:r>
              <a:rPr lang="en-US" sz="1400" dirty="0">
                <a:solidFill>
                  <a:srgbClr val="E8DFF0"/>
                </a:solidFill>
                <a:latin typeface="Calibri" pitchFamily="34" charset="0"/>
                <a:ea typeface="Calibri" pitchFamily="34" charset="-122"/>
                <a:cs typeface="Calibri" pitchFamily="34" charset="-120"/>
              </a:rPr>
              <a:t>October 21, 2026  |  08:30 – 12:30</a:t>
            </a:r>
            <a:endParaRPr lang="en-US" sz="1400" dirty="0"/>
          </a:p>
        </p:txBody>
      </p:sp>
      <p:sp>
        <p:nvSpPr>
          <p:cNvPr id="8" name="Text 6"/>
          <p:cNvSpPr/>
          <p:nvPr/>
        </p:nvSpPr>
        <p:spPr>
          <a:xfrm>
            <a:off x="914400" y="5669280"/>
            <a:ext cx="9144000" cy="365760"/>
          </a:xfrm>
          <a:prstGeom prst="rect">
            <a:avLst/>
          </a:prstGeom>
          <a:noFill/>
          <a:ln/>
        </p:spPr>
        <p:txBody>
          <a:bodyPr wrap="square" rtlCol="0" anchor="ctr"/>
          <a:lstStyle/>
          <a:p>
            <a:pPr marL="0" indent="0">
              <a:buNone/>
            </a:pPr>
            <a:r>
              <a:rPr lang="en-US" sz="1100" i="1" dirty="0">
                <a:solidFill>
                  <a:srgbClr val="E8DFF0"/>
                </a:solidFill>
                <a:latin typeface="Calibri" pitchFamily="34" charset="0"/>
                <a:ea typeface="Calibri" pitchFamily="34" charset="-122"/>
                <a:cs typeface="Calibri" pitchFamily="34" charset="-120"/>
              </a:rPr>
              <a:t>MATRIX-AI Technical Blueprint Workshop v07</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4F2170"/>
          </a:solidFill>
          <a:ln/>
        </p:spPr>
        <p:txBody>
          <a:bodyPr/>
          <a:lstStyle/>
          <a:p>
            <a:endParaRPr lang="en-US"/>
          </a:p>
        </p:txBody>
      </p:sp>
      <p:sp>
        <p:nvSpPr>
          <p:cNvPr id="3" name="Text 1"/>
          <p:cNvSpPr/>
          <p:nvPr/>
        </p:nvSpPr>
        <p:spPr>
          <a:xfrm>
            <a:off x="548640" y="137160"/>
            <a:ext cx="10515600" cy="502920"/>
          </a:xfrm>
          <a:prstGeom prst="rect">
            <a:avLst/>
          </a:prstGeom>
          <a:noFill/>
          <a:ln/>
        </p:spPr>
        <p:txBody>
          <a:bodyPr wrap="square" rtlCol="0" anchor="ctr"/>
          <a:lstStyle/>
          <a:p>
            <a:pPr marL="0" indent="0">
              <a:buNone/>
            </a:pPr>
            <a:r>
              <a:rPr lang="en-US" sz="2400" dirty="0">
                <a:solidFill>
                  <a:srgbClr val="FFFFFF"/>
                </a:solidFill>
                <a:latin typeface="Arial" pitchFamily="34" charset="0"/>
                <a:ea typeface="Arial" pitchFamily="34" charset="-122"/>
                <a:cs typeface="Arial" pitchFamily="34" charset="-120"/>
              </a:rPr>
              <a:t>Session Objective &amp; Context</a:t>
            </a:r>
            <a:endParaRPr lang="en-US" sz="2400" dirty="0"/>
          </a:p>
        </p:txBody>
      </p:sp>
      <p:sp>
        <p:nvSpPr>
          <p:cNvPr id="4" name="Text 2"/>
          <p:cNvSpPr/>
          <p:nvPr/>
        </p:nvSpPr>
        <p:spPr>
          <a:xfrm>
            <a:off x="548640" y="594360"/>
            <a:ext cx="10515600" cy="320040"/>
          </a:xfrm>
          <a:prstGeom prst="rect">
            <a:avLst/>
          </a:prstGeom>
          <a:noFill/>
          <a:ln/>
        </p:spPr>
        <p:txBody>
          <a:bodyPr wrap="square" rtlCol="0" anchor="ctr"/>
          <a:lstStyle/>
          <a:p>
            <a:pPr marL="0" indent="0">
              <a:buNone/>
            </a:pPr>
            <a:r>
              <a:rPr lang="en-US" sz="1300" dirty="0">
                <a:solidFill>
                  <a:srgbClr val="E8DFF0"/>
                </a:solidFill>
                <a:latin typeface="Calibri" pitchFamily="34" charset="0"/>
                <a:ea typeface="Calibri" pitchFamily="34" charset="-122"/>
                <a:cs typeface="Calibri" pitchFamily="34" charset="-120"/>
              </a:rPr>
              <a:t>WS-1: The Known Design Build</a:t>
            </a:r>
            <a:endParaRPr lang="en-US" sz="1300" dirty="0"/>
          </a:p>
        </p:txBody>
      </p:sp>
      <p:sp>
        <p:nvSpPr>
          <p:cNvPr id="5" name="Shape 3"/>
          <p:cNvSpPr/>
          <p:nvPr/>
        </p:nvSpPr>
        <p:spPr>
          <a:xfrm>
            <a:off x="0" y="6492240"/>
            <a:ext cx="12188952" cy="365760"/>
          </a:xfrm>
          <a:prstGeom prst="rect">
            <a:avLst/>
          </a:prstGeom>
          <a:solidFill>
            <a:srgbClr val="3A1854"/>
          </a:solidFill>
          <a:ln/>
        </p:spPr>
        <p:txBody>
          <a:bodyPr/>
          <a:lstStyle/>
          <a:p>
            <a:endParaRPr lang="en-US"/>
          </a:p>
        </p:txBody>
      </p:sp>
      <p:sp>
        <p:nvSpPr>
          <p:cNvPr id="6" name="Text 4"/>
          <p:cNvSpPr/>
          <p:nvPr/>
        </p:nvSpPr>
        <p:spPr>
          <a:xfrm>
            <a:off x="548640" y="6510528"/>
            <a:ext cx="9144000" cy="320040"/>
          </a:xfrm>
          <a:prstGeom prst="rect">
            <a:avLst/>
          </a:prstGeom>
          <a:noFill/>
          <a:ln/>
        </p:spPr>
        <p:txBody>
          <a:bodyPr wrap="square" rtlCol="0" anchor="ctr"/>
          <a:lstStyle/>
          <a:p>
            <a:pPr marL="0" indent="0">
              <a:buNone/>
            </a:pPr>
            <a:r>
              <a:rPr lang="en-US" sz="900" dirty="0">
                <a:solidFill>
                  <a:srgbClr val="E8DFF0"/>
                </a:solidFill>
                <a:latin typeface="Calibri" pitchFamily="34" charset="0"/>
                <a:ea typeface="Calibri" pitchFamily="34" charset="-122"/>
                <a:cs typeface="Calibri" pitchFamily="34" charset="-120"/>
              </a:rPr>
              <a:t>LA OSA 2.0 Blueprint Workshop  |  Day 3 Morning  |  WS-1: Mexico &amp; Wacam</a:t>
            </a:r>
            <a:endParaRPr lang="en-US" sz="900" dirty="0"/>
          </a:p>
        </p:txBody>
      </p:sp>
      <p:sp>
        <p:nvSpPr>
          <p:cNvPr id="7" name="Text 5"/>
          <p:cNvSpPr/>
          <p:nvPr/>
        </p:nvSpPr>
        <p:spPr>
          <a:xfrm>
            <a:off x="10972800" y="6510528"/>
            <a:ext cx="914400" cy="320040"/>
          </a:xfrm>
          <a:prstGeom prst="rect">
            <a:avLst/>
          </a:prstGeom>
          <a:noFill/>
          <a:ln/>
        </p:spPr>
        <p:txBody>
          <a:bodyPr wrap="square" rtlCol="0" anchor="ctr"/>
          <a:lstStyle/>
          <a:p>
            <a:pPr marL="0" indent="0" algn="r">
              <a:buNone/>
            </a:pPr>
            <a:r>
              <a:rPr lang="en-US" sz="900" dirty="0">
                <a:solidFill>
                  <a:srgbClr val="E8DFF0"/>
                </a:solidFill>
                <a:latin typeface="Calibri" pitchFamily="34" charset="0"/>
                <a:ea typeface="Calibri" pitchFamily="34" charset="-122"/>
                <a:cs typeface="Calibri" pitchFamily="34" charset="-120"/>
              </a:rPr>
              <a:t>2 / 20</a:t>
            </a:r>
            <a:endParaRPr lang="en-US" sz="900" dirty="0"/>
          </a:p>
        </p:txBody>
      </p:sp>
      <p:sp>
        <p:nvSpPr>
          <p:cNvPr id="8" name="Text 6"/>
          <p:cNvSpPr/>
          <p:nvPr/>
        </p:nvSpPr>
        <p:spPr>
          <a:xfrm>
            <a:off x="548640" y="1234440"/>
            <a:ext cx="10972800" cy="365760"/>
          </a:xfrm>
          <a:prstGeom prst="rect">
            <a:avLst/>
          </a:prstGeom>
          <a:noFill/>
          <a:ln/>
        </p:spPr>
        <p:txBody>
          <a:bodyPr wrap="square" rtlCol="0" anchor="ctr"/>
          <a:lstStyle/>
          <a:p>
            <a:pPr marL="0" indent="0">
              <a:buNone/>
            </a:pPr>
            <a:r>
              <a:rPr lang="en-US" sz="1800" b="1" dirty="0">
                <a:solidFill>
                  <a:srgbClr val="4F2170"/>
                </a:solidFill>
                <a:latin typeface="Calibri" pitchFamily="34" charset="0"/>
                <a:ea typeface="Calibri" pitchFamily="34" charset="-122"/>
                <a:cs typeface="Calibri" pitchFamily="34" charset="-120"/>
              </a:rPr>
              <a:t>Produce the complete executable blueprint for Workstream 1</a:t>
            </a:r>
            <a:endParaRPr lang="en-US" sz="1800" dirty="0"/>
          </a:p>
        </p:txBody>
      </p:sp>
      <p:sp>
        <p:nvSpPr>
          <p:cNvPr id="9" name="Shape 7"/>
          <p:cNvSpPr/>
          <p:nvPr/>
        </p:nvSpPr>
        <p:spPr>
          <a:xfrm>
            <a:off x="548640" y="1783080"/>
            <a:ext cx="3474720" cy="2926080"/>
          </a:xfrm>
          <a:prstGeom prst="roundRect">
            <a:avLst>
              <a:gd name="adj" fmla="val 3125"/>
            </a:avLst>
          </a:prstGeom>
          <a:solidFill>
            <a:srgbClr val="E8DFF0"/>
          </a:solidFill>
          <a:ln w="19050">
            <a:solidFill>
              <a:srgbClr val="4F2170"/>
            </a:solidFill>
            <a:prstDash val="solid"/>
          </a:ln>
        </p:spPr>
        <p:txBody>
          <a:bodyPr/>
          <a:lstStyle/>
          <a:p>
            <a:endParaRPr lang="en-US"/>
          </a:p>
        </p:txBody>
      </p:sp>
      <p:sp>
        <p:nvSpPr>
          <p:cNvPr id="10" name="Text 8"/>
          <p:cNvSpPr/>
          <p:nvPr/>
        </p:nvSpPr>
        <p:spPr>
          <a:xfrm>
            <a:off x="731520" y="1920240"/>
            <a:ext cx="3108960" cy="320040"/>
          </a:xfrm>
          <a:prstGeom prst="rect">
            <a:avLst/>
          </a:prstGeom>
          <a:noFill/>
          <a:ln/>
        </p:spPr>
        <p:txBody>
          <a:bodyPr wrap="square" rtlCol="0" anchor="ctr"/>
          <a:lstStyle/>
          <a:p>
            <a:pPr marL="0" indent="0">
              <a:buNone/>
            </a:pPr>
            <a:r>
              <a:rPr lang="en-US" sz="1500" b="1" dirty="0">
                <a:solidFill>
                  <a:srgbClr val="4F2170"/>
                </a:solidFill>
                <a:latin typeface="Arial" pitchFamily="34" charset="0"/>
                <a:ea typeface="Arial" pitchFamily="34" charset="-122"/>
                <a:cs typeface="Arial" pitchFamily="34" charset="-120"/>
              </a:rPr>
              <a:t>Starting Point</a:t>
            </a:r>
            <a:endParaRPr lang="en-US" sz="1500" dirty="0"/>
          </a:p>
        </p:txBody>
      </p:sp>
      <p:sp>
        <p:nvSpPr>
          <p:cNvPr id="11" name="Text 9"/>
          <p:cNvSpPr/>
          <p:nvPr/>
        </p:nvSpPr>
        <p:spPr>
          <a:xfrm>
            <a:off x="731520" y="2331720"/>
            <a:ext cx="3108960" cy="2194560"/>
          </a:xfrm>
          <a:prstGeom prst="rect">
            <a:avLst/>
          </a:prstGeom>
          <a:noFill/>
          <a:ln/>
        </p:spPr>
        <p:txBody>
          <a:bodyPr wrap="square" rtlCol="0" anchor="t"/>
          <a:lstStyle/>
          <a:p>
            <a:pPr marL="0" indent="0">
              <a:lnSpc>
                <a:spcPct val="120000"/>
              </a:lnSpc>
              <a:buNone/>
            </a:pPr>
            <a:r>
              <a:rPr lang="en-US" sz="1200" dirty="0">
                <a:solidFill>
                  <a:srgbClr val="3D3D3D"/>
                </a:solidFill>
                <a:latin typeface="Calibri" pitchFamily="34" charset="0"/>
                <a:ea typeface="Calibri" pitchFamily="34" charset="-122"/>
                <a:cs typeface="Calibri" pitchFamily="34" charset="-120"/>
              </a:rPr>
              <a:t>End-to-end pipeline is live in GCP for Mexico and Wacam, including existing KPIs and dashboards. Lingaro originally built this in GCP and now rebuilds it in Databricks.</a:t>
            </a:r>
            <a:endParaRPr lang="en-US" sz="1200" dirty="0"/>
          </a:p>
        </p:txBody>
      </p:sp>
      <p:sp>
        <p:nvSpPr>
          <p:cNvPr id="12" name="Shape 10"/>
          <p:cNvSpPr/>
          <p:nvPr/>
        </p:nvSpPr>
        <p:spPr>
          <a:xfrm>
            <a:off x="4297680" y="1783080"/>
            <a:ext cx="3474720" cy="2926080"/>
          </a:xfrm>
          <a:prstGeom prst="roundRect">
            <a:avLst>
              <a:gd name="adj" fmla="val 3125"/>
            </a:avLst>
          </a:prstGeom>
          <a:solidFill>
            <a:srgbClr val="FFF3E5"/>
          </a:solidFill>
          <a:ln w="19050">
            <a:solidFill>
              <a:srgbClr val="E18719"/>
            </a:solidFill>
            <a:prstDash val="solid"/>
          </a:ln>
        </p:spPr>
        <p:txBody>
          <a:bodyPr/>
          <a:lstStyle/>
          <a:p>
            <a:endParaRPr lang="en-US"/>
          </a:p>
        </p:txBody>
      </p:sp>
      <p:sp>
        <p:nvSpPr>
          <p:cNvPr id="13" name="Text 11"/>
          <p:cNvSpPr/>
          <p:nvPr/>
        </p:nvSpPr>
        <p:spPr>
          <a:xfrm>
            <a:off x="4480560" y="1920240"/>
            <a:ext cx="3108960" cy="320040"/>
          </a:xfrm>
          <a:prstGeom prst="rect">
            <a:avLst/>
          </a:prstGeom>
          <a:noFill/>
          <a:ln/>
        </p:spPr>
        <p:txBody>
          <a:bodyPr wrap="square" rtlCol="0" anchor="ctr"/>
          <a:lstStyle/>
          <a:p>
            <a:pPr marL="0" indent="0">
              <a:buNone/>
            </a:pPr>
            <a:r>
              <a:rPr lang="en-US" sz="1500" b="1" dirty="0">
                <a:solidFill>
                  <a:srgbClr val="E18719"/>
                </a:solidFill>
                <a:latin typeface="Arial" pitchFamily="34" charset="0"/>
                <a:ea typeface="Arial" pitchFamily="34" charset="-122"/>
                <a:cs typeface="Arial" pitchFamily="34" charset="-120"/>
              </a:rPr>
              <a:t>Approach</a:t>
            </a:r>
            <a:endParaRPr lang="en-US" sz="1500" dirty="0"/>
          </a:p>
        </p:txBody>
      </p:sp>
      <p:sp>
        <p:nvSpPr>
          <p:cNvPr id="14" name="Text 12"/>
          <p:cNvSpPr/>
          <p:nvPr/>
        </p:nvSpPr>
        <p:spPr>
          <a:xfrm>
            <a:off x="4480560" y="2331720"/>
            <a:ext cx="3108960" cy="2194560"/>
          </a:xfrm>
          <a:prstGeom prst="rect">
            <a:avLst/>
          </a:prstGeom>
          <a:noFill/>
          <a:ln/>
        </p:spPr>
        <p:txBody>
          <a:bodyPr wrap="square" rtlCol="0" anchor="t"/>
          <a:lstStyle/>
          <a:p>
            <a:pPr marL="0" indent="0">
              <a:lnSpc>
                <a:spcPct val="120000"/>
              </a:lnSpc>
              <a:buNone/>
            </a:pPr>
            <a:r>
              <a:rPr lang="en-US" sz="1200" dirty="0">
                <a:solidFill>
                  <a:srgbClr val="3D3D3D"/>
                </a:solidFill>
                <a:latin typeface="Calibri" pitchFamily="34" charset="0"/>
                <a:ea typeface="Calibri" pitchFamily="34" charset="-122"/>
                <a:cs typeface="Calibri" pitchFamily="34" charset="-120"/>
              </a:rPr>
              <a:t>Every CDRB section and every Day 2 pipeline block is mapped to named Lingaro resources, deliverables, and dates starting November 2. Six business-process tracks follow the same daily cadence.</a:t>
            </a:r>
            <a:endParaRPr lang="en-US" sz="1200" dirty="0"/>
          </a:p>
        </p:txBody>
      </p:sp>
      <p:sp>
        <p:nvSpPr>
          <p:cNvPr id="15" name="Shape 13"/>
          <p:cNvSpPr/>
          <p:nvPr/>
        </p:nvSpPr>
        <p:spPr>
          <a:xfrm>
            <a:off x="8046720" y="1783080"/>
            <a:ext cx="3474720" cy="2926080"/>
          </a:xfrm>
          <a:prstGeom prst="roundRect">
            <a:avLst>
              <a:gd name="adj" fmla="val 3125"/>
            </a:avLst>
          </a:prstGeom>
          <a:solidFill>
            <a:srgbClr val="E8F5E4"/>
          </a:solidFill>
          <a:ln w="19050">
            <a:solidFill>
              <a:srgbClr val="287819"/>
            </a:solidFill>
            <a:prstDash val="solid"/>
          </a:ln>
        </p:spPr>
        <p:txBody>
          <a:bodyPr/>
          <a:lstStyle/>
          <a:p>
            <a:endParaRPr lang="en-US"/>
          </a:p>
        </p:txBody>
      </p:sp>
      <p:sp>
        <p:nvSpPr>
          <p:cNvPr id="16" name="Text 14"/>
          <p:cNvSpPr/>
          <p:nvPr/>
        </p:nvSpPr>
        <p:spPr>
          <a:xfrm>
            <a:off x="8229600" y="1920240"/>
            <a:ext cx="3108960" cy="320040"/>
          </a:xfrm>
          <a:prstGeom prst="rect">
            <a:avLst/>
          </a:prstGeom>
          <a:noFill/>
          <a:ln/>
        </p:spPr>
        <p:txBody>
          <a:bodyPr wrap="square" rtlCol="0" anchor="ctr"/>
          <a:lstStyle/>
          <a:p>
            <a:pPr marL="0" indent="0">
              <a:buNone/>
            </a:pPr>
            <a:r>
              <a:rPr lang="en-US" sz="1500" b="1" dirty="0">
                <a:solidFill>
                  <a:srgbClr val="287819"/>
                </a:solidFill>
                <a:latin typeface="Arial" pitchFamily="34" charset="0"/>
                <a:ea typeface="Arial" pitchFamily="34" charset="-122"/>
                <a:cs typeface="Arial" pitchFamily="34" charset="-120"/>
              </a:rPr>
              <a:t>Outcome</a:t>
            </a:r>
            <a:endParaRPr lang="en-US" sz="1500" dirty="0"/>
          </a:p>
        </p:txBody>
      </p:sp>
      <p:sp>
        <p:nvSpPr>
          <p:cNvPr id="17" name="Text 15"/>
          <p:cNvSpPr/>
          <p:nvPr/>
        </p:nvSpPr>
        <p:spPr>
          <a:xfrm>
            <a:off x="8229600" y="2331720"/>
            <a:ext cx="3108960" cy="2194560"/>
          </a:xfrm>
          <a:prstGeom prst="rect">
            <a:avLst/>
          </a:prstGeom>
          <a:noFill/>
          <a:ln/>
        </p:spPr>
        <p:txBody>
          <a:bodyPr wrap="square" rtlCol="0" anchor="t"/>
          <a:lstStyle/>
          <a:p>
            <a:pPr marL="0" indent="0">
              <a:lnSpc>
                <a:spcPct val="120000"/>
              </a:lnSpc>
              <a:buNone/>
            </a:pPr>
            <a:r>
              <a:rPr lang="en-US" sz="1200" dirty="0">
                <a:solidFill>
                  <a:srgbClr val="3D3D3D"/>
                </a:solidFill>
                <a:latin typeface="Calibri" pitchFamily="34" charset="0"/>
                <a:ea typeface="Calibri" pitchFamily="34" charset="-122"/>
                <a:cs typeface="Calibri" pitchFamily="34" charset="-120"/>
              </a:rPr>
              <a:t>Working prototype in the Databricks exploration environment by end of December. Code migrates to Databricks on AWS once the new environment is ready — not the design.</a:t>
            </a:r>
            <a:endParaRPr lang="en-US" sz="1200" dirty="0"/>
          </a:p>
        </p:txBody>
      </p:sp>
      <p:sp>
        <p:nvSpPr>
          <p:cNvPr id="18" name="Shape 16"/>
          <p:cNvSpPr/>
          <p:nvPr/>
        </p:nvSpPr>
        <p:spPr>
          <a:xfrm>
            <a:off x="548640" y="4937760"/>
            <a:ext cx="11064240" cy="1325880"/>
          </a:xfrm>
          <a:prstGeom prst="roundRect">
            <a:avLst>
              <a:gd name="adj" fmla="val 5517"/>
            </a:avLst>
          </a:prstGeom>
          <a:solidFill>
            <a:srgbClr val="FFF3E5"/>
          </a:solidFill>
          <a:ln w="25400">
            <a:solidFill>
              <a:srgbClr val="E18719"/>
            </a:solidFill>
            <a:prstDash val="solid"/>
          </a:ln>
        </p:spPr>
        <p:txBody>
          <a:bodyPr/>
          <a:lstStyle/>
          <a:p>
            <a:endParaRPr lang="en-US"/>
          </a:p>
        </p:txBody>
      </p:sp>
      <p:sp>
        <p:nvSpPr>
          <p:cNvPr id="19" name="Text 17"/>
          <p:cNvSpPr/>
          <p:nvPr/>
        </p:nvSpPr>
        <p:spPr>
          <a:xfrm>
            <a:off x="822960" y="5029200"/>
            <a:ext cx="10515600" cy="1097280"/>
          </a:xfrm>
          <a:prstGeom prst="rect">
            <a:avLst/>
          </a:prstGeom>
          <a:noFill/>
          <a:ln/>
        </p:spPr>
        <p:txBody>
          <a:bodyPr wrap="square" rtlCol="0" anchor="ctr"/>
          <a:lstStyle/>
          <a:p>
            <a:pPr marL="0" indent="0">
              <a:lnSpc>
                <a:spcPct val="115000"/>
              </a:lnSpc>
              <a:buNone/>
            </a:pPr>
            <a:r>
              <a:rPr lang="en-US" sz="1300" b="1" dirty="0">
                <a:solidFill>
                  <a:srgbClr val="E18719"/>
                </a:solidFill>
                <a:latin typeface="Arial" pitchFamily="34" charset="0"/>
                <a:ea typeface="Arial" pitchFamily="34" charset="-122"/>
                <a:cs typeface="Arial" pitchFamily="34" charset="-120"/>
              </a:rPr>
              <a:t>Build Now, Migrate Later:  </a:t>
            </a:r>
            <a:r>
              <a:rPr lang="en-US" sz="1200" dirty="0">
                <a:solidFill>
                  <a:srgbClr val="3D3D3D"/>
                </a:solidFill>
                <a:latin typeface="Calibri" pitchFamily="34" charset="0"/>
                <a:ea typeface="Calibri" pitchFamily="34" charset="-122"/>
                <a:cs typeface="Calibri" pitchFamily="34" charset="-120"/>
              </a:rPr>
              <a:t>The current Databricks/GCP environment is the sandbox where Lingaro demonstrates the design works end-to-end. Once the new Databricks on AWS is ready, the code migrates — not the design. This eliminates dead time and de-risks the AWS dependency.</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4F2170"/>
          </a:solidFill>
          <a:ln/>
        </p:spPr>
        <p:txBody>
          <a:bodyPr/>
          <a:lstStyle/>
          <a:p>
            <a:endParaRPr lang="en-US"/>
          </a:p>
        </p:txBody>
      </p:sp>
      <p:sp>
        <p:nvSpPr>
          <p:cNvPr id="3" name="Text 1"/>
          <p:cNvSpPr/>
          <p:nvPr/>
        </p:nvSpPr>
        <p:spPr>
          <a:xfrm>
            <a:off x="548640" y="137160"/>
            <a:ext cx="10515600" cy="502920"/>
          </a:xfrm>
          <a:prstGeom prst="rect">
            <a:avLst/>
          </a:prstGeom>
          <a:noFill/>
          <a:ln/>
        </p:spPr>
        <p:txBody>
          <a:bodyPr wrap="square" rtlCol="0" anchor="ctr"/>
          <a:lstStyle/>
          <a:p>
            <a:pPr marL="0" indent="0">
              <a:buNone/>
            </a:pPr>
            <a:r>
              <a:rPr lang="en-US" sz="2400" dirty="0">
                <a:solidFill>
                  <a:srgbClr val="FFFFFF"/>
                </a:solidFill>
                <a:latin typeface="Arial" pitchFamily="34" charset="0"/>
                <a:ea typeface="Arial" pitchFamily="34" charset="-122"/>
                <a:cs typeface="Arial" pitchFamily="34" charset="-120"/>
              </a:rPr>
              <a:t>Fixed-Price SOW Commitment</a:t>
            </a:r>
            <a:endParaRPr lang="en-US" sz="2400" dirty="0"/>
          </a:p>
        </p:txBody>
      </p:sp>
      <p:sp>
        <p:nvSpPr>
          <p:cNvPr id="4" name="Text 2"/>
          <p:cNvSpPr/>
          <p:nvPr/>
        </p:nvSpPr>
        <p:spPr>
          <a:xfrm>
            <a:off x="548640" y="594360"/>
            <a:ext cx="10515600" cy="320040"/>
          </a:xfrm>
          <a:prstGeom prst="rect">
            <a:avLst/>
          </a:prstGeom>
          <a:noFill/>
          <a:ln/>
        </p:spPr>
        <p:txBody>
          <a:bodyPr wrap="square" rtlCol="0" anchor="ctr"/>
          <a:lstStyle/>
          <a:p>
            <a:pPr marL="0" indent="0">
              <a:buNone/>
            </a:pPr>
            <a:r>
              <a:rPr lang="en-US" sz="1300" dirty="0">
                <a:solidFill>
                  <a:srgbClr val="E8DFF0"/>
                </a:solidFill>
                <a:latin typeface="Calibri" pitchFamily="34" charset="0"/>
                <a:ea typeface="Calibri" pitchFamily="34" charset="-122"/>
                <a:cs typeface="Calibri" pitchFamily="34" charset="-120"/>
              </a:rPr>
              <a:t>[Draft] Blueprint Phase Context</a:t>
            </a:r>
            <a:endParaRPr lang="en-US" sz="1300" dirty="0"/>
          </a:p>
        </p:txBody>
      </p:sp>
      <p:sp>
        <p:nvSpPr>
          <p:cNvPr id="5" name="Shape 3"/>
          <p:cNvSpPr/>
          <p:nvPr/>
        </p:nvSpPr>
        <p:spPr>
          <a:xfrm>
            <a:off x="0" y="6492240"/>
            <a:ext cx="12188952" cy="365760"/>
          </a:xfrm>
          <a:prstGeom prst="rect">
            <a:avLst/>
          </a:prstGeom>
          <a:solidFill>
            <a:srgbClr val="3A1854"/>
          </a:solidFill>
          <a:ln/>
        </p:spPr>
        <p:txBody>
          <a:bodyPr/>
          <a:lstStyle/>
          <a:p>
            <a:endParaRPr lang="en-US"/>
          </a:p>
        </p:txBody>
      </p:sp>
      <p:sp>
        <p:nvSpPr>
          <p:cNvPr id="6" name="Text 4"/>
          <p:cNvSpPr/>
          <p:nvPr/>
        </p:nvSpPr>
        <p:spPr>
          <a:xfrm>
            <a:off x="548640" y="6510528"/>
            <a:ext cx="9144000" cy="320040"/>
          </a:xfrm>
          <a:prstGeom prst="rect">
            <a:avLst/>
          </a:prstGeom>
          <a:noFill/>
          <a:ln/>
        </p:spPr>
        <p:txBody>
          <a:bodyPr wrap="square" rtlCol="0" anchor="ctr"/>
          <a:lstStyle/>
          <a:p>
            <a:pPr marL="0" indent="0">
              <a:buNone/>
            </a:pPr>
            <a:r>
              <a:rPr lang="en-US" sz="900" dirty="0">
                <a:solidFill>
                  <a:srgbClr val="E8DFF0"/>
                </a:solidFill>
                <a:latin typeface="Calibri" pitchFamily="34" charset="0"/>
                <a:ea typeface="Calibri" pitchFamily="34" charset="-122"/>
                <a:cs typeface="Calibri" pitchFamily="34" charset="-120"/>
              </a:rPr>
              <a:t>LA OSA 2.0 Blueprint Workshop  |  Day 3 Morning  |  WS-1: Mexico &amp; Wacam</a:t>
            </a:r>
            <a:endParaRPr lang="en-US" sz="900" dirty="0"/>
          </a:p>
        </p:txBody>
      </p:sp>
      <p:sp>
        <p:nvSpPr>
          <p:cNvPr id="7" name="Text 5"/>
          <p:cNvSpPr/>
          <p:nvPr/>
        </p:nvSpPr>
        <p:spPr>
          <a:xfrm>
            <a:off x="10972800" y="6510528"/>
            <a:ext cx="914400" cy="320040"/>
          </a:xfrm>
          <a:prstGeom prst="rect">
            <a:avLst/>
          </a:prstGeom>
          <a:noFill/>
          <a:ln/>
        </p:spPr>
        <p:txBody>
          <a:bodyPr wrap="square" rtlCol="0" anchor="ctr"/>
          <a:lstStyle/>
          <a:p>
            <a:pPr marL="0" indent="0" algn="r">
              <a:buNone/>
            </a:pPr>
            <a:r>
              <a:rPr lang="en-US" sz="900" dirty="0">
                <a:solidFill>
                  <a:srgbClr val="E8DFF0"/>
                </a:solidFill>
                <a:latin typeface="Calibri" pitchFamily="34" charset="0"/>
                <a:ea typeface="Calibri" pitchFamily="34" charset="-122"/>
                <a:cs typeface="Calibri" pitchFamily="34" charset="-120"/>
              </a:rPr>
              <a:t>3 / 20</a:t>
            </a:r>
            <a:endParaRPr lang="en-US" sz="900" dirty="0"/>
          </a:p>
        </p:txBody>
      </p:sp>
      <p:sp>
        <p:nvSpPr>
          <p:cNvPr id="8" name="Shape 6"/>
          <p:cNvSpPr/>
          <p:nvPr/>
        </p:nvSpPr>
        <p:spPr>
          <a:xfrm>
            <a:off x="548640" y="1280160"/>
            <a:ext cx="11064240" cy="4114800"/>
          </a:xfrm>
          <a:prstGeom prst="roundRect">
            <a:avLst>
              <a:gd name="adj" fmla="val 2222"/>
            </a:avLst>
          </a:prstGeom>
          <a:solidFill>
            <a:srgbClr val="FFF3E5"/>
          </a:solidFill>
          <a:ln w="31750">
            <a:solidFill>
              <a:srgbClr val="E18719"/>
            </a:solidFill>
            <a:prstDash val="solid"/>
          </a:ln>
        </p:spPr>
        <p:txBody>
          <a:bodyPr/>
          <a:lstStyle/>
          <a:p>
            <a:endParaRPr lang="en-US"/>
          </a:p>
        </p:txBody>
      </p:sp>
      <p:sp>
        <p:nvSpPr>
          <p:cNvPr id="9" name="Shape 7"/>
          <p:cNvSpPr/>
          <p:nvPr/>
        </p:nvSpPr>
        <p:spPr>
          <a:xfrm>
            <a:off x="548640" y="1280160"/>
            <a:ext cx="11064240" cy="457200"/>
          </a:xfrm>
          <a:prstGeom prst="rect">
            <a:avLst/>
          </a:prstGeom>
          <a:solidFill>
            <a:srgbClr val="E18719"/>
          </a:solidFill>
          <a:ln/>
        </p:spPr>
        <p:txBody>
          <a:bodyPr/>
          <a:lstStyle/>
          <a:p>
            <a:endParaRPr lang="en-US"/>
          </a:p>
        </p:txBody>
      </p:sp>
      <p:sp>
        <p:nvSpPr>
          <p:cNvPr id="10" name="Text 8"/>
          <p:cNvSpPr/>
          <p:nvPr/>
        </p:nvSpPr>
        <p:spPr>
          <a:xfrm>
            <a:off x="822960" y="1298448"/>
            <a:ext cx="10058400" cy="411480"/>
          </a:xfrm>
          <a:prstGeom prst="rect">
            <a:avLst/>
          </a:prstGeom>
          <a:noFill/>
          <a:ln/>
        </p:spPr>
        <p:txBody>
          <a:bodyPr wrap="square" rtlCol="0" anchor="ctr"/>
          <a:lstStyle/>
          <a:p>
            <a:pPr marL="0" indent="0">
              <a:buNone/>
            </a:pPr>
            <a:r>
              <a:rPr lang="en-US" sz="1600" b="1" dirty="0">
                <a:solidFill>
                  <a:srgbClr val="FFFFFF"/>
                </a:solidFill>
                <a:latin typeface="Arial" pitchFamily="34" charset="0"/>
                <a:ea typeface="Arial" pitchFamily="34" charset="-122"/>
                <a:cs typeface="Arial" pitchFamily="34" charset="-120"/>
              </a:rPr>
              <a:t>⚠  FIXED-PRICE SOW COMMITMENT</a:t>
            </a:r>
            <a:endParaRPr lang="en-US" sz="1600" dirty="0"/>
          </a:p>
        </p:txBody>
      </p:sp>
      <p:sp>
        <p:nvSpPr>
          <p:cNvPr id="11" name="Text 9"/>
          <p:cNvSpPr/>
          <p:nvPr/>
        </p:nvSpPr>
        <p:spPr>
          <a:xfrm>
            <a:off x="914400" y="1965960"/>
            <a:ext cx="10332720" cy="731520"/>
          </a:xfrm>
          <a:prstGeom prst="rect">
            <a:avLst/>
          </a:prstGeom>
          <a:noFill/>
          <a:ln/>
        </p:spPr>
        <p:txBody>
          <a:bodyPr wrap="square" rtlCol="0" anchor="ctr"/>
          <a:lstStyle/>
          <a:p>
            <a:pPr marL="0" indent="0">
              <a:lnSpc>
                <a:spcPct val="130000"/>
              </a:lnSpc>
              <a:buNone/>
            </a:pPr>
            <a:r>
              <a:rPr lang="en-US" sz="1300" dirty="0">
                <a:solidFill>
                  <a:srgbClr val="3D3D3D"/>
                </a:solidFill>
                <a:latin typeface="Calibri" pitchFamily="34" charset="0"/>
                <a:ea typeface="Calibri" pitchFamily="34" charset="-122"/>
                <a:cs typeface="Calibri" pitchFamily="34" charset="-120"/>
              </a:rPr>
              <a:t>During November and December 2026, Lingaro will execute the blueprint to design the global solution, following the executional steps agreed on Day 2 and applying all Code Design Review Board (CDRB) criteria (Sections A–L) to ensure proper design at every step.</a:t>
            </a:r>
            <a:endParaRPr lang="en-US" sz="1300" dirty="0"/>
          </a:p>
        </p:txBody>
      </p:sp>
      <p:sp>
        <p:nvSpPr>
          <p:cNvPr id="12" name="Text 10"/>
          <p:cNvSpPr/>
          <p:nvPr/>
        </p:nvSpPr>
        <p:spPr>
          <a:xfrm>
            <a:off x="914400" y="2743200"/>
            <a:ext cx="10332720" cy="731520"/>
          </a:xfrm>
          <a:prstGeom prst="rect">
            <a:avLst/>
          </a:prstGeom>
          <a:noFill/>
          <a:ln/>
        </p:spPr>
        <p:txBody>
          <a:bodyPr wrap="square" rtlCol="0" anchor="ctr"/>
          <a:lstStyle/>
          <a:p>
            <a:pPr marL="0" indent="0">
              <a:lnSpc>
                <a:spcPct val="130000"/>
              </a:lnSpc>
              <a:buNone/>
            </a:pPr>
            <a:r>
              <a:rPr lang="en-US" sz="1300" dirty="0">
                <a:solidFill>
                  <a:srgbClr val="3D3D3D"/>
                </a:solidFill>
                <a:latin typeface="Calibri" pitchFamily="34" charset="0"/>
                <a:ea typeface="Calibri" pitchFamily="34" charset="-122"/>
                <a:cs typeface="Calibri" pitchFamily="34" charset="-120"/>
              </a:rPr>
              <a:t>As part of this phase, Lingaro must also deliver a working product running in the MDLZ Databricks exploration environment. Lingaro will establish federated connections with GCP and bring new data or manual files into this environment to build and prototype the solution.</a:t>
            </a:r>
            <a:endParaRPr lang="en-US" sz="1300" dirty="0"/>
          </a:p>
        </p:txBody>
      </p:sp>
      <p:sp>
        <p:nvSpPr>
          <p:cNvPr id="13" name="Shape 11"/>
          <p:cNvSpPr/>
          <p:nvPr/>
        </p:nvSpPr>
        <p:spPr>
          <a:xfrm>
            <a:off x="914400" y="3657600"/>
            <a:ext cx="10332720" cy="36576"/>
          </a:xfrm>
          <a:prstGeom prst="rect">
            <a:avLst/>
          </a:prstGeom>
          <a:solidFill>
            <a:srgbClr val="E18719"/>
          </a:solidFill>
          <a:ln/>
        </p:spPr>
        <p:txBody>
          <a:bodyPr/>
          <a:lstStyle/>
          <a:p>
            <a:endParaRPr lang="en-US"/>
          </a:p>
        </p:txBody>
      </p:sp>
      <p:sp>
        <p:nvSpPr>
          <p:cNvPr id="14" name="Text 12"/>
          <p:cNvSpPr/>
          <p:nvPr/>
        </p:nvSpPr>
        <p:spPr>
          <a:xfrm>
            <a:off x="914400" y="3840480"/>
            <a:ext cx="10332720" cy="640080"/>
          </a:xfrm>
          <a:prstGeom prst="rect">
            <a:avLst/>
          </a:prstGeom>
          <a:noFill/>
          <a:ln/>
        </p:spPr>
        <p:txBody>
          <a:bodyPr wrap="square" rtlCol="0" anchor="t"/>
          <a:lstStyle/>
          <a:p>
            <a:pPr marL="0" indent="0">
              <a:lnSpc>
                <a:spcPct val="130000"/>
              </a:lnSpc>
              <a:buNone/>
            </a:pPr>
            <a:r>
              <a:rPr lang="en-US" sz="1400" b="1" dirty="0">
                <a:solidFill>
                  <a:srgbClr val="4F2170"/>
                </a:solidFill>
                <a:latin typeface="Arial" pitchFamily="34" charset="0"/>
                <a:ea typeface="Arial" pitchFamily="34" charset="-122"/>
                <a:cs typeface="Arial" pitchFamily="34" charset="-120"/>
              </a:rPr>
              <a:t>This work is treated as fixed price. Lingaro must present the running prototype and results in January 2027. This is a non-negotiable SOW commitment.</a:t>
            </a:r>
            <a:endParaRPr lang="en-US" sz="1400" dirty="0"/>
          </a:p>
        </p:txBody>
      </p:sp>
      <p:sp>
        <p:nvSpPr>
          <p:cNvPr id="15" name="Shape 13"/>
          <p:cNvSpPr/>
          <p:nvPr/>
        </p:nvSpPr>
        <p:spPr>
          <a:xfrm>
            <a:off x="548640" y="5577840"/>
            <a:ext cx="5303520" cy="731520"/>
          </a:xfrm>
          <a:prstGeom prst="roundRect">
            <a:avLst>
              <a:gd name="adj" fmla="val 7500"/>
            </a:avLst>
          </a:prstGeom>
          <a:solidFill>
            <a:srgbClr val="E8DFF0"/>
          </a:solidFill>
          <a:ln w="12700">
            <a:solidFill>
              <a:srgbClr val="4F2170"/>
            </a:solidFill>
            <a:prstDash val="solid"/>
          </a:ln>
        </p:spPr>
        <p:txBody>
          <a:bodyPr/>
          <a:lstStyle/>
          <a:p>
            <a:endParaRPr lang="en-US"/>
          </a:p>
        </p:txBody>
      </p:sp>
      <p:sp>
        <p:nvSpPr>
          <p:cNvPr id="16" name="Text 14"/>
          <p:cNvSpPr/>
          <p:nvPr/>
        </p:nvSpPr>
        <p:spPr>
          <a:xfrm>
            <a:off x="731520" y="5623560"/>
            <a:ext cx="4937760" cy="640080"/>
          </a:xfrm>
          <a:prstGeom prst="rect">
            <a:avLst/>
          </a:prstGeom>
          <a:noFill/>
          <a:ln/>
        </p:spPr>
        <p:txBody>
          <a:bodyPr wrap="square" rtlCol="0" anchor="ctr"/>
          <a:lstStyle/>
          <a:p>
            <a:pPr marL="0" indent="0">
              <a:buNone/>
            </a:pPr>
            <a:r>
              <a:rPr lang="en-US" sz="1100" b="1" dirty="0">
                <a:solidFill>
                  <a:srgbClr val="4F2170"/>
                </a:solidFill>
                <a:latin typeface="Arial" pitchFamily="34" charset="0"/>
                <a:ea typeface="Arial" pitchFamily="34" charset="-122"/>
                <a:cs typeface="Arial" pitchFamily="34" charset="-120"/>
              </a:rPr>
              <a:t>WS-1 — Known Design Build:  </a:t>
            </a:r>
            <a:r>
              <a:rPr lang="en-US" sz="1050" dirty="0">
                <a:solidFill>
                  <a:srgbClr val="3D3D3D"/>
                </a:solidFill>
                <a:latin typeface="Calibri" pitchFamily="34" charset="0"/>
                <a:ea typeface="Calibri" pitchFamily="34" charset="-122"/>
                <a:cs typeface="Calibri" pitchFamily="34" charset="-120"/>
              </a:rPr>
              <a:t>Based on OSA Mexico &amp; Wacam (originally built by Lingaro in GCP), now rebuilt in the current Databricks/GCP sandbox.</a:t>
            </a:r>
            <a:endParaRPr lang="en-US" sz="1100" dirty="0"/>
          </a:p>
        </p:txBody>
      </p:sp>
      <p:sp>
        <p:nvSpPr>
          <p:cNvPr id="17" name="Shape 15"/>
          <p:cNvSpPr/>
          <p:nvPr/>
        </p:nvSpPr>
        <p:spPr>
          <a:xfrm>
            <a:off x="6309360" y="5577840"/>
            <a:ext cx="5303520" cy="731520"/>
          </a:xfrm>
          <a:prstGeom prst="roundRect">
            <a:avLst>
              <a:gd name="adj" fmla="val 7500"/>
            </a:avLst>
          </a:prstGeom>
          <a:solidFill>
            <a:srgbClr val="E8DFF0"/>
          </a:solidFill>
          <a:ln w="12700">
            <a:solidFill>
              <a:srgbClr val="4F2170"/>
            </a:solidFill>
            <a:prstDash val="solid"/>
          </a:ln>
        </p:spPr>
        <p:txBody>
          <a:bodyPr/>
          <a:lstStyle/>
          <a:p>
            <a:endParaRPr lang="en-US"/>
          </a:p>
        </p:txBody>
      </p:sp>
      <p:sp>
        <p:nvSpPr>
          <p:cNvPr id="18" name="Text 16"/>
          <p:cNvSpPr/>
          <p:nvPr/>
        </p:nvSpPr>
        <p:spPr>
          <a:xfrm>
            <a:off x="6492240" y="5623560"/>
            <a:ext cx="4937760" cy="640080"/>
          </a:xfrm>
          <a:prstGeom prst="rect">
            <a:avLst/>
          </a:prstGeom>
          <a:noFill/>
          <a:ln/>
        </p:spPr>
        <p:txBody>
          <a:bodyPr wrap="square" rtlCol="0" anchor="ctr"/>
          <a:lstStyle/>
          <a:p>
            <a:pPr marL="0" indent="0">
              <a:buNone/>
            </a:pPr>
            <a:r>
              <a:rPr lang="en-US" sz="1100" b="1" dirty="0">
                <a:solidFill>
                  <a:srgbClr val="4F2170"/>
                </a:solidFill>
                <a:latin typeface="Arial" pitchFamily="34" charset="0"/>
                <a:ea typeface="Arial" pitchFamily="34" charset="-122"/>
                <a:cs typeface="Arial" pitchFamily="34" charset="-120"/>
              </a:rPr>
              <a:t>WS-2 — Discovery &amp; Reverse Engineering:  </a:t>
            </a:r>
            <a:r>
              <a:rPr lang="en-US" sz="1050" dirty="0">
                <a:solidFill>
                  <a:srgbClr val="3D3D3D"/>
                </a:solidFill>
                <a:latin typeface="Calibri" pitchFamily="34" charset="0"/>
                <a:ea typeface="Calibri" pitchFamily="34" charset="-122"/>
                <a:cs typeface="Calibri" pitchFamily="34" charset="-120"/>
              </a:rPr>
              <a:t>Full end-to-end reverse engineering of GCP stored procedures and Power BI semantic models for Brazil and Southern Cone.</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4F2170"/>
          </a:solidFill>
          <a:ln/>
        </p:spPr>
        <p:txBody>
          <a:bodyPr/>
          <a:lstStyle/>
          <a:p>
            <a:endParaRPr lang="en-US"/>
          </a:p>
        </p:txBody>
      </p:sp>
      <p:sp>
        <p:nvSpPr>
          <p:cNvPr id="3" name="Text 1"/>
          <p:cNvSpPr/>
          <p:nvPr/>
        </p:nvSpPr>
        <p:spPr>
          <a:xfrm>
            <a:off x="548640" y="137160"/>
            <a:ext cx="10515600" cy="502920"/>
          </a:xfrm>
          <a:prstGeom prst="rect">
            <a:avLst/>
          </a:prstGeom>
          <a:noFill/>
          <a:ln/>
        </p:spPr>
        <p:txBody>
          <a:bodyPr wrap="square" rtlCol="0" anchor="ctr"/>
          <a:lstStyle/>
          <a:p>
            <a:pPr marL="0" indent="0">
              <a:buNone/>
            </a:pPr>
            <a:r>
              <a:rPr lang="en-US" sz="2400" dirty="0">
                <a:solidFill>
                  <a:srgbClr val="FFFFFF"/>
                </a:solidFill>
                <a:latin typeface="Arial" pitchFamily="34" charset="0"/>
                <a:ea typeface="Arial" pitchFamily="34" charset="-122"/>
                <a:cs typeface="Arial" pitchFamily="34" charset="-120"/>
              </a:rPr>
              <a:t>The 6 Dedicated Business-Process Tracks</a:t>
            </a:r>
            <a:endParaRPr lang="en-US" sz="2400" dirty="0"/>
          </a:p>
        </p:txBody>
      </p:sp>
      <p:sp>
        <p:nvSpPr>
          <p:cNvPr id="4" name="Text 2"/>
          <p:cNvSpPr/>
          <p:nvPr/>
        </p:nvSpPr>
        <p:spPr>
          <a:xfrm>
            <a:off x="548640" y="594360"/>
            <a:ext cx="10515600" cy="320040"/>
          </a:xfrm>
          <a:prstGeom prst="rect">
            <a:avLst/>
          </a:prstGeom>
          <a:noFill/>
          <a:ln/>
        </p:spPr>
        <p:txBody>
          <a:bodyPr wrap="square" rtlCol="0" anchor="ctr"/>
          <a:lstStyle/>
          <a:p>
            <a:pPr marL="0" indent="0">
              <a:buNone/>
            </a:pPr>
            <a:r>
              <a:rPr lang="en-US" sz="1300" dirty="0">
                <a:solidFill>
                  <a:srgbClr val="E8DFF0"/>
                </a:solidFill>
                <a:latin typeface="Calibri" pitchFamily="34" charset="0"/>
                <a:ea typeface="Calibri" pitchFamily="34" charset="-122"/>
                <a:cs typeface="Calibri" pitchFamily="34" charset="-120"/>
              </a:rPr>
              <a:t>Each track follows the same steps and phases on a daily basis</a:t>
            </a:r>
            <a:endParaRPr lang="en-US" sz="1300" dirty="0"/>
          </a:p>
        </p:txBody>
      </p:sp>
      <p:sp>
        <p:nvSpPr>
          <p:cNvPr id="5" name="Shape 3"/>
          <p:cNvSpPr/>
          <p:nvPr/>
        </p:nvSpPr>
        <p:spPr>
          <a:xfrm>
            <a:off x="0" y="6492240"/>
            <a:ext cx="12188952" cy="365760"/>
          </a:xfrm>
          <a:prstGeom prst="rect">
            <a:avLst/>
          </a:prstGeom>
          <a:solidFill>
            <a:srgbClr val="3A1854"/>
          </a:solidFill>
          <a:ln/>
        </p:spPr>
        <p:txBody>
          <a:bodyPr/>
          <a:lstStyle/>
          <a:p>
            <a:endParaRPr lang="en-US"/>
          </a:p>
        </p:txBody>
      </p:sp>
      <p:sp>
        <p:nvSpPr>
          <p:cNvPr id="6" name="Text 4"/>
          <p:cNvSpPr/>
          <p:nvPr/>
        </p:nvSpPr>
        <p:spPr>
          <a:xfrm>
            <a:off x="548640" y="6510528"/>
            <a:ext cx="9144000" cy="320040"/>
          </a:xfrm>
          <a:prstGeom prst="rect">
            <a:avLst/>
          </a:prstGeom>
          <a:noFill/>
          <a:ln/>
        </p:spPr>
        <p:txBody>
          <a:bodyPr wrap="square" rtlCol="0" anchor="ctr"/>
          <a:lstStyle/>
          <a:p>
            <a:pPr marL="0" indent="0">
              <a:buNone/>
            </a:pPr>
            <a:r>
              <a:rPr lang="en-US" sz="900" dirty="0">
                <a:solidFill>
                  <a:srgbClr val="E8DFF0"/>
                </a:solidFill>
                <a:latin typeface="Calibri" pitchFamily="34" charset="0"/>
                <a:ea typeface="Calibri" pitchFamily="34" charset="-122"/>
                <a:cs typeface="Calibri" pitchFamily="34" charset="-120"/>
              </a:rPr>
              <a:t>LA OSA 2.0 Blueprint Workshop  |  Day 3 Morning  |  WS-1: Mexico &amp; Wacam</a:t>
            </a:r>
            <a:endParaRPr lang="en-US" sz="900" dirty="0"/>
          </a:p>
        </p:txBody>
      </p:sp>
      <p:sp>
        <p:nvSpPr>
          <p:cNvPr id="7" name="Text 5"/>
          <p:cNvSpPr/>
          <p:nvPr/>
        </p:nvSpPr>
        <p:spPr>
          <a:xfrm>
            <a:off x="10972800" y="6510528"/>
            <a:ext cx="914400" cy="320040"/>
          </a:xfrm>
          <a:prstGeom prst="rect">
            <a:avLst/>
          </a:prstGeom>
          <a:noFill/>
          <a:ln/>
        </p:spPr>
        <p:txBody>
          <a:bodyPr wrap="square" rtlCol="0" anchor="ctr"/>
          <a:lstStyle/>
          <a:p>
            <a:pPr marL="0" indent="0" algn="r">
              <a:buNone/>
            </a:pPr>
            <a:r>
              <a:rPr lang="en-US" sz="900" dirty="0">
                <a:solidFill>
                  <a:srgbClr val="E8DFF0"/>
                </a:solidFill>
                <a:latin typeface="Calibri" pitchFamily="34" charset="0"/>
                <a:ea typeface="Calibri" pitchFamily="34" charset="-122"/>
                <a:cs typeface="Calibri" pitchFamily="34" charset="-120"/>
              </a:rPr>
              <a:t>4 / 20</a:t>
            </a:r>
            <a:endParaRPr lang="en-US" sz="900" dirty="0"/>
          </a:p>
        </p:txBody>
      </p:sp>
      <p:sp>
        <p:nvSpPr>
          <p:cNvPr id="8" name="Shape 6"/>
          <p:cNvSpPr/>
          <p:nvPr/>
        </p:nvSpPr>
        <p:spPr>
          <a:xfrm>
            <a:off x="548640" y="1325880"/>
            <a:ext cx="3474720" cy="2103120"/>
          </a:xfrm>
          <a:prstGeom prst="roundRect">
            <a:avLst>
              <a:gd name="adj" fmla="val 3478"/>
            </a:avLst>
          </a:prstGeom>
          <a:solidFill>
            <a:srgbClr val="FFFFFF"/>
          </a:solidFill>
          <a:ln w="19050">
            <a:solidFill>
              <a:srgbClr val="E18719"/>
            </a:solidFill>
            <a:prstDash val="solid"/>
          </a:ln>
          <a:effectLst>
            <a:outerShdw blurRad="50800" dist="25400" dir="16200000" algn="bl" rotWithShape="0">
              <a:srgbClr val="000000">
                <a:alpha val="15000"/>
              </a:srgbClr>
            </a:outerShdw>
          </a:effectLst>
        </p:spPr>
        <p:txBody>
          <a:bodyPr/>
          <a:lstStyle/>
          <a:p>
            <a:endParaRPr lang="en-US"/>
          </a:p>
        </p:txBody>
      </p:sp>
      <p:sp>
        <p:nvSpPr>
          <p:cNvPr id="9" name="Shape 7"/>
          <p:cNvSpPr/>
          <p:nvPr/>
        </p:nvSpPr>
        <p:spPr>
          <a:xfrm>
            <a:off x="685800" y="1463040"/>
            <a:ext cx="457200" cy="411480"/>
          </a:xfrm>
          <a:prstGeom prst="roundRect">
            <a:avLst>
              <a:gd name="adj" fmla="val 11111"/>
            </a:avLst>
          </a:prstGeom>
          <a:solidFill>
            <a:srgbClr val="E18719"/>
          </a:solidFill>
          <a:ln/>
        </p:spPr>
        <p:txBody>
          <a:bodyPr/>
          <a:lstStyle/>
          <a:p>
            <a:endParaRPr lang="en-US"/>
          </a:p>
        </p:txBody>
      </p:sp>
      <p:sp>
        <p:nvSpPr>
          <p:cNvPr id="10" name="Text 8"/>
          <p:cNvSpPr/>
          <p:nvPr/>
        </p:nvSpPr>
        <p:spPr>
          <a:xfrm>
            <a:off x="685800" y="1463040"/>
            <a:ext cx="457200" cy="411480"/>
          </a:xfrm>
          <a:prstGeom prst="rect">
            <a:avLst/>
          </a:prstGeom>
          <a:noFill/>
          <a:ln/>
        </p:spPr>
        <p:txBody>
          <a:bodyPr wrap="square"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1</a:t>
            </a:r>
            <a:endParaRPr lang="en-US" sz="1800" dirty="0"/>
          </a:p>
        </p:txBody>
      </p:sp>
      <p:sp>
        <p:nvSpPr>
          <p:cNvPr id="11" name="Text 9"/>
          <p:cNvSpPr/>
          <p:nvPr/>
        </p:nvSpPr>
        <p:spPr>
          <a:xfrm>
            <a:off x="1280160" y="1463040"/>
            <a:ext cx="2560320" cy="411480"/>
          </a:xfrm>
          <a:prstGeom prst="rect">
            <a:avLst/>
          </a:prstGeom>
          <a:noFill/>
          <a:ln/>
        </p:spPr>
        <p:txBody>
          <a:bodyPr wrap="square" rtlCol="0" anchor="ctr"/>
          <a:lstStyle/>
          <a:p>
            <a:pPr marL="0" indent="0">
              <a:buNone/>
            </a:pPr>
            <a:r>
              <a:rPr lang="en-US" sz="1300" b="1" dirty="0">
                <a:solidFill>
                  <a:srgbClr val="4F2170"/>
                </a:solidFill>
                <a:latin typeface="Arial" pitchFamily="34" charset="0"/>
                <a:ea typeface="Arial" pitchFamily="34" charset="-122"/>
                <a:cs typeface="Arial" pitchFamily="34" charset="-120"/>
              </a:rPr>
              <a:t>OTC</a:t>
            </a:r>
            <a:endParaRPr lang="en-US" sz="1300" dirty="0"/>
          </a:p>
        </p:txBody>
      </p:sp>
      <p:sp>
        <p:nvSpPr>
          <p:cNvPr id="12" name="Text 10"/>
          <p:cNvSpPr/>
          <p:nvPr/>
        </p:nvSpPr>
        <p:spPr>
          <a:xfrm>
            <a:off x="731520" y="2011680"/>
            <a:ext cx="3108960" cy="1188720"/>
          </a:xfrm>
          <a:prstGeom prst="rect">
            <a:avLst/>
          </a:prstGeom>
          <a:noFill/>
          <a:ln/>
        </p:spPr>
        <p:txBody>
          <a:bodyPr wrap="square" rtlCol="0" anchor="t"/>
          <a:lstStyle/>
          <a:p>
            <a:pPr marL="0" indent="0">
              <a:lnSpc>
                <a:spcPct val="120000"/>
              </a:lnSpc>
              <a:buNone/>
            </a:pPr>
            <a:r>
              <a:rPr lang="en-US" sz="1100" dirty="0">
                <a:solidFill>
                  <a:srgbClr val="3D3D3D"/>
                </a:solidFill>
                <a:latin typeface="Calibri" pitchFamily="34" charset="0"/>
                <a:ea typeface="Calibri" pitchFamily="34" charset="-122"/>
                <a:cs typeface="Calibri" pitchFamily="34" charset="-120"/>
              </a:rPr>
              <a:t>Order-to-Cash: Sales orders, invoices, deliveries, order schedule &amp; status</a:t>
            </a:r>
            <a:endParaRPr lang="en-US" sz="1100" dirty="0"/>
          </a:p>
        </p:txBody>
      </p:sp>
      <p:sp>
        <p:nvSpPr>
          <p:cNvPr id="13" name="Shape 11"/>
          <p:cNvSpPr/>
          <p:nvPr/>
        </p:nvSpPr>
        <p:spPr>
          <a:xfrm>
            <a:off x="4297680" y="1325880"/>
            <a:ext cx="3474720" cy="2103120"/>
          </a:xfrm>
          <a:prstGeom prst="roundRect">
            <a:avLst>
              <a:gd name="adj" fmla="val 3478"/>
            </a:avLst>
          </a:prstGeom>
          <a:solidFill>
            <a:srgbClr val="FFFFFF"/>
          </a:solidFill>
          <a:ln w="19050">
            <a:solidFill>
              <a:srgbClr val="E18719"/>
            </a:solidFill>
            <a:prstDash val="solid"/>
          </a:ln>
          <a:effectLst>
            <a:outerShdw blurRad="50800" dist="25400" dir="16200000" algn="bl" rotWithShape="0">
              <a:srgbClr val="000000">
                <a:alpha val="15000"/>
              </a:srgbClr>
            </a:outerShdw>
          </a:effectLst>
        </p:spPr>
        <p:txBody>
          <a:bodyPr/>
          <a:lstStyle/>
          <a:p>
            <a:endParaRPr lang="en-US"/>
          </a:p>
        </p:txBody>
      </p:sp>
      <p:sp>
        <p:nvSpPr>
          <p:cNvPr id="14" name="Shape 12"/>
          <p:cNvSpPr/>
          <p:nvPr/>
        </p:nvSpPr>
        <p:spPr>
          <a:xfrm>
            <a:off x="4434840" y="1463040"/>
            <a:ext cx="457200" cy="411480"/>
          </a:xfrm>
          <a:prstGeom prst="roundRect">
            <a:avLst>
              <a:gd name="adj" fmla="val 11111"/>
            </a:avLst>
          </a:prstGeom>
          <a:solidFill>
            <a:srgbClr val="E18719"/>
          </a:solidFill>
          <a:ln/>
        </p:spPr>
        <p:txBody>
          <a:bodyPr/>
          <a:lstStyle/>
          <a:p>
            <a:endParaRPr lang="en-US"/>
          </a:p>
        </p:txBody>
      </p:sp>
      <p:sp>
        <p:nvSpPr>
          <p:cNvPr id="15" name="Text 13"/>
          <p:cNvSpPr/>
          <p:nvPr/>
        </p:nvSpPr>
        <p:spPr>
          <a:xfrm>
            <a:off x="4434840" y="1463040"/>
            <a:ext cx="457200" cy="411480"/>
          </a:xfrm>
          <a:prstGeom prst="rect">
            <a:avLst/>
          </a:prstGeom>
          <a:noFill/>
          <a:ln/>
        </p:spPr>
        <p:txBody>
          <a:bodyPr wrap="square"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2</a:t>
            </a:r>
            <a:endParaRPr lang="en-US" sz="1800" dirty="0"/>
          </a:p>
        </p:txBody>
      </p:sp>
      <p:sp>
        <p:nvSpPr>
          <p:cNvPr id="16" name="Text 14"/>
          <p:cNvSpPr/>
          <p:nvPr/>
        </p:nvSpPr>
        <p:spPr>
          <a:xfrm>
            <a:off x="5029200" y="1463040"/>
            <a:ext cx="2560320" cy="411480"/>
          </a:xfrm>
          <a:prstGeom prst="rect">
            <a:avLst/>
          </a:prstGeom>
          <a:noFill/>
          <a:ln/>
        </p:spPr>
        <p:txBody>
          <a:bodyPr wrap="square" rtlCol="0" anchor="ctr"/>
          <a:lstStyle/>
          <a:p>
            <a:pPr marL="0" indent="0">
              <a:buNone/>
            </a:pPr>
            <a:r>
              <a:rPr lang="en-US" sz="1300" b="1" dirty="0">
                <a:solidFill>
                  <a:srgbClr val="4F2170"/>
                </a:solidFill>
                <a:latin typeface="Arial" pitchFamily="34" charset="0"/>
                <a:ea typeface="Arial" pitchFamily="34" charset="-122"/>
                <a:cs typeface="Arial" pitchFamily="34" charset="-120"/>
              </a:rPr>
              <a:t>EPOS Sell-out / Channel Inventory</a:t>
            </a:r>
            <a:endParaRPr lang="en-US" sz="1300" dirty="0"/>
          </a:p>
        </p:txBody>
      </p:sp>
      <p:sp>
        <p:nvSpPr>
          <p:cNvPr id="17" name="Text 15"/>
          <p:cNvSpPr/>
          <p:nvPr/>
        </p:nvSpPr>
        <p:spPr>
          <a:xfrm>
            <a:off x="4480560" y="2011680"/>
            <a:ext cx="3108960" cy="1188720"/>
          </a:xfrm>
          <a:prstGeom prst="rect">
            <a:avLst/>
          </a:prstGeom>
          <a:noFill/>
          <a:ln/>
        </p:spPr>
        <p:txBody>
          <a:bodyPr wrap="square" rtlCol="0" anchor="t"/>
          <a:lstStyle/>
          <a:p>
            <a:pPr marL="0" indent="0">
              <a:lnSpc>
                <a:spcPct val="120000"/>
              </a:lnSpc>
              <a:buNone/>
            </a:pPr>
            <a:r>
              <a:rPr lang="en-US" sz="1100" dirty="0">
                <a:solidFill>
                  <a:srgbClr val="3D3D3D"/>
                </a:solidFill>
                <a:latin typeface="Calibri" pitchFamily="34" charset="0"/>
                <a:ea typeface="Calibri" pitchFamily="34" charset="-122"/>
                <a:cs typeface="Calibri" pitchFamily="34" charset="-120"/>
              </a:rPr>
              <a:t>Point-of-sale data, channel inventory positions</a:t>
            </a:r>
            <a:endParaRPr lang="en-US" sz="1100" dirty="0"/>
          </a:p>
        </p:txBody>
      </p:sp>
      <p:sp>
        <p:nvSpPr>
          <p:cNvPr id="18" name="Shape 16"/>
          <p:cNvSpPr/>
          <p:nvPr/>
        </p:nvSpPr>
        <p:spPr>
          <a:xfrm>
            <a:off x="8046720" y="1325880"/>
            <a:ext cx="3474720" cy="2103120"/>
          </a:xfrm>
          <a:prstGeom prst="roundRect">
            <a:avLst>
              <a:gd name="adj" fmla="val 3478"/>
            </a:avLst>
          </a:prstGeom>
          <a:solidFill>
            <a:srgbClr val="FFFFFF"/>
          </a:solidFill>
          <a:ln w="19050">
            <a:solidFill>
              <a:srgbClr val="E18719"/>
            </a:solidFill>
            <a:prstDash val="solid"/>
          </a:ln>
          <a:effectLst>
            <a:outerShdw blurRad="50800" dist="25400" dir="16200000" algn="bl" rotWithShape="0">
              <a:srgbClr val="000000">
                <a:alpha val="15000"/>
              </a:srgbClr>
            </a:outerShdw>
          </a:effectLst>
        </p:spPr>
        <p:txBody>
          <a:bodyPr/>
          <a:lstStyle/>
          <a:p>
            <a:endParaRPr lang="en-US"/>
          </a:p>
        </p:txBody>
      </p:sp>
      <p:sp>
        <p:nvSpPr>
          <p:cNvPr id="19" name="Shape 17"/>
          <p:cNvSpPr/>
          <p:nvPr/>
        </p:nvSpPr>
        <p:spPr>
          <a:xfrm>
            <a:off x="8183880" y="1463040"/>
            <a:ext cx="457200" cy="411480"/>
          </a:xfrm>
          <a:prstGeom prst="roundRect">
            <a:avLst>
              <a:gd name="adj" fmla="val 11111"/>
            </a:avLst>
          </a:prstGeom>
          <a:solidFill>
            <a:srgbClr val="E18719"/>
          </a:solidFill>
          <a:ln/>
        </p:spPr>
        <p:txBody>
          <a:bodyPr/>
          <a:lstStyle/>
          <a:p>
            <a:endParaRPr lang="en-US"/>
          </a:p>
        </p:txBody>
      </p:sp>
      <p:sp>
        <p:nvSpPr>
          <p:cNvPr id="20" name="Text 18"/>
          <p:cNvSpPr/>
          <p:nvPr/>
        </p:nvSpPr>
        <p:spPr>
          <a:xfrm>
            <a:off x="8183880" y="1463040"/>
            <a:ext cx="457200" cy="411480"/>
          </a:xfrm>
          <a:prstGeom prst="rect">
            <a:avLst/>
          </a:prstGeom>
          <a:noFill/>
          <a:ln/>
        </p:spPr>
        <p:txBody>
          <a:bodyPr wrap="square"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3</a:t>
            </a:r>
            <a:endParaRPr lang="en-US" sz="1800" dirty="0"/>
          </a:p>
        </p:txBody>
      </p:sp>
      <p:sp>
        <p:nvSpPr>
          <p:cNvPr id="21" name="Text 19"/>
          <p:cNvSpPr/>
          <p:nvPr/>
        </p:nvSpPr>
        <p:spPr>
          <a:xfrm>
            <a:off x="8778240" y="1463040"/>
            <a:ext cx="2560320" cy="411480"/>
          </a:xfrm>
          <a:prstGeom prst="rect">
            <a:avLst/>
          </a:prstGeom>
          <a:noFill/>
          <a:ln/>
        </p:spPr>
        <p:txBody>
          <a:bodyPr wrap="square" rtlCol="0" anchor="ctr"/>
          <a:lstStyle/>
          <a:p>
            <a:pPr marL="0" indent="0">
              <a:buNone/>
            </a:pPr>
            <a:r>
              <a:rPr lang="en-US" sz="1300" b="1" dirty="0">
                <a:solidFill>
                  <a:srgbClr val="4F2170"/>
                </a:solidFill>
                <a:latin typeface="Arial" pitchFamily="34" charset="0"/>
                <a:ea typeface="Arial" pitchFamily="34" charset="-122"/>
                <a:cs typeface="Arial" pitchFamily="34" charset="-120"/>
              </a:rPr>
              <a:t>SISO</a:t>
            </a:r>
            <a:endParaRPr lang="en-US" sz="1300" dirty="0"/>
          </a:p>
        </p:txBody>
      </p:sp>
      <p:sp>
        <p:nvSpPr>
          <p:cNvPr id="22" name="Text 20"/>
          <p:cNvSpPr/>
          <p:nvPr/>
        </p:nvSpPr>
        <p:spPr>
          <a:xfrm>
            <a:off x="8229600" y="2011680"/>
            <a:ext cx="3108960" cy="1188720"/>
          </a:xfrm>
          <a:prstGeom prst="rect">
            <a:avLst/>
          </a:prstGeom>
          <a:noFill/>
          <a:ln/>
        </p:spPr>
        <p:txBody>
          <a:bodyPr wrap="square" rtlCol="0" anchor="t"/>
          <a:lstStyle/>
          <a:p>
            <a:pPr marL="0" indent="0">
              <a:lnSpc>
                <a:spcPct val="120000"/>
              </a:lnSpc>
              <a:buNone/>
            </a:pPr>
            <a:r>
              <a:rPr lang="en-US" sz="1100" dirty="0">
                <a:solidFill>
                  <a:srgbClr val="3D3D3D"/>
                </a:solidFill>
                <a:latin typeface="Calibri" pitchFamily="34" charset="0"/>
                <a:ea typeface="Calibri" pitchFamily="34" charset="-122"/>
                <a:cs typeface="Calibri" pitchFamily="34" charset="-120"/>
              </a:rPr>
              <a:t>Sell-in / Sell-out reconciliation, daily base, rules engine, customer chain assignments</a:t>
            </a:r>
            <a:endParaRPr lang="en-US" sz="1100" dirty="0"/>
          </a:p>
        </p:txBody>
      </p:sp>
      <p:sp>
        <p:nvSpPr>
          <p:cNvPr id="23" name="Shape 21"/>
          <p:cNvSpPr/>
          <p:nvPr/>
        </p:nvSpPr>
        <p:spPr>
          <a:xfrm>
            <a:off x="548640" y="3703320"/>
            <a:ext cx="3474720" cy="2103120"/>
          </a:xfrm>
          <a:prstGeom prst="roundRect">
            <a:avLst>
              <a:gd name="adj" fmla="val 3478"/>
            </a:avLst>
          </a:prstGeom>
          <a:solidFill>
            <a:srgbClr val="FFFFFF"/>
          </a:solidFill>
          <a:ln w="19050">
            <a:solidFill>
              <a:srgbClr val="E18719"/>
            </a:solidFill>
            <a:prstDash val="solid"/>
          </a:ln>
          <a:effectLst>
            <a:outerShdw blurRad="50800" dist="25400" dir="16200000" algn="bl" rotWithShape="0">
              <a:srgbClr val="000000">
                <a:alpha val="15000"/>
              </a:srgbClr>
            </a:outerShdw>
          </a:effectLst>
        </p:spPr>
        <p:txBody>
          <a:bodyPr/>
          <a:lstStyle/>
          <a:p>
            <a:endParaRPr lang="en-US"/>
          </a:p>
        </p:txBody>
      </p:sp>
      <p:sp>
        <p:nvSpPr>
          <p:cNvPr id="24" name="Shape 22"/>
          <p:cNvSpPr/>
          <p:nvPr/>
        </p:nvSpPr>
        <p:spPr>
          <a:xfrm>
            <a:off x="685800" y="3840480"/>
            <a:ext cx="457200" cy="411480"/>
          </a:xfrm>
          <a:prstGeom prst="roundRect">
            <a:avLst>
              <a:gd name="adj" fmla="val 11111"/>
            </a:avLst>
          </a:prstGeom>
          <a:solidFill>
            <a:srgbClr val="E18719"/>
          </a:solidFill>
          <a:ln/>
        </p:spPr>
        <p:txBody>
          <a:bodyPr/>
          <a:lstStyle/>
          <a:p>
            <a:endParaRPr lang="en-US"/>
          </a:p>
        </p:txBody>
      </p:sp>
      <p:sp>
        <p:nvSpPr>
          <p:cNvPr id="25" name="Text 23"/>
          <p:cNvSpPr/>
          <p:nvPr/>
        </p:nvSpPr>
        <p:spPr>
          <a:xfrm>
            <a:off x="685800" y="3840480"/>
            <a:ext cx="457200" cy="411480"/>
          </a:xfrm>
          <a:prstGeom prst="rect">
            <a:avLst/>
          </a:prstGeom>
          <a:noFill/>
          <a:ln/>
        </p:spPr>
        <p:txBody>
          <a:bodyPr wrap="square"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4</a:t>
            </a:r>
            <a:endParaRPr lang="en-US" sz="1800" dirty="0"/>
          </a:p>
        </p:txBody>
      </p:sp>
      <p:sp>
        <p:nvSpPr>
          <p:cNvPr id="26" name="Text 24"/>
          <p:cNvSpPr/>
          <p:nvPr/>
        </p:nvSpPr>
        <p:spPr>
          <a:xfrm>
            <a:off x="1280160" y="3840480"/>
            <a:ext cx="2560320" cy="411480"/>
          </a:xfrm>
          <a:prstGeom prst="rect">
            <a:avLst/>
          </a:prstGeom>
          <a:noFill/>
          <a:ln/>
        </p:spPr>
        <p:txBody>
          <a:bodyPr wrap="square" rtlCol="0" anchor="ctr"/>
          <a:lstStyle/>
          <a:p>
            <a:pPr marL="0" indent="0">
              <a:buNone/>
            </a:pPr>
            <a:r>
              <a:rPr lang="en-US" sz="1300" b="1" dirty="0">
                <a:solidFill>
                  <a:srgbClr val="4F2170"/>
                </a:solidFill>
                <a:latin typeface="Arial" pitchFamily="34" charset="0"/>
                <a:ea typeface="Arial" pitchFamily="34" charset="-122"/>
                <a:cs typeface="Arial" pitchFamily="34" charset="-120"/>
              </a:rPr>
              <a:t>Master Data, Historical &amp; Manual Files</a:t>
            </a:r>
            <a:endParaRPr lang="en-US" sz="1300" dirty="0"/>
          </a:p>
        </p:txBody>
      </p:sp>
      <p:sp>
        <p:nvSpPr>
          <p:cNvPr id="27" name="Text 25"/>
          <p:cNvSpPr/>
          <p:nvPr/>
        </p:nvSpPr>
        <p:spPr>
          <a:xfrm>
            <a:off x="731520" y="4389120"/>
            <a:ext cx="3108960" cy="1188720"/>
          </a:xfrm>
          <a:prstGeom prst="rect">
            <a:avLst/>
          </a:prstGeom>
          <a:noFill/>
          <a:ln/>
        </p:spPr>
        <p:txBody>
          <a:bodyPr wrap="square" rtlCol="0" anchor="t"/>
          <a:lstStyle/>
          <a:p>
            <a:pPr marL="0" indent="0">
              <a:lnSpc>
                <a:spcPct val="120000"/>
              </a:lnSpc>
              <a:buNone/>
            </a:pPr>
            <a:r>
              <a:rPr lang="en-US" sz="1100" dirty="0">
                <a:solidFill>
                  <a:srgbClr val="3D3D3D"/>
                </a:solidFill>
                <a:latin typeface="Calibri" pitchFamily="34" charset="0"/>
                <a:ea typeface="Calibri" pitchFamily="34" charset="-122"/>
                <a:cs typeface="Calibri" pitchFamily="34" charset="-120"/>
              </a:rPr>
              <a:t>Hierarchies, ALT files, financial ratios, targets, SISO rules</a:t>
            </a:r>
            <a:endParaRPr lang="en-US" sz="1100" dirty="0"/>
          </a:p>
        </p:txBody>
      </p:sp>
      <p:sp>
        <p:nvSpPr>
          <p:cNvPr id="28" name="Shape 26"/>
          <p:cNvSpPr/>
          <p:nvPr/>
        </p:nvSpPr>
        <p:spPr>
          <a:xfrm>
            <a:off x="4297680" y="3703320"/>
            <a:ext cx="3474720" cy="2103120"/>
          </a:xfrm>
          <a:prstGeom prst="roundRect">
            <a:avLst>
              <a:gd name="adj" fmla="val 3478"/>
            </a:avLst>
          </a:prstGeom>
          <a:solidFill>
            <a:srgbClr val="FFFFFF"/>
          </a:solidFill>
          <a:ln w="19050">
            <a:solidFill>
              <a:srgbClr val="E18719"/>
            </a:solidFill>
            <a:prstDash val="solid"/>
          </a:ln>
          <a:effectLst>
            <a:outerShdw blurRad="50800" dist="25400" dir="16200000" algn="bl" rotWithShape="0">
              <a:srgbClr val="000000">
                <a:alpha val="15000"/>
              </a:srgbClr>
            </a:outerShdw>
          </a:effectLst>
        </p:spPr>
        <p:txBody>
          <a:bodyPr/>
          <a:lstStyle/>
          <a:p>
            <a:endParaRPr lang="en-US"/>
          </a:p>
        </p:txBody>
      </p:sp>
      <p:sp>
        <p:nvSpPr>
          <p:cNvPr id="29" name="Shape 27"/>
          <p:cNvSpPr/>
          <p:nvPr/>
        </p:nvSpPr>
        <p:spPr>
          <a:xfrm>
            <a:off x="4434840" y="3840480"/>
            <a:ext cx="457200" cy="411480"/>
          </a:xfrm>
          <a:prstGeom prst="roundRect">
            <a:avLst>
              <a:gd name="adj" fmla="val 11111"/>
            </a:avLst>
          </a:prstGeom>
          <a:solidFill>
            <a:srgbClr val="E18719"/>
          </a:solidFill>
          <a:ln/>
        </p:spPr>
        <p:txBody>
          <a:bodyPr/>
          <a:lstStyle/>
          <a:p>
            <a:endParaRPr lang="en-US"/>
          </a:p>
        </p:txBody>
      </p:sp>
      <p:sp>
        <p:nvSpPr>
          <p:cNvPr id="30" name="Text 28"/>
          <p:cNvSpPr/>
          <p:nvPr/>
        </p:nvSpPr>
        <p:spPr>
          <a:xfrm>
            <a:off x="4434840" y="3840480"/>
            <a:ext cx="457200" cy="411480"/>
          </a:xfrm>
          <a:prstGeom prst="rect">
            <a:avLst/>
          </a:prstGeom>
          <a:noFill/>
          <a:ln/>
        </p:spPr>
        <p:txBody>
          <a:bodyPr wrap="square"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5</a:t>
            </a:r>
            <a:endParaRPr lang="en-US" sz="1800" dirty="0"/>
          </a:p>
        </p:txBody>
      </p:sp>
      <p:sp>
        <p:nvSpPr>
          <p:cNvPr id="31" name="Text 29"/>
          <p:cNvSpPr/>
          <p:nvPr/>
        </p:nvSpPr>
        <p:spPr>
          <a:xfrm>
            <a:off x="5029200" y="3840480"/>
            <a:ext cx="2560320" cy="411480"/>
          </a:xfrm>
          <a:prstGeom prst="rect">
            <a:avLst/>
          </a:prstGeom>
          <a:noFill/>
          <a:ln/>
        </p:spPr>
        <p:txBody>
          <a:bodyPr wrap="square" rtlCol="0" anchor="ctr"/>
          <a:lstStyle/>
          <a:p>
            <a:pPr marL="0" indent="0">
              <a:buNone/>
            </a:pPr>
            <a:r>
              <a:rPr lang="en-US" sz="1300" b="1" dirty="0">
                <a:solidFill>
                  <a:srgbClr val="4F2170"/>
                </a:solidFill>
                <a:latin typeface="Arial" pitchFamily="34" charset="0"/>
                <a:ea typeface="Arial" pitchFamily="34" charset="-122"/>
                <a:cs typeface="Arial" pitchFamily="34" charset="-120"/>
              </a:rPr>
              <a:t>Market Share</a:t>
            </a:r>
            <a:endParaRPr lang="en-US" sz="1300" dirty="0"/>
          </a:p>
        </p:txBody>
      </p:sp>
      <p:sp>
        <p:nvSpPr>
          <p:cNvPr id="32" name="Text 30"/>
          <p:cNvSpPr/>
          <p:nvPr/>
        </p:nvSpPr>
        <p:spPr>
          <a:xfrm>
            <a:off x="4480560" y="4389120"/>
            <a:ext cx="3108960" cy="1188720"/>
          </a:xfrm>
          <a:prstGeom prst="rect">
            <a:avLst/>
          </a:prstGeom>
          <a:noFill/>
          <a:ln/>
        </p:spPr>
        <p:txBody>
          <a:bodyPr wrap="square" rtlCol="0" anchor="t"/>
          <a:lstStyle/>
          <a:p>
            <a:pPr marL="0" indent="0">
              <a:lnSpc>
                <a:spcPct val="120000"/>
              </a:lnSpc>
              <a:buNone/>
            </a:pPr>
            <a:r>
              <a:rPr lang="en-US" sz="1100" dirty="0">
                <a:solidFill>
                  <a:srgbClr val="3D3D3D"/>
                </a:solidFill>
                <a:latin typeface="Calibri" pitchFamily="34" charset="0"/>
                <a:ea typeface="Calibri" pitchFamily="34" charset="-122"/>
                <a:cs typeface="Calibri" pitchFamily="34" charset="-120"/>
              </a:rPr>
              <a:t>Nielsen-based calculations, resilient schema handling for schema changes</a:t>
            </a:r>
            <a:endParaRPr lang="en-US" sz="1100" dirty="0"/>
          </a:p>
        </p:txBody>
      </p:sp>
      <p:sp>
        <p:nvSpPr>
          <p:cNvPr id="33" name="Shape 31"/>
          <p:cNvSpPr/>
          <p:nvPr/>
        </p:nvSpPr>
        <p:spPr>
          <a:xfrm>
            <a:off x="8046720" y="3703320"/>
            <a:ext cx="3474720" cy="2103120"/>
          </a:xfrm>
          <a:prstGeom prst="roundRect">
            <a:avLst>
              <a:gd name="adj" fmla="val 3478"/>
            </a:avLst>
          </a:prstGeom>
          <a:solidFill>
            <a:srgbClr val="FFFFFF"/>
          </a:solidFill>
          <a:ln w="19050">
            <a:solidFill>
              <a:srgbClr val="E18719"/>
            </a:solidFill>
            <a:prstDash val="solid"/>
          </a:ln>
          <a:effectLst>
            <a:outerShdw blurRad="50800" dist="25400" dir="16200000" algn="bl" rotWithShape="0">
              <a:srgbClr val="000000">
                <a:alpha val="15000"/>
              </a:srgbClr>
            </a:outerShdw>
          </a:effectLst>
        </p:spPr>
        <p:txBody>
          <a:bodyPr/>
          <a:lstStyle/>
          <a:p>
            <a:endParaRPr lang="en-US"/>
          </a:p>
        </p:txBody>
      </p:sp>
      <p:sp>
        <p:nvSpPr>
          <p:cNvPr id="34" name="Shape 32"/>
          <p:cNvSpPr/>
          <p:nvPr/>
        </p:nvSpPr>
        <p:spPr>
          <a:xfrm>
            <a:off x="8183880" y="3840480"/>
            <a:ext cx="457200" cy="411480"/>
          </a:xfrm>
          <a:prstGeom prst="roundRect">
            <a:avLst>
              <a:gd name="adj" fmla="val 11111"/>
            </a:avLst>
          </a:prstGeom>
          <a:solidFill>
            <a:srgbClr val="E18719"/>
          </a:solidFill>
          <a:ln/>
        </p:spPr>
        <p:txBody>
          <a:bodyPr/>
          <a:lstStyle/>
          <a:p>
            <a:endParaRPr lang="en-US"/>
          </a:p>
        </p:txBody>
      </p:sp>
      <p:sp>
        <p:nvSpPr>
          <p:cNvPr id="35" name="Text 33"/>
          <p:cNvSpPr/>
          <p:nvPr/>
        </p:nvSpPr>
        <p:spPr>
          <a:xfrm>
            <a:off x="8183880" y="3840480"/>
            <a:ext cx="457200" cy="411480"/>
          </a:xfrm>
          <a:prstGeom prst="rect">
            <a:avLst/>
          </a:prstGeom>
          <a:noFill/>
          <a:ln/>
        </p:spPr>
        <p:txBody>
          <a:bodyPr wrap="square"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6</a:t>
            </a:r>
            <a:endParaRPr lang="en-US" sz="1800" dirty="0"/>
          </a:p>
        </p:txBody>
      </p:sp>
      <p:sp>
        <p:nvSpPr>
          <p:cNvPr id="36" name="Text 34"/>
          <p:cNvSpPr/>
          <p:nvPr/>
        </p:nvSpPr>
        <p:spPr>
          <a:xfrm>
            <a:off x="8778240" y="3840480"/>
            <a:ext cx="2560320" cy="411480"/>
          </a:xfrm>
          <a:prstGeom prst="rect">
            <a:avLst/>
          </a:prstGeom>
          <a:noFill/>
          <a:ln/>
        </p:spPr>
        <p:txBody>
          <a:bodyPr wrap="square" rtlCol="0" anchor="ctr"/>
          <a:lstStyle/>
          <a:p>
            <a:pPr marL="0" indent="0">
              <a:buNone/>
            </a:pPr>
            <a:r>
              <a:rPr lang="en-US" sz="1300" b="1" dirty="0">
                <a:solidFill>
                  <a:srgbClr val="4F2170"/>
                </a:solidFill>
                <a:latin typeface="Arial" pitchFamily="34" charset="0"/>
                <a:ea typeface="Arial" pitchFamily="34" charset="-122"/>
                <a:cs typeface="Arial" pitchFamily="34" charset="-120"/>
              </a:rPr>
              <a:t>Gen BI Consumption Design</a:t>
            </a:r>
            <a:endParaRPr lang="en-US" sz="1300" dirty="0"/>
          </a:p>
        </p:txBody>
      </p:sp>
      <p:sp>
        <p:nvSpPr>
          <p:cNvPr id="37" name="Text 35"/>
          <p:cNvSpPr/>
          <p:nvPr/>
        </p:nvSpPr>
        <p:spPr>
          <a:xfrm>
            <a:off x="8229600" y="4389120"/>
            <a:ext cx="3108960" cy="1188720"/>
          </a:xfrm>
          <a:prstGeom prst="rect">
            <a:avLst/>
          </a:prstGeom>
          <a:noFill/>
          <a:ln/>
        </p:spPr>
        <p:txBody>
          <a:bodyPr wrap="square" rtlCol="0" anchor="t"/>
          <a:lstStyle/>
          <a:p>
            <a:pPr marL="0" indent="0">
              <a:lnSpc>
                <a:spcPct val="120000"/>
              </a:lnSpc>
              <a:buNone/>
            </a:pPr>
            <a:r>
              <a:rPr lang="en-US" sz="1100" dirty="0">
                <a:solidFill>
                  <a:srgbClr val="3D3D3D"/>
                </a:solidFill>
                <a:latin typeface="Calibri" pitchFamily="34" charset="0"/>
                <a:ea typeface="Calibri" pitchFamily="34" charset="-122"/>
                <a:cs typeface="Calibri" pitchFamily="34" charset="-120"/>
              </a:rPr>
              <a:t>KPI architecture, metric view design, Genie setup including supervisor agents</a:t>
            </a:r>
            <a:endParaRPr lang="en-US" sz="1100" dirty="0"/>
          </a:p>
        </p:txBody>
      </p:sp>
      <p:sp>
        <p:nvSpPr>
          <p:cNvPr id="38" name="Shape 36"/>
          <p:cNvSpPr/>
          <p:nvPr/>
        </p:nvSpPr>
        <p:spPr>
          <a:xfrm>
            <a:off x="548640" y="5989320"/>
            <a:ext cx="11064240" cy="365760"/>
          </a:xfrm>
          <a:prstGeom prst="roundRect">
            <a:avLst>
              <a:gd name="adj" fmla="val 12500"/>
            </a:avLst>
          </a:prstGeom>
          <a:solidFill>
            <a:srgbClr val="E8DFF0"/>
          </a:solidFill>
          <a:ln/>
        </p:spPr>
        <p:txBody>
          <a:bodyPr/>
          <a:lstStyle/>
          <a:p>
            <a:endParaRPr lang="en-US"/>
          </a:p>
        </p:txBody>
      </p:sp>
      <p:sp>
        <p:nvSpPr>
          <p:cNvPr id="39" name="Text 37"/>
          <p:cNvSpPr/>
          <p:nvPr/>
        </p:nvSpPr>
        <p:spPr>
          <a:xfrm>
            <a:off x="731520" y="5989320"/>
            <a:ext cx="10789920" cy="365760"/>
          </a:xfrm>
          <a:prstGeom prst="rect">
            <a:avLst/>
          </a:prstGeom>
          <a:noFill/>
          <a:ln/>
        </p:spPr>
        <p:txBody>
          <a:bodyPr wrap="square" rtlCol="0" anchor="ctr"/>
          <a:lstStyle/>
          <a:p>
            <a:pPr marL="0" indent="0">
              <a:buNone/>
            </a:pPr>
            <a:r>
              <a:rPr lang="en-US" sz="1100" i="1" dirty="0">
                <a:solidFill>
                  <a:srgbClr val="4F2170"/>
                </a:solidFill>
                <a:latin typeface="Calibri" pitchFamily="34" charset="0"/>
                <a:ea typeface="Calibri" pitchFamily="34" charset="-122"/>
                <a:cs typeface="Calibri" pitchFamily="34" charset="-120"/>
              </a:rPr>
              <a:t>▶  All 6 tracks run as parallel streams — each following the same daily execution steps aligned to the 8-block pipeline architecture from Day 2</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4F2170"/>
          </a:solidFill>
          <a:ln/>
        </p:spPr>
        <p:txBody>
          <a:bodyPr/>
          <a:lstStyle/>
          <a:p>
            <a:endParaRPr lang="en-US"/>
          </a:p>
        </p:txBody>
      </p:sp>
      <p:sp>
        <p:nvSpPr>
          <p:cNvPr id="3" name="Text 1"/>
          <p:cNvSpPr/>
          <p:nvPr/>
        </p:nvSpPr>
        <p:spPr>
          <a:xfrm>
            <a:off x="548640" y="137160"/>
            <a:ext cx="10515600" cy="502920"/>
          </a:xfrm>
          <a:prstGeom prst="rect">
            <a:avLst/>
          </a:prstGeom>
          <a:noFill/>
          <a:ln/>
        </p:spPr>
        <p:txBody>
          <a:bodyPr wrap="square" rtlCol="0" anchor="ctr"/>
          <a:lstStyle/>
          <a:p>
            <a:pPr marL="0" indent="0">
              <a:buNone/>
            </a:pPr>
            <a:r>
              <a:rPr lang="en-US" sz="2400" dirty="0">
                <a:solidFill>
                  <a:srgbClr val="FFFFFF"/>
                </a:solidFill>
                <a:latin typeface="Arial" pitchFamily="34" charset="0"/>
                <a:ea typeface="Arial" pitchFamily="34" charset="-122"/>
                <a:cs typeface="Arial" pitchFamily="34" charset="-120"/>
              </a:rPr>
              <a:t>Track-to-Pipeline Block Mapping</a:t>
            </a:r>
            <a:endParaRPr lang="en-US" sz="2400" dirty="0"/>
          </a:p>
        </p:txBody>
      </p:sp>
      <p:sp>
        <p:nvSpPr>
          <p:cNvPr id="4" name="Text 2"/>
          <p:cNvSpPr/>
          <p:nvPr/>
        </p:nvSpPr>
        <p:spPr>
          <a:xfrm>
            <a:off x="548640" y="594360"/>
            <a:ext cx="10515600" cy="320040"/>
          </a:xfrm>
          <a:prstGeom prst="rect">
            <a:avLst/>
          </a:prstGeom>
          <a:noFill/>
          <a:ln/>
        </p:spPr>
        <p:txBody>
          <a:bodyPr wrap="square" rtlCol="0" anchor="ctr"/>
          <a:lstStyle/>
          <a:p>
            <a:pPr marL="0" indent="0">
              <a:buNone/>
            </a:pPr>
            <a:r>
              <a:rPr lang="en-US" sz="1300" dirty="0">
                <a:solidFill>
                  <a:srgbClr val="E8DFF0"/>
                </a:solidFill>
                <a:latin typeface="Calibri" pitchFamily="34" charset="0"/>
                <a:ea typeface="Calibri" pitchFamily="34" charset="-122"/>
                <a:cs typeface="Calibri" pitchFamily="34" charset="-120"/>
              </a:rPr>
              <a:t>Connecting business processes to Day 2's 8-block architecture</a:t>
            </a:r>
            <a:endParaRPr lang="en-US" sz="1300" dirty="0"/>
          </a:p>
        </p:txBody>
      </p:sp>
      <p:sp>
        <p:nvSpPr>
          <p:cNvPr id="5" name="Shape 3"/>
          <p:cNvSpPr/>
          <p:nvPr/>
        </p:nvSpPr>
        <p:spPr>
          <a:xfrm>
            <a:off x="0" y="6492240"/>
            <a:ext cx="12188952" cy="365760"/>
          </a:xfrm>
          <a:prstGeom prst="rect">
            <a:avLst/>
          </a:prstGeom>
          <a:solidFill>
            <a:srgbClr val="3A1854"/>
          </a:solidFill>
          <a:ln/>
        </p:spPr>
        <p:txBody>
          <a:bodyPr/>
          <a:lstStyle/>
          <a:p>
            <a:endParaRPr lang="en-US"/>
          </a:p>
        </p:txBody>
      </p:sp>
      <p:sp>
        <p:nvSpPr>
          <p:cNvPr id="6" name="Text 4"/>
          <p:cNvSpPr/>
          <p:nvPr/>
        </p:nvSpPr>
        <p:spPr>
          <a:xfrm>
            <a:off x="548640" y="6510528"/>
            <a:ext cx="9144000" cy="320040"/>
          </a:xfrm>
          <a:prstGeom prst="rect">
            <a:avLst/>
          </a:prstGeom>
          <a:noFill/>
          <a:ln/>
        </p:spPr>
        <p:txBody>
          <a:bodyPr wrap="square" rtlCol="0" anchor="ctr"/>
          <a:lstStyle/>
          <a:p>
            <a:pPr marL="0" indent="0">
              <a:buNone/>
            </a:pPr>
            <a:r>
              <a:rPr lang="en-US" sz="900" dirty="0">
                <a:solidFill>
                  <a:srgbClr val="E8DFF0"/>
                </a:solidFill>
                <a:latin typeface="Calibri" pitchFamily="34" charset="0"/>
                <a:ea typeface="Calibri" pitchFamily="34" charset="-122"/>
                <a:cs typeface="Calibri" pitchFamily="34" charset="-120"/>
              </a:rPr>
              <a:t>LA OSA 2.0 Blueprint Workshop  |  Day 3 Morning  |  WS-1: Mexico &amp; Wacam</a:t>
            </a:r>
            <a:endParaRPr lang="en-US" sz="900" dirty="0"/>
          </a:p>
        </p:txBody>
      </p:sp>
      <p:sp>
        <p:nvSpPr>
          <p:cNvPr id="7" name="Text 5"/>
          <p:cNvSpPr/>
          <p:nvPr/>
        </p:nvSpPr>
        <p:spPr>
          <a:xfrm>
            <a:off x="10972800" y="6510528"/>
            <a:ext cx="914400" cy="320040"/>
          </a:xfrm>
          <a:prstGeom prst="rect">
            <a:avLst/>
          </a:prstGeom>
          <a:noFill/>
          <a:ln/>
        </p:spPr>
        <p:txBody>
          <a:bodyPr wrap="square" rtlCol="0" anchor="ctr"/>
          <a:lstStyle/>
          <a:p>
            <a:pPr marL="0" indent="0" algn="r">
              <a:buNone/>
            </a:pPr>
            <a:r>
              <a:rPr lang="en-US" sz="900" dirty="0">
                <a:solidFill>
                  <a:srgbClr val="E8DFF0"/>
                </a:solidFill>
                <a:latin typeface="Calibri" pitchFamily="34" charset="0"/>
                <a:ea typeface="Calibri" pitchFamily="34" charset="-122"/>
                <a:cs typeface="Calibri" pitchFamily="34" charset="-120"/>
              </a:rPr>
              <a:t>5 / 20</a:t>
            </a:r>
            <a:endParaRPr lang="en-US" sz="9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2286000">
                  <a:extLst>
                    <a:ext uri="{9D8B030D-6E8A-4147-A177-3AD203B41FA5}">
                      <a16:colId xmlns:a16="http://schemas.microsoft.com/office/drawing/2014/main" val="20000"/>
                    </a:ext>
                  </a:extLst>
                </a:gridCol>
                <a:gridCol w="105156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105156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gridCol w="1051560">
                  <a:extLst>
                    <a:ext uri="{9D8B030D-6E8A-4147-A177-3AD203B41FA5}">
                      <a16:colId xmlns:a16="http://schemas.microsoft.com/office/drawing/2014/main" val="20005"/>
                    </a:ext>
                  </a:extLst>
                </a:gridCol>
                <a:gridCol w="914400">
                  <a:extLst>
                    <a:ext uri="{9D8B030D-6E8A-4147-A177-3AD203B41FA5}">
                      <a16:colId xmlns:a16="http://schemas.microsoft.com/office/drawing/2014/main" val="20006"/>
                    </a:ext>
                  </a:extLst>
                </a:gridCol>
                <a:gridCol w="1051560">
                  <a:extLst>
                    <a:ext uri="{9D8B030D-6E8A-4147-A177-3AD203B41FA5}">
                      <a16:colId xmlns:a16="http://schemas.microsoft.com/office/drawing/2014/main" val="20007"/>
                    </a:ext>
                  </a:extLst>
                </a:gridCol>
                <a:gridCol w="914400">
                  <a:extLst>
                    <a:ext uri="{9D8B030D-6E8A-4147-A177-3AD203B41FA5}">
                      <a16:colId xmlns:a16="http://schemas.microsoft.com/office/drawing/2014/main" val="20008"/>
                    </a:ext>
                  </a:extLst>
                </a:gridCol>
              </a:tblGrid>
              <a:tr h="548640">
                <a:tc>
                  <a:txBody>
                    <a:bodyPr/>
                    <a:lstStyle/>
                    <a:p>
                      <a:pPr marL="0" indent="0" algn="l">
                        <a:buNone/>
                      </a:pPr>
                      <a:r>
                        <a:rPr lang="en-US" sz="1000" b="1" dirty="0">
                          <a:solidFill>
                            <a:srgbClr val="FFFFFF"/>
                          </a:solidFill>
                          <a:latin typeface="Calibri" pitchFamily="34" charset="0"/>
                          <a:ea typeface="Calibri" pitchFamily="34" charset="-122"/>
                          <a:cs typeface="Calibri" pitchFamily="34" charset="-120"/>
                        </a:rPr>
                        <a:t>Business Track</a:t>
                      </a:r>
                      <a:endParaRPr lang="en-US" sz="1000" dirty="0">
                        <a:latin typeface="Calibri" charset="0"/>
                        <a:ea typeface="Calibri" charset="0"/>
                        <a:cs typeface="Calibri" charset="0"/>
                      </a:endParaRPr>
                    </a:p>
                  </a:txBody>
                  <a:tcPr marL="63500" marR="63500" marT="38100" marB="38100" anchor="ctr">
                    <a:lnL w="6350" cap="flat" cmpd="sng" algn="ctr">
                      <a:solidFill>
                        <a:srgbClr val="E0D5E8"/>
                      </a:solidFill>
                      <a:prstDash val="solid"/>
                      <a:round/>
                      <a:headEnd type="none" w="med" len="med"/>
                      <a:tailEnd type="none" w="med" len="med"/>
                    </a:lnL>
                    <a:lnR w="6350" cap="flat" cmpd="sng" algn="ctr">
                      <a:solidFill>
                        <a:srgbClr val="E0D5E8"/>
                      </a:solidFill>
                      <a:prstDash val="solid"/>
                      <a:round/>
                      <a:headEnd type="none" w="med" len="med"/>
                      <a:tailEnd type="none" w="med" len="med"/>
                    </a:lnR>
                    <a:lnT w="6350" cap="flat" cmpd="sng" algn="ctr">
                      <a:solidFill>
                        <a:srgbClr val="E0D5E8"/>
                      </a:solidFill>
                      <a:prstDash val="solid"/>
                      <a:round/>
                      <a:headEnd type="none" w="med" len="med"/>
                      <a:tailEnd type="none" w="med" len="med"/>
                    </a:lnT>
                    <a:lnB w="6350" cap="flat" cmpd="sng" algn="ctr">
                      <a:solidFill>
                        <a:srgbClr val="E0D5E8"/>
                      </a:solidFill>
                      <a:prstDash val="solid"/>
                      <a:round/>
                      <a:headEnd type="none" w="med" len="med"/>
                      <a:tailEnd type="none" w="med" len="med"/>
                    </a:lnB>
                    <a:solidFill>
                      <a:srgbClr val="4F2170"/>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B1</a:t>
                      </a:r>
                      <a:endParaRPr lang="en-US" sz="1000" dirty="0">
                        <a:latin typeface="Calibri" charset="0"/>
                        <a:ea typeface="Calibri" charset="0"/>
                        <a:cs typeface="Calibri" charset="0"/>
                      </a:endParaRPr>
                    </a:p>
                    <a:p>
                      <a:pPr marL="0" indent="0" algn="ctr">
                        <a:buNone/>
                      </a:pPr>
                      <a:r>
                        <a:rPr lang="en-US" sz="1000" b="1" dirty="0">
                          <a:solidFill>
                            <a:srgbClr val="FFFFFF"/>
                          </a:solidFill>
                          <a:latin typeface="Calibri" pitchFamily="34" charset="0"/>
                          <a:ea typeface="Calibri" pitchFamily="34" charset="-122"/>
                          <a:cs typeface="Calibri" pitchFamily="34" charset="-120"/>
                        </a:rPr>
                        <a:t>Ingestion</a:t>
                      </a:r>
                      <a:endParaRPr lang="en-US" sz="1000" dirty="0">
                        <a:latin typeface="Calibri" charset="0"/>
                        <a:ea typeface="Calibri" charset="0"/>
                        <a:cs typeface="Calibri" charset="0"/>
                      </a:endParaRPr>
                    </a:p>
                  </a:txBody>
                  <a:tcPr marL="63500" marR="63500" marT="38100" marB="38100" anchor="ctr">
                    <a:lnL w="6350" cap="flat" cmpd="sng" algn="ctr">
                      <a:solidFill>
                        <a:srgbClr val="E0D5E8"/>
                      </a:solidFill>
                      <a:prstDash val="solid"/>
                      <a:round/>
                      <a:headEnd type="none" w="med" len="med"/>
                      <a:tailEnd type="none" w="med" len="med"/>
                    </a:lnL>
                    <a:lnR w="6350" cap="flat" cmpd="sng" algn="ctr">
                      <a:solidFill>
                        <a:srgbClr val="E0D5E8"/>
                      </a:solidFill>
                      <a:prstDash val="solid"/>
                      <a:round/>
                      <a:headEnd type="none" w="med" len="med"/>
                      <a:tailEnd type="none" w="med" len="med"/>
                    </a:lnR>
                    <a:lnT w="6350" cap="flat" cmpd="sng" algn="ctr">
                      <a:solidFill>
                        <a:srgbClr val="E0D5E8"/>
                      </a:solidFill>
                      <a:prstDash val="solid"/>
                      <a:round/>
                      <a:headEnd type="none" w="med" len="med"/>
                      <a:tailEnd type="none" w="med" len="med"/>
                    </a:lnT>
                    <a:lnB w="6350" cap="flat" cmpd="sng" algn="ctr">
                      <a:solidFill>
                        <a:srgbClr val="E0D5E8"/>
                      </a:solidFill>
                      <a:prstDash val="solid"/>
                      <a:round/>
                      <a:headEnd type="none" w="med" len="med"/>
                      <a:tailEnd type="none" w="med" len="med"/>
                    </a:lnB>
                    <a:solidFill>
                      <a:srgbClr val="4F2170"/>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B2</a:t>
                      </a:r>
                      <a:endParaRPr lang="en-US" sz="1000" dirty="0">
                        <a:latin typeface="Calibri" charset="0"/>
                        <a:ea typeface="Calibri" charset="0"/>
                        <a:cs typeface="Calibri" charset="0"/>
                      </a:endParaRPr>
                    </a:p>
                    <a:p>
                      <a:pPr marL="0" indent="0" algn="ctr">
                        <a:buNone/>
                      </a:pPr>
                      <a:r>
                        <a:rPr lang="en-US" sz="1000" b="1" dirty="0">
                          <a:solidFill>
                            <a:srgbClr val="FFFFFF"/>
                          </a:solidFill>
                          <a:latin typeface="Calibri" pitchFamily="34" charset="0"/>
                          <a:ea typeface="Calibri" pitchFamily="34" charset="-122"/>
                          <a:cs typeface="Calibri" pitchFamily="34" charset="-120"/>
                        </a:rPr>
                        <a:t>Silver</a:t>
                      </a:r>
                      <a:endParaRPr lang="en-US" sz="1000" dirty="0">
                        <a:latin typeface="Calibri" charset="0"/>
                        <a:ea typeface="Calibri" charset="0"/>
                        <a:cs typeface="Calibri" charset="0"/>
                      </a:endParaRPr>
                    </a:p>
                  </a:txBody>
                  <a:tcPr marL="63500" marR="63500" marT="38100" marB="38100" anchor="ctr">
                    <a:lnL w="6350" cap="flat" cmpd="sng" algn="ctr">
                      <a:solidFill>
                        <a:srgbClr val="E0D5E8"/>
                      </a:solidFill>
                      <a:prstDash val="solid"/>
                      <a:round/>
                      <a:headEnd type="none" w="med" len="med"/>
                      <a:tailEnd type="none" w="med" len="med"/>
                    </a:lnL>
                    <a:lnR w="6350" cap="flat" cmpd="sng" algn="ctr">
                      <a:solidFill>
                        <a:srgbClr val="E0D5E8"/>
                      </a:solidFill>
                      <a:prstDash val="solid"/>
                      <a:round/>
                      <a:headEnd type="none" w="med" len="med"/>
                      <a:tailEnd type="none" w="med" len="med"/>
                    </a:lnR>
                    <a:lnT w="6350" cap="flat" cmpd="sng" algn="ctr">
                      <a:solidFill>
                        <a:srgbClr val="E0D5E8"/>
                      </a:solidFill>
                      <a:prstDash val="solid"/>
                      <a:round/>
                      <a:headEnd type="none" w="med" len="med"/>
                      <a:tailEnd type="none" w="med" len="med"/>
                    </a:lnT>
                    <a:lnB w="6350" cap="flat" cmpd="sng" algn="ctr">
                      <a:solidFill>
                        <a:srgbClr val="E0D5E8"/>
                      </a:solidFill>
                      <a:prstDash val="solid"/>
                      <a:round/>
                      <a:headEnd type="none" w="med" len="med"/>
                      <a:tailEnd type="none" w="med" len="med"/>
                    </a:lnB>
                    <a:solidFill>
                      <a:srgbClr val="4F2170"/>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B3</a:t>
                      </a:r>
                      <a:endParaRPr lang="en-US" sz="1000" dirty="0">
                        <a:latin typeface="Calibri" charset="0"/>
                        <a:ea typeface="Calibri" charset="0"/>
                        <a:cs typeface="Calibri" charset="0"/>
                      </a:endParaRPr>
                    </a:p>
                    <a:p>
                      <a:pPr marL="0" indent="0" algn="ctr">
                        <a:buNone/>
                      </a:pPr>
                      <a:r>
                        <a:rPr lang="en-US" sz="1000" b="1" dirty="0">
                          <a:solidFill>
                            <a:srgbClr val="FFFFFF"/>
                          </a:solidFill>
                          <a:latin typeface="Calibri" pitchFamily="34" charset="0"/>
                          <a:ea typeface="Calibri" pitchFamily="34" charset="-122"/>
                          <a:cs typeface="Calibri" pitchFamily="34" charset="-120"/>
                        </a:rPr>
                        <a:t>Core</a:t>
                      </a:r>
                      <a:endParaRPr lang="en-US" sz="1000" dirty="0">
                        <a:latin typeface="Calibri" charset="0"/>
                        <a:ea typeface="Calibri" charset="0"/>
                        <a:cs typeface="Calibri" charset="0"/>
                      </a:endParaRPr>
                    </a:p>
                    <a:p>
                      <a:pPr marL="0" indent="0" algn="ctr">
                        <a:buNone/>
                      </a:pPr>
                      <a:r>
                        <a:rPr lang="en-US" sz="1000" b="1" dirty="0">
                          <a:solidFill>
                            <a:srgbClr val="FFFFFF"/>
                          </a:solidFill>
                          <a:latin typeface="Calibri" pitchFamily="34" charset="0"/>
                          <a:ea typeface="Calibri" pitchFamily="34" charset="-122"/>
                          <a:cs typeface="Calibri" pitchFamily="34" charset="-120"/>
                        </a:rPr>
                        <a:t>Domains</a:t>
                      </a:r>
                      <a:endParaRPr lang="en-US" sz="1000" dirty="0">
                        <a:latin typeface="Calibri" charset="0"/>
                        <a:ea typeface="Calibri" charset="0"/>
                        <a:cs typeface="Calibri" charset="0"/>
                      </a:endParaRPr>
                    </a:p>
                  </a:txBody>
                  <a:tcPr marL="63500" marR="63500" marT="38100" marB="38100" anchor="ctr">
                    <a:lnL w="6350" cap="flat" cmpd="sng" algn="ctr">
                      <a:solidFill>
                        <a:srgbClr val="E0D5E8"/>
                      </a:solidFill>
                      <a:prstDash val="solid"/>
                      <a:round/>
                      <a:headEnd type="none" w="med" len="med"/>
                      <a:tailEnd type="none" w="med" len="med"/>
                    </a:lnL>
                    <a:lnR w="6350" cap="flat" cmpd="sng" algn="ctr">
                      <a:solidFill>
                        <a:srgbClr val="E0D5E8"/>
                      </a:solidFill>
                      <a:prstDash val="solid"/>
                      <a:round/>
                      <a:headEnd type="none" w="med" len="med"/>
                      <a:tailEnd type="none" w="med" len="med"/>
                    </a:lnR>
                    <a:lnT w="6350" cap="flat" cmpd="sng" algn="ctr">
                      <a:solidFill>
                        <a:srgbClr val="E0D5E8"/>
                      </a:solidFill>
                      <a:prstDash val="solid"/>
                      <a:round/>
                      <a:headEnd type="none" w="med" len="med"/>
                      <a:tailEnd type="none" w="med" len="med"/>
                    </a:lnT>
                    <a:lnB w="6350" cap="flat" cmpd="sng" algn="ctr">
                      <a:solidFill>
                        <a:srgbClr val="E0D5E8"/>
                      </a:solidFill>
                      <a:prstDash val="solid"/>
                      <a:round/>
                      <a:headEnd type="none" w="med" len="med"/>
                      <a:tailEnd type="none" w="med" len="med"/>
                    </a:lnB>
                    <a:solidFill>
                      <a:srgbClr val="4F2170"/>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B4</a:t>
                      </a:r>
                      <a:endParaRPr lang="en-US" sz="1000" dirty="0">
                        <a:latin typeface="Calibri" charset="0"/>
                        <a:ea typeface="Calibri" charset="0"/>
                        <a:cs typeface="Calibri" charset="0"/>
                      </a:endParaRPr>
                    </a:p>
                    <a:p>
                      <a:pPr marL="0" indent="0" algn="ctr">
                        <a:buNone/>
                      </a:pPr>
                      <a:r>
                        <a:rPr lang="en-US" sz="1000" b="1" dirty="0">
                          <a:solidFill>
                            <a:srgbClr val="FFFFFF"/>
                          </a:solidFill>
                          <a:latin typeface="Calibri" pitchFamily="34" charset="0"/>
                          <a:ea typeface="Calibri" pitchFamily="34" charset="-122"/>
                          <a:cs typeface="Calibri" pitchFamily="34" charset="-120"/>
                        </a:rPr>
                        <a:t>Config</a:t>
                      </a:r>
                      <a:endParaRPr lang="en-US" sz="1000" dirty="0">
                        <a:latin typeface="Calibri" charset="0"/>
                        <a:ea typeface="Calibri" charset="0"/>
                        <a:cs typeface="Calibri" charset="0"/>
                      </a:endParaRPr>
                    </a:p>
                  </a:txBody>
                  <a:tcPr marL="63500" marR="63500" marT="38100" marB="38100" anchor="ctr">
                    <a:lnL w="6350" cap="flat" cmpd="sng" algn="ctr">
                      <a:solidFill>
                        <a:srgbClr val="E0D5E8"/>
                      </a:solidFill>
                      <a:prstDash val="solid"/>
                      <a:round/>
                      <a:headEnd type="none" w="med" len="med"/>
                      <a:tailEnd type="none" w="med" len="med"/>
                    </a:lnL>
                    <a:lnR w="6350" cap="flat" cmpd="sng" algn="ctr">
                      <a:solidFill>
                        <a:srgbClr val="E0D5E8"/>
                      </a:solidFill>
                      <a:prstDash val="solid"/>
                      <a:round/>
                      <a:headEnd type="none" w="med" len="med"/>
                      <a:tailEnd type="none" w="med" len="med"/>
                    </a:lnR>
                    <a:lnT w="6350" cap="flat" cmpd="sng" algn="ctr">
                      <a:solidFill>
                        <a:srgbClr val="E0D5E8"/>
                      </a:solidFill>
                      <a:prstDash val="solid"/>
                      <a:round/>
                      <a:headEnd type="none" w="med" len="med"/>
                      <a:tailEnd type="none" w="med" len="med"/>
                    </a:lnT>
                    <a:lnB w="6350" cap="flat" cmpd="sng" algn="ctr">
                      <a:solidFill>
                        <a:srgbClr val="E0D5E8"/>
                      </a:solidFill>
                      <a:prstDash val="solid"/>
                      <a:round/>
                      <a:headEnd type="none" w="med" len="med"/>
                      <a:tailEnd type="none" w="med" len="med"/>
                    </a:lnB>
                    <a:solidFill>
                      <a:srgbClr val="4F2170"/>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B5</a:t>
                      </a:r>
                      <a:endParaRPr lang="en-US" sz="1000" dirty="0">
                        <a:latin typeface="Calibri" charset="0"/>
                        <a:ea typeface="Calibri" charset="0"/>
                        <a:cs typeface="Calibri" charset="0"/>
                      </a:endParaRPr>
                    </a:p>
                    <a:p>
                      <a:pPr marL="0" indent="0" algn="ctr">
                        <a:buNone/>
                      </a:pPr>
                      <a:r>
                        <a:rPr lang="en-US" sz="1000" b="1" dirty="0">
                          <a:solidFill>
                            <a:srgbClr val="FFFFFF"/>
                          </a:solidFill>
                          <a:latin typeface="Calibri" pitchFamily="34" charset="0"/>
                          <a:ea typeface="Calibri" pitchFamily="34" charset="-122"/>
                          <a:cs typeface="Calibri" pitchFamily="34" charset="-120"/>
                        </a:rPr>
                        <a:t>KPI Calc</a:t>
                      </a:r>
                      <a:endParaRPr lang="en-US" sz="1000" dirty="0">
                        <a:latin typeface="Calibri" charset="0"/>
                        <a:ea typeface="Calibri" charset="0"/>
                        <a:cs typeface="Calibri" charset="0"/>
                      </a:endParaRPr>
                    </a:p>
                  </a:txBody>
                  <a:tcPr marL="63500" marR="63500" marT="38100" marB="38100" anchor="ctr">
                    <a:lnL w="6350" cap="flat" cmpd="sng" algn="ctr">
                      <a:solidFill>
                        <a:srgbClr val="E0D5E8"/>
                      </a:solidFill>
                      <a:prstDash val="solid"/>
                      <a:round/>
                      <a:headEnd type="none" w="med" len="med"/>
                      <a:tailEnd type="none" w="med" len="med"/>
                    </a:lnL>
                    <a:lnR w="6350" cap="flat" cmpd="sng" algn="ctr">
                      <a:solidFill>
                        <a:srgbClr val="E0D5E8"/>
                      </a:solidFill>
                      <a:prstDash val="solid"/>
                      <a:round/>
                      <a:headEnd type="none" w="med" len="med"/>
                      <a:tailEnd type="none" w="med" len="med"/>
                    </a:lnR>
                    <a:lnT w="6350" cap="flat" cmpd="sng" algn="ctr">
                      <a:solidFill>
                        <a:srgbClr val="E0D5E8"/>
                      </a:solidFill>
                      <a:prstDash val="solid"/>
                      <a:round/>
                      <a:headEnd type="none" w="med" len="med"/>
                      <a:tailEnd type="none" w="med" len="med"/>
                    </a:lnT>
                    <a:lnB w="6350" cap="flat" cmpd="sng" algn="ctr">
                      <a:solidFill>
                        <a:srgbClr val="E0D5E8"/>
                      </a:solidFill>
                      <a:prstDash val="solid"/>
                      <a:round/>
                      <a:headEnd type="none" w="med" len="med"/>
                      <a:tailEnd type="none" w="med" len="med"/>
                    </a:lnB>
                    <a:solidFill>
                      <a:srgbClr val="4F2170"/>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B6</a:t>
                      </a:r>
                      <a:endParaRPr lang="en-US" sz="1000" dirty="0">
                        <a:latin typeface="Calibri" charset="0"/>
                        <a:ea typeface="Calibri" charset="0"/>
                        <a:cs typeface="Calibri" charset="0"/>
                      </a:endParaRPr>
                    </a:p>
                    <a:p>
                      <a:pPr marL="0" indent="0" algn="ctr">
                        <a:buNone/>
                      </a:pPr>
                      <a:r>
                        <a:rPr lang="en-US" sz="1000" b="1" dirty="0">
                          <a:solidFill>
                            <a:srgbClr val="FFFFFF"/>
                          </a:solidFill>
                          <a:latin typeface="Calibri" pitchFamily="34" charset="0"/>
                          <a:ea typeface="Calibri" pitchFamily="34" charset="-122"/>
                          <a:cs typeface="Calibri" pitchFamily="34" charset="-120"/>
                        </a:rPr>
                        <a:t>Publish</a:t>
                      </a:r>
                      <a:endParaRPr lang="en-US" sz="1000" dirty="0">
                        <a:latin typeface="Calibri" charset="0"/>
                        <a:ea typeface="Calibri" charset="0"/>
                        <a:cs typeface="Calibri" charset="0"/>
                      </a:endParaRPr>
                    </a:p>
                  </a:txBody>
                  <a:tcPr marL="63500" marR="63500" marT="38100" marB="38100" anchor="ctr">
                    <a:lnL w="6350" cap="flat" cmpd="sng" algn="ctr">
                      <a:solidFill>
                        <a:srgbClr val="E0D5E8"/>
                      </a:solidFill>
                      <a:prstDash val="solid"/>
                      <a:round/>
                      <a:headEnd type="none" w="med" len="med"/>
                      <a:tailEnd type="none" w="med" len="med"/>
                    </a:lnL>
                    <a:lnR w="6350" cap="flat" cmpd="sng" algn="ctr">
                      <a:solidFill>
                        <a:srgbClr val="E0D5E8"/>
                      </a:solidFill>
                      <a:prstDash val="solid"/>
                      <a:round/>
                      <a:headEnd type="none" w="med" len="med"/>
                      <a:tailEnd type="none" w="med" len="med"/>
                    </a:lnR>
                    <a:lnT w="6350" cap="flat" cmpd="sng" algn="ctr">
                      <a:solidFill>
                        <a:srgbClr val="E0D5E8"/>
                      </a:solidFill>
                      <a:prstDash val="solid"/>
                      <a:round/>
                      <a:headEnd type="none" w="med" len="med"/>
                      <a:tailEnd type="none" w="med" len="med"/>
                    </a:lnT>
                    <a:lnB w="6350" cap="flat" cmpd="sng" algn="ctr">
                      <a:solidFill>
                        <a:srgbClr val="E0D5E8"/>
                      </a:solidFill>
                      <a:prstDash val="solid"/>
                      <a:round/>
                      <a:headEnd type="none" w="med" len="med"/>
                      <a:tailEnd type="none" w="med" len="med"/>
                    </a:lnB>
                    <a:solidFill>
                      <a:srgbClr val="4F2170"/>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B7</a:t>
                      </a:r>
                      <a:endParaRPr lang="en-US" sz="1000" dirty="0">
                        <a:latin typeface="Calibri" charset="0"/>
                        <a:ea typeface="Calibri" charset="0"/>
                        <a:cs typeface="Calibri" charset="0"/>
                      </a:endParaRPr>
                    </a:p>
                    <a:p>
                      <a:pPr marL="0" indent="0" algn="ctr">
                        <a:buNone/>
                      </a:pPr>
                      <a:r>
                        <a:rPr lang="en-US" sz="1000" b="1" dirty="0">
                          <a:solidFill>
                            <a:srgbClr val="FFFFFF"/>
                          </a:solidFill>
                          <a:latin typeface="Calibri" pitchFamily="34" charset="0"/>
                          <a:ea typeface="Calibri" pitchFamily="34" charset="-122"/>
                          <a:cs typeface="Calibri" pitchFamily="34" charset="-120"/>
                        </a:rPr>
                        <a:t>Metric</a:t>
                      </a:r>
                      <a:endParaRPr lang="en-US" sz="1000" dirty="0">
                        <a:latin typeface="Calibri" charset="0"/>
                        <a:ea typeface="Calibri" charset="0"/>
                        <a:cs typeface="Calibri" charset="0"/>
                      </a:endParaRPr>
                    </a:p>
                    <a:p>
                      <a:pPr marL="0" indent="0" algn="ctr">
                        <a:buNone/>
                      </a:pPr>
                      <a:r>
                        <a:rPr lang="en-US" sz="1000" b="1" dirty="0">
                          <a:solidFill>
                            <a:srgbClr val="FFFFFF"/>
                          </a:solidFill>
                          <a:latin typeface="Calibri" pitchFamily="34" charset="0"/>
                          <a:ea typeface="Calibri" pitchFamily="34" charset="-122"/>
                          <a:cs typeface="Calibri" pitchFamily="34" charset="-120"/>
                        </a:rPr>
                        <a:t>Views</a:t>
                      </a:r>
                      <a:endParaRPr lang="en-US" sz="1000" dirty="0">
                        <a:latin typeface="Calibri" charset="0"/>
                        <a:ea typeface="Calibri" charset="0"/>
                        <a:cs typeface="Calibri" charset="0"/>
                      </a:endParaRPr>
                    </a:p>
                  </a:txBody>
                  <a:tcPr marL="63500" marR="63500" marT="38100" marB="38100" anchor="ctr">
                    <a:lnL w="6350" cap="flat" cmpd="sng" algn="ctr">
                      <a:solidFill>
                        <a:srgbClr val="E0D5E8"/>
                      </a:solidFill>
                      <a:prstDash val="solid"/>
                      <a:round/>
                      <a:headEnd type="none" w="med" len="med"/>
                      <a:tailEnd type="none" w="med" len="med"/>
                    </a:lnL>
                    <a:lnR w="6350" cap="flat" cmpd="sng" algn="ctr">
                      <a:solidFill>
                        <a:srgbClr val="E0D5E8"/>
                      </a:solidFill>
                      <a:prstDash val="solid"/>
                      <a:round/>
                      <a:headEnd type="none" w="med" len="med"/>
                      <a:tailEnd type="none" w="med" len="med"/>
                    </a:lnR>
                    <a:lnT w="6350" cap="flat" cmpd="sng" algn="ctr">
                      <a:solidFill>
                        <a:srgbClr val="E0D5E8"/>
                      </a:solidFill>
                      <a:prstDash val="solid"/>
                      <a:round/>
                      <a:headEnd type="none" w="med" len="med"/>
                      <a:tailEnd type="none" w="med" len="med"/>
                    </a:lnT>
                    <a:lnB w="6350" cap="flat" cmpd="sng" algn="ctr">
                      <a:solidFill>
                        <a:srgbClr val="E0D5E8"/>
                      </a:solidFill>
                      <a:prstDash val="solid"/>
                      <a:round/>
                      <a:headEnd type="none" w="med" len="med"/>
                      <a:tailEnd type="none" w="med" len="med"/>
                    </a:lnB>
                    <a:solidFill>
                      <a:srgbClr val="4F2170"/>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B8</a:t>
                      </a:r>
                      <a:endParaRPr lang="en-US" sz="1000" dirty="0">
                        <a:latin typeface="Calibri" charset="0"/>
                        <a:ea typeface="Calibri" charset="0"/>
                        <a:cs typeface="Calibri" charset="0"/>
                      </a:endParaRPr>
                    </a:p>
                    <a:p>
                      <a:pPr marL="0" indent="0" algn="ctr">
                        <a:buNone/>
                      </a:pPr>
                      <a:r>
                        <a:rPr lang="en-US" sz="1000" b="1" dirty="0">
                          <a:solidFill>
                            <a:srgbClr val="FFFFFF"/>
                          </a:solidFill>
                          <a:latin typeface="Calibri" pitchFamily="34" charset="0"/>
                          <a:ea typeface="Calibri" pitchFamily="34" charset="-122"/>
                          <a:cs typeface="Calibri" pitchFamily="34" charset="-120"/>
                        </a:rPr>
                        <a:t>Consump.</a:t>
                      </a:r>
                      <a:endParaRPr lang="en-US" sz="1000" dirty="0">
                        <a:latin typeface="Calibri" charset="0"/>
                        <a:ea typeface="Calibri" charset="0"/>
                        <a:cs typeface="Calibri" charset="0"/>
                      </a:endParaRPr>
                    </a:p>
                  </a:txBody>
                  <a:tcPr marL="63500" marR="63500" marT="38100" marB="38100" anchor="ctr">
                    <a:lnL w="6350" cap="flat" cmpd="sng" algn="ctr">
                      <a:solidFill>
                        <a:srgbClr val="E0D5E8"/>
                      </a:solidFill>
                      <a:prstDash val="solid"/>
                      <a:round/>
                      <a:headEnd type="none" w="med" len="med"/>
                      <a:tailEnd type="none" w="med" len="med"/>
                    </a:lnL>
                    <a:lnR w="6350" cap="flat" cmpd="sng" algn="ctr">
                      <a:solidFill>
                        <a:srgbClr val="E0D5E8"/>
                      </a:solidFill>
                      <a:prstDash val="solid"/>
                      <a:round/>
                      <a:headEnd type="none" w="med" len="med"/>
                      <a:tailEnd type="none" w="med" len="med"/>
                    </a:lnR>
                    <a:lnT w="6350" cap="flat" cmpd="sng" algn="ctr">
                      <a:solidFill>
                        <a:srgbClr val="E0D5E8"/>
                      </a:solidFill>
                      <a:prstDash val="solid"/>
                      <a:round/>
                      <a:headEnd type="none" w="med" len="med"/>
                      <a:tailEnd type="none" w="med" len="med"/>
                    </a:lnT>
                    <a:lnB w="6350" cap="flat" cmpd="sng" algn="ctr">
                      <a:solidFill>
                        <a:srgbClr val="E0D5E8"/>
                      </a:solidFill>
                      <a:prstDash val="solid"/>
                      <a:round/>
                      <a:headEnd type="none" w="med" len="med"/>
                      <a:tailEnd type="none" w="med" len="med"/>
                    </a:lnB>
                    <a:solidFill>
                      <a:srgbClr val="4F2170"/>
                    </a:solidFill>
                  </a:tcPr>
                </a:tc>
                <a:extLst>
                  <a:ext uri="{0D108BD9-81ED-4DB2-BD59-A6C34878D82A}">
                    <a16:rowId xmlns:a16="http://schemas.microsoft.com/office/drawing/2014/main" val="10000"/>
                  </a:ext>
                </a:extLst>
              </a:tr>
              <a:tr h="457200">
                <a:tc>
                  <a:txBody>
                    <a:bodyPr/>
                    <a:lstStyle/>
                    <a:p>
                      <a:pPr marL="0" indent="0" algn="l">
                        <a:buNone/>
                      </a:pPr>
                      <a:r>
                        <a:rPr lang="en-US" sz="1100" b="1" dirty="0">
                          <a:solidFill>
                            <a:srgbClr val="3D3D3D"/>
                          </a:solidFill>
                          <a:latin typeface="Calibri" pitchFamily="34" charset="0"/>
                          <a:ea typeface="Calibri" pitchFamily="34" charset="-122"/>
                          <a:cs typeface="Calibri" pitchFamily="34" charset="-120"/>
                        </a:rPr>
                        <a:t>1  OTC</a:t>
                      </a:r>
                      <a:endParaRPr lang="en-US" sz="1100" dirty="0">
                        <a:latin typeface="Calibri" charset="0"/>
                        <a:ea typeface="Calibri" charset="0"/>
                        <a:cs typeface="Calibri" charset="0"/>
                      </a:endParaRPr>
                    </a:p>
                  </a:txBody>
                  <a:tcPr marL="63500" marR="63500" marT="38100" marB="38100" anchor="ctr">
                    <a:lnL w="6350" cap="flat" cmpd="sng" algn="ctr">
                      <a:solidFill>
                        <a:srgbClr val="E0D5E8"/>
                      </a:solidFill>
                      <a:prstDash val="solid"/>
                      <a:round/>
                      <a:headEnd type="none" w="med" len="med"/>
                      <a:tailEnd type="none" w="med" len="med"/>
                    </a:lnL>
                    <a:lnR w="6350" cap="flat" cmpd="sng" algn="ctr">
                      <a:solidFill>
                        <a:srgbClr val="E0D5E8"/>
                      </a:solidFill>
                      <a:prstDash val="solid"/>
                      <a:round/>
                      <a:headEnd type="none" w="med" len="med"/>
                      <a:tailEnd type="none" w="med" len="med"/>
                    </a:lnR>
                    <a:lnT w="6350" cap="flat" cmpd="sng" algn="ctr">
                      <a:solidFill>
                        <a:srgbClr val="E0D5E8"/>
                      </a:solidFill>
                      <a:prstDash val="solid"/>
                      <a:round/>
                      <a:headEnd type="none" w="med" len="med"/>
                      <a:tailEnd type="none" w="med" len="med"/>
                    </a:lnT>
                    <a:lnB w="6350" cap="flat" cmpd="sng" algn="ctr">
                      <a:solidFill>
                        <a:srgbClr val="E0D5E8"/>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E18719"/>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63500" marR="63500" marT="38100" marB="38100" anchor="ctr">
                    <a:lnL w="6350" cap="flat" cmpd="sng" algn="ctr">
                      <a:solidFill>
                        <a:srgbClr val="E0D5E8"/>
                      </a:solidFill>
                      <a:prstDash val="solid"/>
                      <a:round/>
                      <a:headEnd type="none" w="med" len="med"/>
                      <a:tailEnd type="none" w="med" len="med"/>
                    </a:lnL>
                    <a:lnR w="6350" cap="flat" cmpd="sng" algn="ctr">
                      <a:solidFill>
                        <a:srgbClr val="E0D5E8"/>
                      </a:solidFill>
                      <a:prstDash val="solid"/>
                      <a:round/>
                      <a:headEnd type="none" w="med" len="med"/>
                      <a:tailEnd type="none" w="med" len="med"/>
                    </a:lnR>
                    <a:lnT w="6350" cap="flat" cmpd="sng" algn="ctr">
                      <a:solidFill>
                        <a:srgbClr val="E0D5E8"/>
                      </a:solidFill>
                      <a:prstDash val="solid"/>
                      <a:round/>
                      <a:headEnd type="none" w="med" len="med"/>
                      <a:tailEnd type="none" w="med" len="med"/>
                    </a:lnT>
                    <a:lnB w="6350" cap="flat" cmpd="sng" algn="ctr">
                      <a:solidFill>
                        <a:srgbClr val="E0D5E8"/>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E18719"/>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63500" marR="63500" marT="38100" marB="38100" anchor="ctr">
                    <a:lnL w="6350" cap="flat" cmpd="sng" algn="ctr">
                      <a:solidFill>
                        <a:srgbClr val="E0D5E8"/>
                      </a:solidFill>
                      <a:prstDash val="solid"/>
                      <a:round/>
                      <a:headEnd type="none" w="med" len="med"/>
                      <a:tailEnd type="none" w="med" len="med"/>
                    </a:lnL>
                    <a:lnR w="6350" cap="flat" cmpd="sng" algn="ctr">
                      <a:solidFill>
                        <a:srgbClr val="E0D5E8"/>
                      </a:solidFill>
                      <a:prstDash val="solid"/>
                      <a:round/>
                      <a:headEnd type="none" w="med" len="med"/>
                      <a:tailEnd type="none" w="med" len="med"/>
                    </a:lnR>
                    <a:lnT w="6350" cap="flat" cmpd="sng" algn="ctr">
                      <a:solidFill>
                        <a:srgbClr val="E0D5E8"/>
                      </a:solidFill>
                      <a:prstDash val="solid"/>
                      <a:round/>
                      <a:headEnd type="none" w="med" len="med"/>
                      <a:tailEnd type="none" w="med" len="med"/>
                    </a:lnT>
                    <a:lnB w="6350" cap="flat" cmpd="sng" algn="ctr">
                      <a:solidFill>
                        <a:srgbClr val="E0D5E8"/>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E18719"/>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63500" marR="63500" marT="38100" marB="38100" anchor="ctr">
                    <a:lnL w="6350" cap="flat" cmpd="sng" algn="ctr">
                      <a:solidFill>
                        <a:srgbClr val="E0D5E8"/>
                      </a:solidFill>
                      <a:prstDash val="solid"/>
                      <a:round/>
                      <a:headEnd type="none" w="med" len="med"/>
                      <a:tailEnd type="none" w="med" len="med"/>
                    </a:lnL>
                    <a:lnR w="6350" cap="flat" cmpd="sng" algn="ctr">
                      <a:solidFill>
                        <a:srgbClr val="E0D5E8"/>
                      </a:solidFill>
                      <a:prstDash val="solid"/>
                      <a:round/>
                      <a:headEnd type="none" w="med" len="med"/>
                      <a:tailEnd type="none" w="med" len="med"/>
                    </a:lnR>
                    <a:lnT w="6350" cap="flat" cmpd="sng" algn="ctr">
                      <a:solidFill>
                        <a:srgbClr val="E0D5E8"/>
                      </a:solidFill>
                      <a:prstDash val="solid"/>
                      <a:round/>
                      <a:headEnd type="none" w="med" len="med"/>
                      <a:tailEnd type="none" w="med" len="med"/>
                    </a:lnT>
                    <a:lnB w="6350" cap="flat" cmpd="sng" algn="ctr">
                      <a:solidFill>
                        <a:srgbClr val="E0D5E8"/>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E18719"/>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63500" marR="63500" marT="38100" marB="38100" anchor="ctr">
                    <a:lnL w="6350" cap="flat" cmpd="sng" algn="ctr">
                      <a:solidFill>
                        <a:srgbClr val="E0D5E8"/>
                      </a:solidFill>
                      <a:prstDash val="solid"/>
                      <a:round/>
                      <a:headEnd type="none" w="med" len="med"/>
                      <a:tailEnd type="none" w="med" len="med"/>
                    </a:lnL>
                    <a:lnR w="6350" cap="flat" cmpd="sng" algn="ctr">
                      <a:solidFill>
                        <a:srgbClr val="E0D5E8"/>
                      </a:solidFill>
                      <a:prstDash val="solid"/>
                      <a:round/>
                      <a:headEnd type="none" w="med" len="med"/>
                      <a:tailEnd type="none" w="med" len="med"/>
                    </a:lnR>
                    <a:lnT w="6350" cap="flat" cmpd="sng" algn="ctr">
                      <a:solidFill>
                        <a:srgbClr val="E0D5E8"/>
                      </a:solidFill>
                      <a:prstDash val="solid"/>
                      <a:round/>
                      <a:headEnd type="none" w="med" len="med"/>
                      <a:tailEnd type="none" w="med" len="med"/>
                    </a:lnT>
                    <a:lnB w="6350" cap="flat" cmpd="sng" algn="ctr">
                      <a:solidFill>
                        <a:srgbClr val="E0D5E8"/>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E18719"/>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63500" marR="63500" marT="38100" marB="38100" anchor="ctr">
                    <a:lnL w="6350" cap="flat" cmpd="sng" algn="ctr">
                      <a:solidFill>
                        <a:srgbClr val="E0D5E8"/>
                      </a:solidFill>
                      <a:prstDash val="solid"/>
                      <a:round/>
                      <a:headEnd type="none" w="med" len="med"/>
                      <a:tailEnd type="none" w="med" len="med"/>
                    </a:lnL>
                    <a:lnR w="6350" cap="flat" cmpd="sng" algn="ctr">
                      <a:solidFill>
                        <a:srgbClr val="E0D5E8"/>
                      </a:solidFill>
                      <a:prstDash val="solid"/>
                      <a:round/>
                      <a:headEnd type="none" w="med" len="med"/>
                      <a:tailEnd type="none" w="med" len="med"/>
                    </a:lnR>
                    <a:lnT w="6350" cap="flat" cmpd="sng" algn="ctr">
                      <a:solidFill>
                        <a:srgbClr val="E0D5E8"/>
                      </a:solidFill>
                      <a:prstDash val="solid"/>
                      <a:round/>
                      <a:headEnd type="none" w="med" len="med"/>
                      <a:tailEnd type="none" w="med" len="med"/>
                    </a:lnT>
                    <a:lnB w="6350" cap="flat" cmpd="sng" algn="ctr">
                      <a:solidFill>
                        <a:srgbClr val="E0D5E8"/>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E18719"/>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63500" marR="63500" marT="38100" marB="38100" anchor="ctr">
                    <a:lnL w="6350" cap="flat" cmpd="sng" algn="ctr">
                      <a:solidFill>
                        <a:srgbClr val="E0D5E8"/>
                      </a:solidFill>
                      <a:prstDash val="solid"/>
                      <a:round/>
                      <a:headEnd type="none" w="med" len="med"/>
                      <a:tailEnd type="none" w="med" len="med"/>
                    </a:lnL>
                    <a:lnR w="6350" cap="flat" cmpd="sng" algn="ctr">
                      <a:solidFill>
                        <a:srgbClr val="E0D5E8"/>
                      </a:solidFill>
                      <a:prstDash val="solid"/>
                      <a:round/>
                      <a:headEnd type="none" w="med" len="med"/>
                      <a:tailEnd type="none" w="med" len="med"/>
                    </a:lnR>
                    <a:lnT w="6350" cap="flat" cmpd="sng" algn="ctr">
                      <a:solidFill>
                        <a:srgbClr val="E0D5E8"/>
                      </a:solidFill>
                      <a:prstDash val="solid"/>
                      <a:round/>
                      <a:headEnd type="none" w="med" len="med"/>
                      <a:tailEnd type="none" w="med" len="med"/>
                    </a:lnT>
                    <a:lnB w="6350" cap="flat" cmpd="sng" algn="ctr">
                      <a:solidFill>
                        <a:srgbClr val="E0D5E8"/>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E18719"/>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63500" marR="63500" marT="38100" marB="38100" anchor="ctr">
                    <a:lnL w="6350" cap="flat" cmpd="sng" algn="ctr">
                      <a:solidFill>
                        <a:srgbClr val="E0D5E8"/>
                      </a:solidFill>
                      <a:prstDash val="solid"/>
                      <a:round/>
                      <a:headEnd type="none" w="med" len="med"/>
                      <a:tailEnd type="none" w="med" len="med"/>
                    </a:lnL>
                    <a:lnR w="6350" cap="flat" cmpd="sng" algn="ctr">
                      <a:solidFill>
                        <a:srgbClr val="E0D5E8"/>
                      </a:solidFill>
                      <a:prstDash val="solid"/>
                      <a:round/>
                      <a:headEnd type="none" w="med" len="med"/>
                      <a:tailEnd type="none" w="med" len="med"/>
                    </a:lnR>
                    <a:lnT w="6350" cap="flat" cmpd="sng" algn="ctr">
                      <a:solidFill>
                        <a:srgbClr val="E0D5E8"/>
                      </a:solidFill>
                      <a:prstDash val="solid"/>
                      <a:round/>
                      <a:headEnd type="none" w="med" len="med"/>
                      <a:tailEnd type="none" w="med" len="med"/>
                    </a:lnT>
                    <a:lnB w="6350" cap="flat" cmpd="sng" algn="ctr">
                      <a:solidFill>
                        <a:srgbClr val="E0D5E8"/>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E18719"/>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63500" marR="63500" marT="38100" marB="38100" anchor="ctr">
                    <a:lnL w="6350" cap="flat" cmpd="sng" algn="ctr">
                      <a:solidFill>
                        <a:srgbClr val="E0D5E8"/>
                      </a:solidFill>
                      <a:prstDash val="solid"/>
                      <a:round/>
                      <a:headEnd type="none" w="med" len="med"/>
                      <a:tailEnd type="none" w="med" len="med"/>
                    </a:lnL>
                    <a:lnR w="6350" cap="flat" cmpd="sng" algn="ctr">
                      <a:solidFill>
                        <a:srgbClr val="E0D5E8"/>
                      </a:solidFill>
                      <a:prstDash val="solid"/>
                      <a:round/>
                      <a:headEnd type="none" w="med" len="med"/>
                      <a:tailEnd type="none" w="med" len="med"/>
                    </a:lnR>
                    <a:lnT w="6350" cap="flat" cmpd="sng" algn="ctr">
                      <a:solidFill>
                        <a:srgbClr val="E0D5E8"/>
                      </a:solidFill>
                      <a:prstDash val="solid"/>
                      <a:round/>
                      <a:headEnd type="none" w="med" len="med"/>
                      <a:tailEnd type="none" w="med" len="med"/>
                    </a:lnT>
                    <a:lnB w="6350" cap="flat" cmpd="sng" algn="ctr">
                      <a:solidFill>
                        <a:srgbClr val="E0D5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lgn="l">
                        <a:buNone/>
                      </a:pPr>
                      <a:r>
                        <a:rPr lang="en-US" sz="1100" b="1" dirty="0">
                          <a:solidFill>
                            <a:srgbClr val="3D3D3D"/>
                          </a:solidFill>
                          <a:latin typeface="Calibri" pitchFamily="34" charset="0"/>
                          <a:ea typeface="Calibri" pitchFamily="34" charset="-122"/>
                          <a:cs typeface="Calibri" pitchFamily="34" charset="-120"/>
                        </a:rPr>
                        <a:t>2  EPOS / Ch. Inv.</a:t>
                      </a:r>
                      <a:endParaRPr lang="en-US" sz="1100" dirty="0">
                        <a:latin typeface="Calibri" charset="0"/>
                        <a:ea typeface="Calibri" charset="0"/>
                        <a:cs typeface="Calibri" charset="0"/>
                      </a:endParaRPr>
                    </a:p>
                  </a:txBody>
                  <a:tcPr marL="63500" marR="63500" marT="38100" marB="38100" anchor="ctr">
                    <a:lnL w="6350" cap="flat" cmpd="sng" algn="ctr">
                      <a:solidFill>
                        <a:srgbClr val="E0D5E8"/>
                      </a:solidFill>
                      <a:prstDash val="solid"/>
                      <a:round/>
                      <a:headEnd type="none" w="med" len="med"/>
                      <a:tailEnd type="none" w="med" len="med"/>
                    </a:lnL>
                    <a:lnR w="6350" cap="flat" cmpd="sng" algn="ctr">
                      <a:solidFill>
                        <a:srgbClr val="E0D5E8"/>
                      </a:solidFill>
                      <a:prstDash val="solid"/>
                      <a:round/>
                      <a:headEnd type="none" w="med" len="med"/>
                      <a:tailEnd type="none" w="med" len="med"/>
                    </a:lnR>
                    <a:lnT w="6350" cap="flat" cmpd="sng" algn="ctr">
                      <a:solidFill>
                        <a:srgbClr val="E0D5E8"/>
                      </a:solidFill>
                      <a:prstDash val="solid"/>
                      <a:round/>
                      <a:headEnd type="none" w="med" len="med"/>
                      <a:tailEnd type="none" w="med" len="med"/>
                    </a:lnT>
                    <a:lnB w="6350" cap="flat" cmpd="sng" algn="ctr">
                      <a:solidFill>
                        <a:srgbClr val="E0D5E8"/>
                      </a:solidFill>
                      <a:prstDash val="solid"/>
                      <a:round/>
                      <a:headEnd type="none" w="med" len="med"/>
                      <a:tailEnd type="none" w="med" len="med"/>
                    </a:lnB>
                    <a:solidFill>
                      <a:srgbClr val="F9F5FC"/>
                    </a:solidFill>
                  </a:tcPr>
                </a:tc>
                <a:tc>
                  <a:txBody>
                    <a:bodyPr/>
                    <a:lstStyle/>
                    <a:p>
                      <a:pPr marL="0" indent="0" algn="ctr">
                        <a:buNone/>
                      </a:pPr>
                      <a:r>
                        <a:rPr lang="en-US" sz="1600" dirty="0">
                          <a:solidFill>
                            <a:srgbClr val="E18719"/>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63500" marR="63500" marT="38100" marB="38100" anchor="ctr">
                    <a:lnL w="6350" cap="flat" cmpd="sng" algn="ctr">
                      <a:solidFill>
                        <a:srgbClr val="E0D5E8"/>
                      </a:solidFill>
                      <a:prstDash val="solid"/>
                      <a:round/>
                      <a:headEnd type="none" w="med" len="med"/>
                      <a:tailEnd type="none" w="med" len="med"/>
                    </a:lnL>
                    <a:lnR w="6350" cap="flat" cmpd="sng" algn="ctr">
                      <a:solidFill>
                        <a:srgbClr val="E0D5E8"/>
                      </a:solidFill>
                      <a:prstDash val="solid"/>
                      <a:round/>
                      <a:headEnd type="none" w="med" len="med"/>
                      <a:tailEnd type="none" w="med" len="med"/>
                    </a:lnR>
                    <a:lnT w="6350" cap="flat" cmpd="sng" algn="ctr">
                      <a:solidFill>
                        <a:srgbClr val="E0D5E8"/>
                      </a:solidFill>
                      <a:prstDash val="solid"/>
                      <a:round/>
                      <a:headEnd type="none" w="med" len="med"/>
                      <a:tailEnd type="none" w="med" len="med"/>
                    </a:lnT>
                    <a:lnB w="6350" cap="flat" cmpd="sng" algn="ctr">
                      <a:solidFill>
                        <a:srgbClr val="E0D5E8"/>
                      </a:solidFill>
                      <a:prstDash val="solid"/>
                      <a:round/>
                      <a:headEnd type="none" w="med" len="med"/>
                      <a:tailEnd type="none" w="med" len="med"/>
                    </a:lnB>
                    <a:solidFill>
                      <a:srgbClr val="F9F5FC"/>
                    </a:solidFill>
                  </a:tcPr>
                </a:tc>
                <a:tc>
                  <a:txBody>
                    <a:bodyPr/>
                    <a:lstStyle/>
                    <a:p>
                      <a:pPr marL="0" indent="0" algn="ctr">
                        <a:buNone/>
                      </a:pPr>
                      <a:r>
                        <a:rPr lang="en-US" sz="1600" dirty="0">
                          <a:solidFill>
                            <a:srgbClr val="E18719"/>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63500" marR="63500" marT="38100" marB="38100" anchor="ctr">
                    <a:lnL w="6350" cap="flat" cmpd="sng" algn="ctr">
                      <a:solidFill>
                        <a:srgbClr val="E0D5E8"/>
                      </a:solidFill>
                      <a:prstDash val="solid"/>
                      <a:round/>
                      <a:headEnd type="none" w="med" len="med"/>
                      <a:tailEnd type="none" w="med" len="med"/>
                    </a:lnL>
                    <a:lnR w="6350" cap="flat" cmpd="sng" algn="ctr">
                      <a:solidFill>
                        <a:srgbClr val="E0D5E8"/>
                      </a:solidFill>
                      <a:prstDash val="solid"/>
                      <a:round/>
                      <a:headEnd type="none" w="med" len="med"/>
                      <a:tailEnd type="none" w="med" len="med"/>
                    </a:lnR>
                    <a:lnT w="6350" cap="flat" cmpd="sng" algn="ctr">
                      <a:solidFill>
                        <a:srgbClr val="E0D5E8"/>
                      </a:solidFill>
                      <a:prstDash val="solid"/>
                      <a:round/>
                      <a:headEnd type="none" w="med" len="med"/>
                      <a:tailEnd type="none" w="med" len="med"/>
                    </a:lnT>
                    <a:lnB w="6350" cap="flat" cmpd="sng" algn="ctr">
                      <a:solidFill>
                        <a:srgbClr val="E0D5E8"/>
                      </a:solidFill>
                      <a:prstDash val="solid"/>
                      <a:round/>
                      <a:headEnd type="none" w="med" len="med"/>
                      <a:tailEnd type="none" w="med" len="med"/>
                    </a:lnB>
                    <a:solidFill>
                      <a:srgbClr val="F9F5FC"/>
                    </a:solidFill>
                  </a:tcPr>
                </a:tc>
                <a:tc>
                  <a:txBody>
                    <a:bodyPr/>
                    <a:lstStyle/>
                    <a:p>
                      <a:pPr marL="0" indent="0" algn="ctr">
                        <a:buNone/>
                      </a:pPr>
                      <a:r>
                        <a:rPr lang="en-US" sz="1600" dirty="0">
                          <a:solidFill>
                            <a:srgbClr val="E18719"/>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63500" marR="63500" marT="38100" marB="38100" anchor="ctr">
                    <a:lnL w="6350" cap="flat" cmpd="sng" algn="ctr">
                      <a:solidFill>
                        <a:srgbClr val="E0D5E8"/>
                      </a:solidFill>
                      <a:prstDash val="solid"/>
                      <a:round/>
                      <a:headEnd type="none" w="med" len="med"/>
                      <a:tailEnd type="none" w="med" len="med"/>
                    </a:lnL>
                    <a:lnR w="6350" cap="flat" cmpd="sng" algn="ctr">
                      <a:solidFill>
                        <a:srgbClr val="E0D5E8"/>
                      </a:solidFill>
                      <a:prstDash val="solid"/>
                      <a:round/>
                      <a:headEnd type="none" w="med" len="med"/>
                      <a:tailEnd type="none" w="med" len="med"/>
                    </a:lnR>
                    <a:lnT w="6350" cap="flat" cmpd="sng" algn="ctr">
                      <a:solidFill>
                        <a:srgbClr val="E0D5E8"/>
                      </a:solidFill>
                      <a:prstDash val="solid"/>
                      <a:round/>
                      <a:headEnd type="none" w="med" len="med"/>
                      <a:tailEnd type="none" w="med" len="med"/>
                    </a:lnT>
                    <a:lnB w="6350" cap="flat" cmpd="sng" algn="ctr">
                      <a:solidFill>
                        <a:srgbClr val="E0D5E8"/>
                      </a:solidFill>
                      <a:prstDash val="solid"/>
                      <a:round/>
                      <a:headEnd type="none" w="med" len="med"/>
                      <a:tailEnd type="none" w="med" len="med"/>
                    </a:lnB>
                    <a:solidFill>
                      <a:srgbClr val="F9F5FC"/>
                    </a:solidFill>
                  </a:tcPr>
                </a:tc>
                <a:tc>
                  <a:txBody>
                    <a:bodyPr/>
                    <a:lstStyle/>
                    <a:p>
                      <a:pPr marL="0" indent="0" algn="ctr">
                        <a:buNone/>
                      </a:pPr>
                      <a:r>
                        <a:rPr lang="en-US" sz="1600" dirty="0">
                          <a:solidFill>
                            <a:srgbClr val="E18719"/>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63500" marR="63500" marT="38100" marB="38100" anchor="ctr">
                    <a:lnL w="6350" cap="flat" cmpd="sng" algn="ctr">
                      <a:solidFill>
                        <a:srgbClr val="E0D5E8"/>
                      </a:solidFill>
                      <a:prstDash val="solid"/>
                      <a:round/>
                      <a:headEnd type="none" w="med" len="med"/>
                      <a:tailEnd type="none" w="med" len="med"/>
                    </a:lnL>
                    <a:lnR w="6350" cap="flat" cmpd="sng" algn="ctr">
                      <a:solidFill>
                        <a:srgbClr val="E0D5E8"/>
                      </a:solidFill>
                      <a:prstDash val="solid"/>
                      <a:round/>
                      <a:headEnd type="none" w="med" len="med"/>
                      <a:tailEnd type="none" w="med" len="med"/>
                    </a:lnR>
                    <a:lnT w="6350" cap="flat" cmpd="sng" algn="ctr">
                      <a:solidFill>
                        <a:srgbClr val="E0D5E8"/>
                      </a:solidFill>
                      <a:prstDash val="solid"/>
                      <a:round/>
                      <a:headEnd type="none" w="med" len="med"/>
                      <a:tailEnd type="none" w="med" len="med"/>
                    </a:lnT>
                    <a:lnB w="6350" cap="flat" cmpd="sng" algn="ctr">
                      <a:solidFill>
                        <a:srgbClr val="E0D5E8"/>
                      </a:solidFill>
                      <a:prstDash val="solid"/>
                      <a:round/>
                      <a:headEnd type="none" w="med" len="med"/>
                      <a:tailEnd type="none" w="med" len="med"/>
                    </a:lnB>
                    <a:solidFill>
                      <a:srgbClr val="F9F5FC"/>
                    </a:solidFill>
                  </a:tcPr>
                </a:tc>
                <a:tc>
                  <a:txBody>
                    <a:bodyPr/>
                    <a:lstStyle/>
                    <a:p>
                      <a:pPr marL="0" indent="0" algn="ctr">
                        <a:buNone/>
                      </a:pPr>
                      <a:r>
                        <a:rPr lang="en-US" sz="1600" dirty="0">
                          <a:solidFill>
                            <a:srgbClr val="E18719"/>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63500" marR="63500" marT="38100" marB="38100" anchor="ctr">
                    <a:lnL w="6350" cap="flat" cmpd="sng" algn="ctr">
                      <a:solidFill>
                        <a:srgbClr val="E0D5E8"/>
                      </a:solidFill>
                      <a:prstDash val="solid"/>
                      <a:round/>
                      <a:headEnd type="none" w="med" len="med"/>
                      <a:tailEnd type="none" w="med" len="med"/>
                    </a:lnL>
                    <a:lnR w="6350" cap="flat" cmpd="sng" algn="ctr">
                      <a:solidFill>
                        <a:srgbClr val="E0D5E8"/>
                      </a:solidFill>
                      <a:prstDash val="solid"/>
                      <a:round/>
                      <a:headEnd type="none" w="med" len="med"/>
                      <a:tailEnd type="none" w="med" len="med"/>
                    </a:lnR>
                    <a:lnT w="6350" cap="flat" cmpd="sng" algn="ctr">
                      <a:solidFill>
                        <a:srgbClr val="E0D5E8"/>
                      </a:solidFill>
                      <a:prstDash val="solid"/>
                      <a:round/>
                      <a:headEnd type="none" w="med" len="med"/>
                      <a:tailEnd type="none" w="med" len="med"/>
                    </a:lnT>
                    <a:lnB w="6350" cap="flat" cmpd="sng" algn="ctr">
                      <a:solidFill>
                        <a:srgbClr val="E0D5E8"/>
                      </a:solidFill>
                      <a:prstDash val="solid"/>
                      <a:round/>
                      <a:headEnd type="none" w="med" len="med"/>
                      <a:tailEnd type="none" w="med" len="med"/>
                    </a:lnB>
                    <a:solidFill>
                      <a:srgbClr val="F9F5FC"/>
                    </a:solidFill>
                  </a:tcPr>
                </a:tc>
                <a:tc>
                  <a:txBody>
                    <a:bodyPr/>
                    <a:lstStyle/>
                    <a:p>
                      <a:pPr marL="0" indent="0" algn="ctr">
                        <a:buNone/>
                      </a:pPr>
                      <a:r>
                        <a:rPr lang="en-US" sz="1600" dirty="0">
                          <a:solidFill>
                            <a:srgbClr val="E18719"/>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63500" marR="63500" marT="38100" marB="38100" anchor="ctr">
                    <a:lnL w="6350" cap="flat" cmpd="sng" algn="ctr">
                      <a:solidFill>
                        <a:srgbClr val="E0D5E8"/>
                      </a:solidFill>
                      <a:prstDash val="solid"/>
                      <a:round/>
                      <a:headEnd type="none" w="med" len="med"/>
                      <a:tailEnd type="none" w="med" len="med"/>
                    </a:lnL>
                    <a:lnR w="6350" cap="flat" cmpd="sng" algn="ctr">
                      <a:solidFill>
                        <a:srgbClr val="E0D5E8"/>
                      </a:solidFill>
                      <a:prstDash val="solid"/>
                      <a:round/>
                      <a:headEnd type="none" w="med" len="med"/>
                      <a:tailEnd type="none" w="med" len="med"/>
                    </a:lnR>
                    <a:lnT w="6350" cap="flat" cmpd="sng" algn="ctr">
                      <a:solidFill>
                        <a:srgbClr val="E0D5E8"/>
                      </a:solidFill>
                      <a:prstDash val="solid"/>
                      <a:round/>
                      <a:headEnd type="none" w="med" len="med"/>
                      <a:tailEnd type="none" w="med" len="med"/>
                    </a:lnT>
                    <a:lnB w="6350" cap="flat" cmpd="sng" algn="ctr">
                      <a:solidFill>
                        <a:srgbClr val="E0D5E8"/>
                      </a:solidFill>
                      <a:prstDash val="solid"/>
                      <a:round/>
                      <a:headEnd type="none" w="med" len="med"/>
                      <a:tailEnd type="none" w="med" len="med"/>
                    </a:lnB>
                    <a:solidFill>
                      <a:srgbClr val="F9F5FC"/>
                    </a:solidFill>
                  </a:tcPr>
                </a:tc>
                <a:tc>
                  <a:txBody>
                    <a:bodyPr/>
                    <a:lstStyle/>
                    <a:p>
                      <a:pPr marL="0" indent="0" algn="ctr">
                        <a:buNone/>
                      </a:pPr>
                      <a:r>
                        <a:rPr lang="en-US" sz="1600" dirty="0">
                          <a:solidFill>
                            <a:srgbClr val="E18719"/>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63500" marR="63500" marT="38100" marB="38100" anchor="ctr">
                    <a:lnL w="6350" cap="flat" cmpd="sng" algn="ctr">
                      <a:solidFill>
                        <a:srgbClr val="E0D5E8"/>
                      </a:solidFill>
                      <a:prstDash val="solid"/>
                      <a:round/>
                      <a:headEnd type="none" w="med" len="med"/>
                      <a:tailEnd type="none" w="med" len="med"/>
                    </a:lnL>
                    <a:lnR w="6350" cap="flat" cmpd="sng" algn="ctr">
                      <a:solidFill>
                        <a:srgbClr val="E0D5E8"/>
                      </a:solidFill>
                      <a:prstDash val="solid"/>
                      <a:round/>
                      <a:headEnd type="none" w="med" len="med"/>
                      <a:tailEnd type="none" w="med" len="med"/>
                    </a:lnR>
                    <a:lnT w="6350" cap="flat" cmpd="sng" algn="ctr">
                      <a:solidFill>
                        <a:srgbClr val="E0D5E8"/>
                      </a:solidFill>
                      <a:prstDash val="solid"/>
                      <a:round/>
                      <a:headEnd type="none" w="med" len="med"/>
                      <a:tailEnd type="none" w="med" len="med"/>
                    </a:lnT>
                    <a:lnB w="6350" cap="flat" cmpd="sng" algn="ctr">
                      <a:solidFill>
                        <a:srgbClr val="E0D5E8"/>
                      </a:solidFill>
                      <a:prstDash val="solid"/>
                      <a:round/>
                      <a:headEnd type="none" w="med" len="med"/>
                      <a:tailEnd type="none" w="med" len="med"/>
                    </a:lnB>
                    <a:solidFill>
                      <a:srgbClr val="F9F5FC"/>
                    </a:solidFill>
                  </a:tcPr>
                </a:tc>
                <a:tc>
                  <a:txBody>
                    <a:bodyPr/>
                    <a:lstStyle/>
                    <a:p>
                      <a:pPr marL="0" indent="0" algn="ctr">
                        <a:buNone/>
                      </a:pPr>
                      <a:r>
                        <a:rPr lang="en-US" sz="1600" dirty="0">
                          <a:solidFill>
                            <a:srgbClr val="E18719"/>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63500" marR="63500" marT="38100" marB="38100" anchor="ctr">
                    <a:lnL w="6350" cap="flat" cmpd="sng" algn="ctr">
                      <a:solidFill>
                        <a:srgbClr val="E0D5E8"/>
                      </a:solidFill>
                      <a:prstDash val="solid"/>
                      <a:round/>
                      <a:headEnd type="none" w="med" len="med"/>
                      <a:tailEnd type="none" w="med" len="med"/>
                    </a:lnL>
                    <a:lnR w="6350" cap="flat" cmpd="sng" algn="ctr">
                      <a:solidFill>
                        <a:srgbClr val="E0D5E8"/>
                      </a:solidFill>
                      <a:prstDash val="solid"/>
                      <a:round/>
                      <a:headEnd type="none" w="med" len="med"/>
                      <a:tailEnd type="none" w="med" len="med"/>
                    </a:lnR>
                    <a:lnT w="6350" cap="flat" cmpd="sng" algn="ctr">
                      <a:solidFill>
                        <a:srgbClr val="E0D5E8"/>
                      </a:solidFill>
                      <a:prstDash val="solid"/>
                      <a:round/>
                      <a:headEnd type="none" w="med" len="med"/>
                      <a:tailEnd type="none" w="med" len="med"/>
                    </a:lnT>
                    <a:lnB w="6350" cap="flat" cmpd="sng" algn="ctr">
                      <a:solidFill>
                        <a:srgbClr val="E0D5E8"/>
                      </a:solidFill>
                      <a:prstDash val="solid"/>
                      <a:round/>
                      <a:headEnd type="none" w="med" len="med"/>
                      <a:tailEnd type="none" w="med" len="med"/>
                    </a:lnB>
                    <a:solidFill>
                      <a:srgbClr val="F9F5FC"/>
                    </a:solidFill>
                  </a:tcPr>
                </a:tc>
                <a:extLst>
                  <a:ext uri="{0D108BD9-81ED-4DB2-BD59-A6C34878D82A}">
                    <a16:rowId xmlns:a16="http://schemas.microsoft.com/office/drawing/2014/main" val="10002"/>
                  </a:ext>
                </a:extLst>
              </a:tr>
              <a:tr h="457200">
                <a:tc>
                  <a:txBody>
                    <a:bodyPr/>
                    <a:lstStyle/>
                    <a:p>
                      <a:pPr marL="0" indent="0" algn="l">
                        <a:buNone/>
                      </a:pPr>
                      <a:r>
                        <a:rPr lang="en-US" sz="1100" b="1" dirty="0">
                          <a:solidFill>
                            <a:srgbClr val="3D3D3D"/>
                          </a:solidFill>
                          <a:latin typeface="Calibri" pitchFamily="34" charset="0"/>
                          <a:ea typeface="Calibri" pitchFamily="34" charset="-122"/>
                          <a:cs typeface="Calibri" pitchFamily="34" charset="-120"/>
                        </a:rPr>
                        <a:t>3  SISO</a:t>
                      </a:r>
                      <a:endParaRPr lang="en-US" sz="1100" dirty="0">
                        <a:latin typeface="Calibri" charset="0"/>
                        <a:ea typeface="Calibri" charset="0"/>
                        <a:cs typeface="Calibri" charset="0"/>
                      </a:endParaRPr>
                    </a:p>
                  </a:txBody>
                  <a:tcPr marL="63500" marR="63500" marT="38100" marB="38100" anchor="ctr">
                    <a:lnL w="6350" cap="flat" cmpd="sng" algn="ctr">
                      <a:solidFill>
                        <a:srgbClr val="E0D5E8"/>
                      </a:solidFill>
                      <a:prstDash val="solid"/>
                      <a:round/>
                      <a:headEnd type="none" w="med" len="med"/>
                      <a:tailEnd type="none" w="med" len="med"/>
                    </a:lnL>
                    <a:lnR w="6350" cap="flat" cmpd="sng" algn="ctr">
                      <a:solidFill>
                        <a:srgbClr val="E0D5E8"/>
                      </a:solidFill>
                      <a:prstDash val="solid"/>
                      <a:round/>
                      <a:headEnd type="none" w="med" len="med"/>
                      <a:tailEnd type="none" w="med" len="med"/>
                    </a:lnR>
                    <a:lnT w="6350" cap="flat" cmpd="sng" algn="ctr">
                      <a:solidFill>
                        <a:srgbClr val="E0D5E8"/>
                      </a:solidFill>
                      <a:prstDash val="solid"/>
                      <a:round/>
                      <a:headEnd type="none" w="med" len="med"/>
                      <a:tailEnd type="none" w="med" len="med"/>
                    </a:lnT>
                    <a:lnB w="6350" cap="flat" cmpd="sng" algn="ctr">
                      <a:solidFill>
                        <a:srgbClr val="E0D5E8"/>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CCCCCC"/>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63500" marR="63500" marT="38100" marB="38100" anchor="ctr">
                    <a:lnL w="6350" cap="flat" cmpd="sng" algn="ctr">
                      <a:solidFill>
                        <a:srgbClr val="E0D5E8"/>
                      </a:solidFill>
                      <a:prstDash val="solid"/>
                      <a:round/>
                      <a:headEnd type="none" w="med" len="med"/>
                      <a:tailEnd type="none" w="med" len="med"/>
                    </a:lnL>
                    <a:lnR w="6350" cap="flat" cmpd="sng" algn="ctr">
                      <a:solidFill>
                        <a:srgbClr val="E0D5E8"/>
                      </a:solidFill>
                      <a:prstDash val="solid"/>
                      <a:round/>
                      <a:headEnd type="none" w="med" len="med"/>
                      <a:tailEnd type="none" w="med" len="med"/>
                    </a:lnR>
                    <a:lnT w="6350" cap="flat" cmpd="sng" algn="ctr">
                      <a:solidFill>
                        <a:srgbClr val="E0D5E8"/>
                      </a:solidFill>
                      <a:prstDash val="solid"/>
                      <a:round/>
                      <a:headEnd type="none" w="med" len="med"/>
                      <a:tailEnd type="none" w="med" len="med"/>
                    </a:lnT>
                    <a:lnB w="6350" cap="flat" cmpd="sng" algn="ctr">
                      <a:solidFill>
                        <a:srgbClr val="E0D5E8"/>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CCCCCC"/>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63500" marR="63500" marT="38100" marB="38100" anchor="ctr">
                    <a:lnL w="6350" cap="flat" cmpd="sng" algn="ctr">
                      <a:solidFill>
                        <a:srgbClr val="E0D5E8"/>
                      </a:solidFill>
                      <a:prstDash val="solid"/>
                      <a:round/>
                      <a:headEnd type="none" w="med" len="med"/>
                      <a:tailEnd type="none" w="med" len="med"/>
                    </a:lnL>
                    <a:lnR w="6350" cap="flat" cmpd="sng" algn="ctr">
                      <a:solidFill>
                        <a:srgbClr val="E0D5E8"/>
                      </a:solidFill>
                      <a:prstDash val="solid"/>
                      <a:round/>
                      <a:headEnd type="none" w="med" len="med"/>
                      <a:tailEnd type="none" w="med" len="med"/>
                    </a:lnR>
                    <a:lnT w="6350" cap="flat" cmpd="sng" algn="ctr">
                      <a:solidFill>
                        <a:srgbClr val="E0D5E8"/>
                      </a:solidFill>
                      <a:prstDash val="solid"/>
                      <a:round/>
                      <a:headEnd type="none" w="med" len="med"/>
                      <a:tailEnd type="none" w="med" len="med"/>
                    </a:lnT>
                    <a:lnB w="6350" cap="flat" cmpd="sng" algn="ctr">
                      <a:solidFill>
                        <a:srgbClr val="E0D5E8"/>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E18719"/>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63500" marR="63500" marT="38100" marB="38100" anchor="ctr">
                    <a:lnL w="6350" cap="flat" cmpd="sng" algn="ctr">
                      <a:solidFill>
                        <a:srgbClr val="E0D5E8"/>
                      </a:solidFill>
                      <a:prstDash val="solid"/>
                      <a:round/>
                      <a:headEnd type="none" w="med" len="med"/>
                      <a:tailEnd type="none" w="med" len="med"/>
                    </a:lnL>
                    <a:lnR w="6350" cap="flat" cmpd="sng" algn="ctr">
                      <a:solidFill>
                        <a:srgbClr val="E0D5E8"/>
                      </a:solidFill>
                      <a:prstDash val="solid"/>
                      <a:round/>
                      <a:headEnd type="none" w="med" len="med"/>
                      <a:tailEnd type="none" w="med" len="med"/>
                    </a:lnR>
                    <a:lnT w="6350" cap="flat" cmpd="sng" algn="ctr">
                      <a:solidFill>
                        <a:srgbClr val="E0D5E8"/>
                      </a:solidFill>
                      <a:prstDash val="solid"/>
                      <a:round/>
                      <a:headEnd type="none" w="med" len="med"/>
                      <a:tailEnd type="none" w="med" len="med"/>
                    </a:lnT>
                    <a:lnB w="6350" cap="flat" cmpd="sng" algn="ctr">
                      <a:solidFill>
                        <a:srgbClr val="E0D5E8"/>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E18719"/>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63500" marR="63500" marT="38100" marB="38100" anchor="ctr">
                    <a:lnL w="6350" cap="flat" cmpd="sng" algn="ctr">
                      <a:solidFill>
                        <a:srgbClr val="E0D5E8"/>
                      </a:solidFill>
                      <a:prstDash val="solid"/>
                      <a:round/>
                      <a:headEnd type="none" w="med" len="med"/>
                      <a:tailEnd type="none" w="med" len="med"/>
                    </a:lnL>
                    <a:lnR w="6350" cap="flat" cmpd="sng" algn="ctr">
                      <a:solidFill>
                        <a:srgbClr val="E0D5E8"/>
                      </a:solidFill>
                      <a:prstDash val="solid"/>
                      <a:round/>
                      <a:headEnd type="none" w="med" len="med"/>
                      <a:tailEnd type="none" w="med" len="med"/>
                    </a:lnR>
                    <a:lnT w="6350" cap="flat" cmpd="sng" algn="ctr">
                      <a:solidFill>
                        <a:srgbClr val="E0D5E8"/>
                      </a:solidFill>
                      <a:prstDash val="solid"/>
                      <a:round/>
                      <a:headEnd type="none" w="med" len="med"/>
                      <a:tailEnd type="none" w="med" len="med"/>
                    </a:lnT>
                    <a:lnB w="6350" cap="flat" cmpd="sng" algn="ctr">
                      <a:solidFill>
                        <a:srgbClr val="E0D5E8"/>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E18719"/>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63500" marR="63500" marT="38100" marB="38100" anchor="ctr">
                    <a:lnL w="6350" cap="flat" cmpd="sng" algn="ctr">
                      <a:solidFill>
                        <a:srgbClr val="E0D5E8"/>
                      </a:solidFill>
                      <a:prstDash val="solid"/>
                      <a:round/>
                      <a:headEnd type="none" w="med" len="med"/>
                      <a:tailEnd type="none" w="med" len="med"/>
                    </a:lnL>
                    <a:lnR w="6350" cap="flat" cmpd="sng" algn="ctr">
                      <a:solidFill>
                        <a:srgbClr val="E0D5E8"/>
                      </a:solidFill>
                      <a:prstDash val="solid"/>
                      <a:round/>
                      <a:headEnd type="none" w="med" len="med"/>
                      <a:tailEnd type="none" w="med" len="med"/>
                    </a:lnR>
                    <a:lnT w="6350" cap="flat" cmpd="sng" algn="ctr">
                      <a:solidFill>
                        <a:srgbClr val="E0D5E8"/>
                      </a:solidFill>
                      <a:prstDash val="solid"/>
                      <a:round/>
                      <a:headEnd type="none" w="med" len="med"/>
                      <a:tailEnd type="none" w="med" len="med"/>
                    </a:lnT>
                    <a:lnB w="6350" cap="flat" cmpd="sng" algn="ctr">
                      <a:solidFill>
                        <a:srgbClr val="E0D5E8"/>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E18719"/>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63500" marR="63500" marT="38100" marB="38100" anchor="ctr">
                    <a:lnL w="6350" cap="flat" cmpd="sng" algn="ctr">
                      <a:solidFill>
                        <a:srgbClr val="E0D5E8"/>
                      </a:solidFill>
                      <a:prstDash val="solid"/>
                      <a:round/>
                      <a:headEnd type="none" w="med" len="med"/>
                      <a:tailEnd type="none" w="med" len="med"/>
                    </a:lnL>
                    <a:lnR w="6350" cap="flat" cmpd="sng" algn="ctr">
                      <a:solidFill>
                        <a:srgbClr val="E0D5E8"/>
                      </a:solidFill>
                      <a:prstDash val="solid"/>
                      <a:round/>
                      <a:headEnd type="none" w="med" len="med"/>
                      <a:tailEnd type="none" w="med" len="med"/>
                    </a:lnR>
                    <a:lnT w="6350" cap="flat" cmpd="sng" algn="ctr">
                      <a:solidFill>
                        <a:srgbClr val="E0D5E8"/>
                      </a:solidFill>
                      <a:prstDash val="solid"/>
                      <a:round/>
                      <a:headEnd type="none" w="med" len="med"/>
                      <a:tailEnd type="none" w="med" len="med"/>
                    </a:lnT>
                    <a:lnB w="6350" cap="flat" cmpd="sng" algn="ctr">
                      <a:solidFill>
                        <a:srgbClr val="E0D5E8"/>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E18719"/>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63500" marR="63500" marT="38100" marB="38100" anchor="ctr">
                    <a:lnL w="6350" cap="flat" cmpd="sng" algn="ctr">
                      <a:solidFill>
                        <a:srgbClr val="E0D5E8"/>
                      </a:solidFill>
                      <a:prstDash val="solid"/>
                      <a:round/>
                      <a:headEnd type="none" w="med" len="med"/>
                      <a:tailEnd type="none" w="med" len="med"/>
                    </a:lnL>
                    <a:lnR w="6350" cap="flat" cmpd="sng" algn="ctr">
                      <a:solidFill>
                        <a:srgbClr val="E0D5E8"/>
                      </a:solidFill>
                      <a:prstDash val="solid"/>
                      <a:round/>
                      <a:headEnd type="none" w="med" len="med"/>
                      <a:tailEnd type="none" w="med" len="med"/>
                    </a:lnR>
                    <a:lnT w="6350" cap="flat" cmpd="sng" algn="ctr">
                      <a:solidFill>
                        <a:srgbClr val="E0D5E8"/>
                      </a:solidFill>
                      <a:prstDash val="solid"/>
                      <a:round/>
                      <a:headEnd type="none" w="med" len="med"/>
                      <a:tailEnd type="none" w="med" len="med"/>
                    </a:lnT>
                    <a:lnB w="6350" cap="flat" cmpd="sng" algn="ctr">
                      <a:solidFill>
                        <a:srgbClr val="E0D5E8"/>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E18719"/>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63500" marR="63500" marT="38100" marB="38100" anchor="ctr">
                    <a:lnL w="6350" cap="flat" cmpd="sng" algn="ctr">
                      <a:solidFill>
                        <a:srgbClr val="E0D5E8"/>
                      </a:solidFill>
                      <a:prstDash val="solid"/>
                      <a:round/>
                      <a:headEnd type="none" w="med" len="med"/>
                      <a:tailEnd type="none" w="med" len="med"/>
                    </a:lnL>
                    <a:lnR w="6350" cap="flat" cmpd="sng" algn="ctr">
                      <a:solidFill>
                        <a:srgbClr val="E0D5E8"/>
                      </a:solidFill>
                      <a:prstDash val="solid"/>
                      <a:round/>
                      <a:headEnd type="none" w="med" len="med"/>
                      <a:tailEnd type="none" w="med" len="med"/>
                    </a:lnR>
                    <a:lnT w="6350" cap="flat" cmpd="sng" algn="ctr">
                      <a:solidFill>
                        <a:srgbClr val="E0D5E8"/>
                      </a:solidFill>
                      <a:prstDash val="solid"/>
                      <a:round/>
                      <a:headEnd type="none" w="med" len="med"/>
                      <a:tailEnd type="none" w="med" len="med"/>
                    </a:lnT>
                    <a:lnB w="6350" cap="flat" cmpd="sng" algn="ctr">
                      <a:solidFill>
                        <a:srgbClr val="E0D5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marL="0" indent="0" algn="l">
                        <a:buNone/>
                      </a:pPr>
                      <a:r>
                        <a:rPr lang="en-US" sz="1100" b="1" dirty="0">
                          <a:solidFill>
                            <a:srgbClr val="3D3D3D"/>
                          </a:solidFill>
                          <a:latin typeface="Calibri" pitchFamily="34" charset="0"/>
                          <a:ea typeface="Calibri" pitchFamily="34" charset="-122"/>
                          <a:cs typeface="Calibri" pitchFamily="34" charset="-120"/>
                        </a:rPr>
                        <a:t>4  Master Data / Files</a:t>
                      </a:r>
                      <a:endParaRPr lang="en-US" sz="1100" dirty="0">
                        <a:latin typeface="Calibri" charset="0"/>
                        <a:ea typeface="Calibri" charset="0"/>
                        <a:cs typeface="Calibri" charset="0"/>
                      </a:endParaRPr>
                    </a:p>
                  </a:txBody>
                  <a:tcPr marL="63500" marR="63500" marT="38100" marB="38100" anchor="ctr">
                    <a:lnL w="6350" cap="flat" cmpd="sng" algn="ctr">
                      <a:solidFill>
                        <a:srgbClr val="E0D5E8"/>
                      </a:solidFill>
                      <a:prstDash val="solid"/>
                      <a:round/>
                      <a:headEnd type="none" w="med" len="med"/>
                      <a:tailEnd type="none" w="med" len="med"/>
                    </a:lnL>
                    <a:lnR w="6350" cap="flat" cmpd="sng" algn="ctr">
                      <a:solidFill>
                        <a:srgbClr val="E0D5E8"/>
                      </a:solidFill>
                      <a:prstDash val="solid"/>
                      <a:round/>
                      <a:headEnd type="none" w="med" len="med"/>
                      <a:tailEnd type="none" w="med" len="med"/>
                    </a:lnR>
                    <a:lnT w="6350" cap="flat" cmpd="sng" algn="ctr">
                      <a:solidFill>
                        <a:srgbClr val="E0D5E8"/>
                      </a:solidFill>
                      <a:prstDash val="solid"/>
                      <a:round/>
                      <a:headEnd type="none" w="med" len="med"/>
                      <a:tailEnd type="none" w="med" len="med"/>
                    </a:lnT>
                    <a:lnB w="6350" cap="flat" cmpd="sng" algn="ctr">
                      <a:solidFill>
                        <a:srgbClr val="E0D5E8"/>
                      </a:solidFill>
                      <a:prstDash val="solid"/>
                      <a:round/>
                      <a:headEnd type="none" w="med" len="med"/>
                      <a:tailEnd type="none" w="med" len="med"/>
                    </a:lnB>
                    <a:solidFill>
                      <a:srgbClr val="F9F5FC"/>
                    </a:solidFill>
                  </a:tcPr>
                </a:tc>
                <a:tc>
                  <a:txBody>
                    <a:bodyPr/>
                    <a:lstStyle/>
                    <a:p>
                      <a:pPr marL="0" indent="0" algn="ctr">
                        <a:buNone/>
                      </a:pPr>
                      <a:r>
                        <a:rPr lang="en-US" sz="1600" dirty="0">
                          <a:solidFill>
                            <a:srgbClr val="E18719"/>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63500" marR="63500" marT="38100" marB="38100" anchor="ctr">
                    <a:lnL w="6350" cap="flat" cmpd="sng" algn="ctr">
                      <a:solidFill>
                        <a:srgbClr val="E0D5E8"/>
                      </a:solidFill>
                      <a:prstDash val="solid"/>
                      <a:round/>
                      <a:headEnd type="none" w="med" len="med"/>
                      <a:tailEnd type="none" w="med" len="med"/>
                    </a:lnL>
                    <a:lnR w="6350" cap="flat" cmpd="sng" algn="ctr">
                      <a:solidFill>
                        <a:srgbClr val="E0D5E8"/>
                      </a:solidFill>
                      <a:prstDash val="solid"/>
                      <a:round/>
                      <a:headEnd type="none" w="med" len="med"/>
                      <a:tailEnd type="none" w="med" len="med"/>
                    </a:lnR>
                    <a:lnT w="6350" cap="flat" cmpd="sng" algn="ctr">
                      <a:solidFill>
                        <a:srgbClr val="E0D5E8"/>
                      </a:solidFill>
                      <a:prstDash val="solid"/>
                      <a:round/>
                      <a:headEnd type="none" w="med" len="med"/>
                      <a:tailEnd type="none" w="med" len="med"/>
                    </a:lnT>
                    <a:lnB w="6350" cap="flat" cmpd="sng" algn="ctr">
                      <a:solidFill>
                        <a:srgbClr val="E0D5E8"/>
                      </a:solidFill>
                      <a:prstDash val="solid"/>
                      <a:round/>
                      <a:headEnd type="none" w="med" len="med"/>
                      <a:tailEnd type="none" w="med" len="med"/>
                    </a:lnB>
                    <a:solidFill>
                      <a:srgbClr val="F9F5FC"/>
                    </a:solidFill>
                  </a:tcPr>
                </a:tc>
                <a:tc>
                  <a:txBody>
                    <a:bodyPr/>
                    <a:lstStyle/>
                    <a:p>
                      <a:pPr marL="0" indent="0" algn="ctr">
                        <a:buNone/>
                      </a:pPr>
                      <a:r>
                        <a:rPr lang="en-US" sz="1600" dirty="0">
                          <a:solidFill>
                            <a:srgbClr val="E18719"/>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63500" marR="63500" marT="38100" marB="38100" anchor="ctr">
                    <a:lnL w="6350" cap="flat" cmpd="sng" algn="ctr">
                      <a:solidFill>
                        <a:srgbClr val="E0D5E8"/>
                      </a:solidFill>
                      <a:prstDash val="solid"/>
                      <a:round/>
                      <a:headEnd type="none" w="med" len="med"/>
                      <a:tailEnd type="none" w="med" len="med"/>
                    </a:lnL>
                    <a:lnR w="6350" cap="flat" cmpd="sng" algn="ctr">
                      <a:solidFill>
                        <a:srgbClr val="E0D5E8"/>
                      </a:solidFill>
                      <a:prstDash val="solid"/>
                      <a:round/>
                      <a:headEnd type="none" w="med" len="med"/>
                      <a:tailEnd type="none" w="med" len="med"/>
                    </a:lnR>
                    <a:lnT w="6350" cap="flat" cmpd="sng" algn="ctr">
                      <a:solidFill>
                        <a:srgbClr val="E0D5E8"/>
                      </a:solidFill>
                      <a:prstDash val="solid"/>
                      <a:round/>
                      <a:headEnd type="none" w="med" len="med"/>
                      <a:tailEnd type="none" w="med" len="med"/>
                    </a:lnT>
                    <a:lnB w="6350" cap="flat" cmpd="sng" algn="ctr">
                      <a:solidFill>
                        <a:srgbClr val="E0D5E8"/>
                      </a:solidFill>
                      <a:prstDash val="solid"/>
                      <a:round/>
                      <a:headEnd type="none" w="med" len="med"/>
                      <a:tailEnd type="none" w="med" len="med"/>
                    </a:lnB>
                    <a:solidFill>
                      <a:srgbClr val="F9F5FC"/>
                    </a:solidFill>
                  </a:tcPr>
                </a:tc>
                <a:tc>
                  <a:txBody>
                    <a:bodyPr/>
                    <a:lstStyle/>
                    <a:p>
                      <a:pPr marL="0" indent="0" algn="ctr">
                        <a:buNone/>
                      </a:pPr>
                      <a:r>
                        <a:rPr lang="en-US" sz="1600" dirty="0">
                          <a:solidFill>
                            <a:srgbClr val="E18719"/>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63500" marR="63500" marT="38100" marB="38100" anchor="ctr">
                    <a:lnL w="6350" cap="flat" cmpd="sng" algn="ctr">
                      <a:solidFill>
                        <a:srgbClr val="E0D5E8"/>
                      </a:solidFill>
                      <a:prstDash val="solid"/>
                      <a:round/>
                      <a:headEnd type="none" w="med" len="med"/>
                      <a:tailEnd type="none" w="med" len="med"/>
                    </a:lnL>
                    <a:lnR w="6350" cap="flat" cmpd="sng" algn="ctr">
                      <a:solidFill>
                        <a:srgbClr val="E0D5E8"/>
                      </a:solidFill>
                      <a:prstDash val="solid"/>
                      <a:round/>
                      <a:headEnd type="none" w="med" len="med"/>
                      <a:tailEnd type="none" w="med" len="med"/>
                    </a:lnR>
                    <a:lnT w="6350" cap="flat" cmpd="sng" algn="ctr">
                      <a:solidFill>
                        <a:srgbClr val="E0D5E8"/>
                      </a:solidFill>
                      <a:prstDash val="solid"/>
                      <a:round/>
                      <a:headEnd type="none" w="med" len="med"/>
                      <a:tailEnd type="none" w="med" len="med"/>
                    </a:lnT>
                    <a:lnB w="6350" cap="flat" cmpd="sng" algn="ctr">
                      <a:solidFill>
                        <a:srgbClr val="E0D5E8"/>
                      </a:solidFill>
                      <a:prstDash val="solid"/>
                      <a:round/>
                      <a:headEnd type="none" w="med" len="med"/>
                      <a:tailEnd type="none" w="med" len="med"/>
                    </a:lnB>
                    <a:solidFill>
                      <a:srgbClr val="F9F5FC"/>
                    </a:solidFill>
                  </a:tcPr>
                </a:tc>
                <a:tc>
                  <a:txBody>
                    <a:bodyPr/>
                    <a:lstStyle/>
                    <a:p>
                      <a:pPr marL="0" indent="0" algn="ctr">
                        <a:buNone/>
                      </a:pPr>
                      <a:r>
                        <a:rPr lang="en-US" sz="1600" dirty="0">
                          <a:solidFill>
                            <a:srgbClr val="E18719"/>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63500" marR="63500" marT="38100" marB="38100" anchor="ctr">
                    <a:lnL w="6350" cap="flat" cmpd="sng" algn="ctr">
                      <a:solidFill>
                        <a:srgbClr val="E0D5E8"/>
                      </a:solidFill>
                      <a:prstDash val="solid"/>
                      <a:round/>
                      <a:headEnd type="none" w="med" len="med"/>
                      <a:tailEnd type="none" w="med" len="med"/>
                    </a:lnL>
                    <a:lnR w="6350" cap="flat" cmpd="sng" algn="ctr">
                      <a:solidFill>
                        <a:srgbClr val="E0D5E8"/>
                      </a:solidFill>
                      <a:prstDash val="solid"/>
                      <a:round/>
                      <a:headEnd type="none" w="med" len="med"/>
                      <a:tailEnd type="none" w="med" len="med"/>
                    </a:lnR>
                    <a:lnT w="6350" cap="flat" cmpd="sng" algn="ctr">
                      <a:solidFill>
                        <a:srgbClr val="E0D5E8"/>
                      </a:solidFill>
                      <a:prstDash val="solid"/>
                      <a:round/>
                      <a:headEnd type="none" w="med" len="med"/>
                      <a:tailEnd type="none" w="med" len="med"/>
                    </a:lnT>
                    <a:lnB w="6350" cap="flat" cmpd="sng" algn="ctr">
                      <a:solidFill>
                        <a:srgbClr val="E0D5E8"/>
                      </a:solidFill>
                      <a:prstDash val="solid"/>
                      <a:round/>
                      <a:headEnd type="none" w="med" len="med"/>
                      <a:tailEnd type="none" w="med" len="med"/>
                    </a:lnB>
                    <a:solidFill>
                      <a:srgbClr val="F9F5FC"/>
                    </a:solidFill>
                  </a:tcPr>
                </a:tc>
                <a:tc>
                  <a:txBody>
                    <a:bodyPr/>
                    <a:lstStyle/>
                    <a:p>
                      <a:pPr marL="0" indent="0" algn="ctr">
                        <a:buNone/>
                      </a:pPr>
                      <a:r>
                        <a:rPr lang="en-US" sz="1600" dirty="0">
                          <a:solidFill>
                            <a:srgbClr val="CCCCCC"/>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63500" marR="63500" marT="38100" marB="38100" anchor="ctr">
                    <a:lnL w="6350" cap="flat" cmpd="sng" algn="ctr">
                      <a:solidFill>
                        <a:srgbClr val="E0D5E8"/>
                      </a:solidFill>
                      <a:prstDash val="solid"/>
                      <a:round/>
                      <a:headEnd type="none" w="med" len="med"/>
                      <a:tailEnd type="none" w="med" len="med"/>
                    </a:lnL>
                    <a:lnR w="6350" cap="flat" cmpd="sng" algn="ctr">
                      <a:solidFill>
                        <a:srgbClr val="E0D5E8"/>
                      </a:solidFill>
                      <a:prstDash val="solid"/>
                      <a:round/>
                      <a:headEnd type="none" w="med" len="med"/>
                      <a:tailEnd type="none" w="med" len="med"/>
                    </a:lnR>
                    <a:lnT w="6350" cap="flat" cmpd="sng" algn="ctr">
                      <a:solidFill>
                        <a:srgbClr val="E0D5E8"/>
                      </a:solidFill>
                      <a:prstDash val="solid"/>
                      <a:round/>
                      <a:headEnd type="none" w="med" len="med"/>
                      <a:tailEnd type="none" w="med" len="med"/>
                    </a:lnT>
                    <a:lnB w="6350" cap="flat" cmpd="sng" algn="ctr">
                      <a:solidFill>
                        <a:srgbClr val="E0D5E8"/>
                      </a:solidFill>
                      <a:prstDash val="solid"/>
                      <a:round/>
                      <a:headEnd type="none" w="med" len="med"/>
                      <a:tailEnd type="none" w="med" len="med"/>
                    </a:lnB>
                    <a:solidFill>
                      <a:srgbClr val="F9F5FC"/>
                    </a:solidFill>
                  </a:tcPr>
                </a:tc>
                <a:tc>
                  <a:txBody>
                    <a:bodyPr/>
                    <a:lstStyle/>
                    <a:p>
                      <a:pPr marL="0" indent="0" algn="ctr">
                        <a:buNone/>
                      </a:pPr>
                      <a:r>
                        <a:rPr lang="en-US" sz="1600" dirty="0">
                          <a:solidFill>
                            <a:srgbClr val="CCCCCC"/>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63500" marR="63500" marT="38100" marB="38100" anchor="ctr">
                    <a:lnL w="6350" cap="flat" cmpd="sng" algn="ctr">
                      <a:solidFill>
                        <a:srgbClr val="E0D5E8"/>
                      </a:solidFill>
                      <a:prstDash val="solid"/>
                      <a:round/>
                      <a:headEnd type="none" w="med" len="med"/>
                      <a:tailEnd type="none" w="med" len="med"/>
                    </a:lnL>
                    <a:lnR w="6350" cap="flat" cmpd="sng" algn="ctr">
                      <a:solidFill>
                        <a:srgbClr val="E0D5E8"/>
                      </a:solidFill>
                      <a:prstDash val="solid"/>
                      <a:round/>
                      <a:headEnd type="none" w="med" len="med"/>
                      <a:tailEnd type="none" w="med" len="med"/>
                    </a:lnR>
                    <a:lnT w="6350" cap="flat" cmpd="sng" algn="ctr">
                      <a:solidFill>
                        <a:srgbClr val="E0D5E8"/>
                      </a:solidFill>
                      <a:prstDash val="solid"/>
                      <a:round/>
                      <a:headEnd type="none" w="med" len="med"/>
                      <a:tailEnd type="none" w="med" len="med"/>
                    </a:lnT>
                    <a:lnB w="6350" cap="flat" cmpd="sng" algn="ctr">
                      <a:solidFill>
                        <a:srgbClr val="E0D5E8"/>
                      </a:solidFill>
                      <a:prstDash val="solid"/>
                      <a:round/>
                      <a:headEnd type="none" w="med" len="med"/>
                      <a:tailEnd type="none" w="med" len="med"/>
                    </a:lnB>
                    <a:solidFill>
                      <a:srgbClr val="F9F5FC"/>
                    </a:solidFill>
                  </a:tcPr>
                </a:tc>
                <a:tc>
                  <a:txBody>
                    <a:bodyPr/>
                    <a:lstStyle/>
                    <a:p>
                      <a:pPr marL="0" indent="0" algn="ctr">
                        <a:buNone/>
                      </a:pPr>
                      <a:r>
                        <a:rPr lang="en-US" sz="1600" dirty="0">
                          <a:solidFill>
                            <a:srgbClr val="CCCCCC"/>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63500" marR="63500" marT="38100" marB="38100" anchor="ctr">
                    <a:lnL w="6350" cap="flat" cmpd="sng" algn="ctr">
                      <a:solidFill>
                        <a:srgbClr val="E0D5E8"/>
                      </a:solidFill>
                      <a:prstDash val="solid"/>
                      <a:round/>
                      <a:headEnd type="none" w="med" len="med"/>
                      <a:tailEnd type="none" w="med" len="med"/>
                    </a:lnL>
                    <a:lnR w="6350" cap="flat" cmpd="sng" algn="ctr">
                      <a:solidFill>
                        <a:srgbClr val="E0D5E8"/>
                      </a:solidFill>
                      <a:prstDash val="solid"/>
                      <a:round/>
                      <a:headEnd type="none" w="med" len="med"/>
                      <a:tailEnd type="none" w="med" len="med"/>
                    </a:lnR>
                    <a:lnT w="6350" cap="flat" cmpd="sng" algn="ctr">
                      <a:solidFill>
                        <a:srgbClr val="E0D5E8"/>
                      </a:solidFill>
                      <a:prstDash val="solid"/>
                      <a:round/>
                      <a:headEnd type="none" w="med" len="med"/>
                      <a:tailEnd type="none" w="med" len="med"/>
                    </a:lnT>
                    <a:lnB w="6350" cap="flat" cmpd="sng" algn="ctr">
                      <a:solidFill>
                        <a:srgbClr val="E0D5E8"/>
                      </a:solidFill>
                      <a:prstDash val="solid"/>
                      <a:round/>
                      <a:headEnd type="none" w="med" len="med"/>
                      <a:tailEnd type="none" w="med" len="med"/>
                    </a:lnB>
                    <a:solidFill>
                      <a:srgbClr val="F9F5FC"/>
                    </a:solidFill>
                  </a:tcPr>
                </a:tc>
                <a:tc>
                  <a:txBody>
                    <a:bodyPr/>
                    <a:lstStyle/>
                    <a:p>
                      <a:pPr marL="0" indent="0" algn="ctr">
                        <a:buNone/>
                      </a:pPr>
                      <a:r>
                        <a:rPr lang="en-US" sz="1600" dirty="0">
                          <a:solidFill>
                            <a:srgbClr val="CCCCCC"/>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63500" marR="63500" marT="38100" marB="38100" anchor="ctr">
                    <a:lnL w="6350" cap="flat" cmpd="sng" algn="ctr">
                      <a:solidFill>
                        <a:srgbClr val="E0D5E8"/>
                      </a:solidFill>
                      <a:prstDash val="solid"/>
                      <a:round/>
                      <a:headEnd type="none" w="med" len="med"/>
                      <a:tailEnd type="none" w="med" len="med"/>
                    </a:lnL>
                    <a:lnR w="6350" cap="flat" cmpd="sng" algn="ctr">
                      <a:solidFill>
                        <a:srgbClr val="E0D5E8"/>
                      </a:solidFill>
                      <a:prstDash val="solid"/>
                      <a:round/>
                      <a:headEnd type="none" w="med" len="med"/>
                      <a:tailEnd type="none" w="med" len="med"/>
                    </a:lnR>
                    <a:lnT w="6350" cap="flat" cmpd="sng" algn="ctr">
                      <a:solidFill>
                        <a:srgbClr val="E0D5E8"/>
                      </a:solidFill>
                      <a:prstDash val="solid"/>
                      <a:round/>
                      <a:headEnd type="none" w="med" len="med"/>
                      <a:tailEnd type="none" w="med" len="med"/>
                    </a:lnT>
                    <a:lnB w="6350" cap="flat" cmpd="sng" algn="ctr">
                      <a:solidFill>
                        <a:srgbClr val="E0D5E8"/>
                      </a:solidFill>
                      <a:prstDash val="solid"/>
                      <a:round/>
                      <a:headEnd type="none" w="med" len="med"/>
                      <a:tailEnd type="none" w="med" len="med"/>
                    </a:lnB>
                    <a:solidFill>
                      <a:srgbClr val="F9F5FC"/>
                    </a:solidFill>
                  </a:tcPr>
                </a:tc>
                <a:extLst>
                  <a:ext uri="{0D108BD9-81ED-4DB2-BD59-A6C34878D82A}">
                    <a16:rowId xmlns:a16="http://schemas.microsoft.com/office/drawing/2014/main" val="10004"/>
                  </a:ext>
                </a:extLst>
              </a:tr>
              <a:tr h="457200">
                <a:tc>
                  <a:txBody>
                    <a:bodyPr/>
                    <a:lstStyle/>
                    <a:p>
                      <a:pPr marL="0" indent="0" algn="l">
                        <a:buNone/>
                      </a:pPr>
                      <a:r>
                        <a:rPr lang="en-US" sz="1100" b="1" dirty="0">
                          <a:solidFill>
                            <a:srgbClr val="3D3D3D"/>
                          </a:solidFill>
                          <a:latin typeface="Calibri" pitchFamily="34" charset="0"/>
                          <a:ea typeface="Calibri" pitchFamily="34" charset="-122"/>
                          <a:cs typeface="Calibri" pitchFamily="34" charset="-120"/>
                        </a:rPr>
                        <a:t>5  Market Share</a:t>
                      </a:r>
                      <a:endParaRPr lang="en-US" sz="1100" dirty="0">
                        <a:latin typeface="Calibri" charset="0"/>
                        <a:ea typeface="Calibri" charset="0"/>
                        <a:cs typeface="Calibri" charset="0"/>
                      </a:endParaRPr>
                    </a:p>
                  </a:txBody>
                  <a:tcPr marL="63500" marR="63500" marT="38100" marB="38100" anchor="ctr">
                    <a:lnL w="6350" cap="flat" cmpd="sng" algn="ctr">
                      <a:solidFill>
                        <a:srgbClr val="E0D5E8"/>
                      </a:solidFill>
                      <a:prstDash val="solid"/>
                      <a:round/>
                      <a:headEnd type="none" w="med" len="med"/>
                      <a:tailEnd type="none" w="med" len="med"/>
                    </a:lnL>
                    <a:lnR w="6350" cap="flat" cmpd="sng" algn="ctr">
                      <a:solidFill>
                        <a:srgbClr val="E0D5E8"/>
                      </a:solidFill>
                      <a:prstDash val="solid"/>
                      <a:round/>
                      <a:headEnd type="none" w="med" len="med"/>
                      <a:tailEnd type="none" w="med" len="med"/>
                    </a:lnR>
                    <a:lnT w="6350" cap="flat" cmpd="sng" algn="ctr">
                      <a:solidFill>
                        <a:srgbClr val="E0D5E8"/>
                      </a:solidFill>
                      <a:prstDash val="solid"/>
                      <a:round/>
                      <a:headEnd type="none" w="med" len="med"/>
                      <a:tailEnd type="none" w="med" len="med"/>
                    </a:lnT>
                    <a:lnB w="6350" cap="flat" cmpd="sng" algn="ctr">
                      <a:solidFill>
                        <a:srgbClr val="E0D5E8"/>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E18719"/>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63500" marR="63500" marT="38100" marB="38100" anchor="ctr">
                    <a:lnL w="6350" cap="flat" cmpd="sng" algn="ctr">
                      <a:solidFill>
                        <a:srgbClr val="E0D5E8"/>
                      </a:solidFill>
                      <a:prstDash val="solid"/>
                      <a:round/>
                      <a:headEnd type="none" w="med" len="med"/>
                      <a:tailEnd type="none" w="med" len="med"/>
                    </a:lnL>
                    <a:lnR w="6350" cap="flat" cmpd="sng" algn="ctr">
                      <a:solidFill>
                        <a:srgbClr val="E0D5E8"/>
                      </a:solidFill>
                      <a:prstDash val="solid"/>
                      <a:round/>
                      <a:headEnd type="none" w="med" len="med"/>
                      <a:tailEnd type="none" w="med" len="med"/>
                    </a:lnR>
                    <a:lnT w="6350" cap="flat" cmpd="sng" algn="ctr">
                      <a:solidFill>
                        <a:srgbClr val="E0D5E8"/>
                      </a:solidFill>
                      <a:prstDash val="solid"/>
                      <a:round/>
                      <a:headEnd type="none" w="med" len="med"/>
                      <a:tailEnd type="none" w="med" len="med"/>
                    </a:lnT>
                    <a:lnB w="6350" cap="flat" cmpd="sng" algn="ctr">
                      <a:solidFill>
                        <a:srgbClr val="E0D5E8"/>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E18719"/>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63500" marR="63500" marT="38100" marB="38100" anchor="ctr">
                    <a:lnL w="6350" cap="flat" cmpd="sng" algn="ctr">
                      <a:solidFill>
                        <a:srgbClr val="E0D5E8"/>
                      </a:solidFill>
                      <a:prstDash val="solid"/>
                      <a:round/>
                      <a:headEnd type="none" w="med" len="med"/>
                      <a:tailEnd type="none" w="med" len="med"/>
                    </a:lnL>
                    <a:lnR w="6350" cap="flat" cmpd="sng" algn="ctr">
                      <a:solidFill>
                        <a:srgbClr val="E0D5E8"/>
                      </a:solidFill>
                      <a:prstDash val="solid"/>
                      <a:round/>
                      <a:headEnd type="none" w="med" len="med"/>
                      <a:tailEnd type="none" w="med" len="med"/>
                    </a:lnR>
                    <a:lnT w="6350" cap="flat" cmpd="sng" algn="ctr">
                      <a:solidFill>
                        <a:srgbClr val="E0D5E8"/>
                      </a:solidFill>
                      <a:prstDash val="solid"/>
                      <a:round/>
                      <a:headEnd type="none" w="med" len="med"/>
                      <a:tailEnd type="none" w="med" len="med"/>
                    </a:lnT>
                    <a:lnB w="6350" cap="flat" cmpd="sng" algn="ctr">
                      <a:solidFill>
                        <a:srgbClr val="E0D5E8"/>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E18719"/>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63500" marR="63500" marT="38100" marB="38100" anchor="ctr">
                    <a:lnL w="6350" cap="flat" cmpd="sng" algn="ctr">
                      <a:solidFill>
                        <a:srgbClr val="E0D5E8"/>
                      </a:solidFill>
                      <a:prstDash val="solid"/>
                      <a:round/>
                      <a:headEnd type="none" w="med" len="med"/>
                      <a:tailEnd type="none" w="med" len="med"/>
                    </a:lnL>
                    <a:lnR w="6350" cap="flat" cmpd="sng" algn="ctr">
                      <a:solidFill>
                        <a:srgbClr val="E0D5E8"/>
                      </a:solidFill>
                      <a:prstDash val="solid"/>
                      <a:round/>
                      <a:headEnd type="none" w="med" len="med"/>
                      <a:tailEnd type="none" w="med" len="med"/>
                    </a:lnR>
                    <a:lnT w="6350" cap="flat" cmpd="sng" algn="ctr">
                      <a:solidFill>
                        <a:srgbClr val="E0D5E8"/>
                      </a:solidFill>
                      <a:prstDash val="solid"/>
                      <a:round/>
                      <a:headEnd type="none" w="med" len="med"/>
                      <a:tailEnd type="none" w="med" len="med"/>
                    </a:lnT>
                    <a:lnB w="6350" cap="flat" cmpd="sng" algn="ctr">
                      <a:solidFill>
                        <a:srgbClr val="E0D5E8"/>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E18719"/>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63500" marR="63500" marT="38100" marB="38100" anchor="ctr">
                    <a:lnL w="6350" cap="flat" cmpd="sng" algn="ctr">
                      <a:solidFill>
                        <a:srgbClr val="E0D5E8"/>
                      </a:solidFill>
                      <a:prstDash val="solid"/>
                      <a:round/>
                      <a:headEnd type="none" w="med" len="med"/>
                      <a:tailEnd type="none" w="med" len="med"/>
                    </a:lnL>
                    <a:lnR w="6350" cap="flat" cmpd="sng" algn="ctr">
                      <a:solidFill>
                        <a:srgbClr val="E0D5E8"/>
                      </a:solidFill>
                      <a:prstDash val="solid"/>
                      <a:round/>
                      <a:headEnd type="none" w="med" len="med"/>
                      <a:tailEnd type="none" w="med" len="med"/>
                    </a:lnR>
                    <a:lnT w="6350" cap="flat" cmpd="sng" algn="ctr">
                      <a:solidFill>
                        <a:srgbClr val="E0D5E8"/>
                      </a:solidFill>
                      <a:prstDash val="solid"/>
                      <a:round/>
                      <a:headEnd type="none" w="med" len="med"/>
                      <a:tailEnd type="none" w="med" len="med"/>
                    </a:lnT>
                    <a:lnB w="6350" cap="flat" cmpd="sng" algn="ctr">
                      <a:solidFill>
                        <a:srgbClr val="E0D5E8"/>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E18719"/>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63500" marR="63500" marT="38100" marB="38100" anchor="ctr">
                    <a:lnL w="6350" cap="flat" cmpd="sng" algn="ctr">
                      <a:solidFill>
                        <a:srgbClr val="E0D5E8"/>
                      </a:solidFill>
                      <a:prstDash val="solid"/>
                      <a:round/>
                      <a:headEnd type="none" w="med" len="med"/>
                      <a:tailEnd type="none" w="med" len="med"/>
                    </a:lnL>
                    <a:lnR w="6350" cap="flat" cmpd="sng" algn="ctr">
                      <a:solidFill>
                        <a:srgbClr val="E0D5E8"/>
                      </a:solidFill>
                      <a:prstDash val="solid"/>
                      <a:round/>
                      <a:headEnd type="none" w="med" len="med"/>
                      <a:tailEnd type="none" w="med" len="med"/>
                    </a:lnR>
                    <a:lnT w="6350" cap="flat" cmpd="sng" algn="ctr">
                      <a:solidFill>
                        <a:srgbClr val="E0D5E8"/>
                      </a:solidFill>
                      <a:prstDash val="solid"/>
                      <a:round/>
                      <a:headEnd type="none" w="med" len="med"/>
                      <a:tailEnd type="none" w="med" len="med"/>
                    </a:lnT>
                    <a:lnB w="6350" cap="flat" cmpd="sng" algn="ctr">
                      <a:solidFill>
                        <a:srgbClr val="E0D5E8"/>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E18719"/>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63500" marR="63500" marT="38100" marB="38100" anchor="ctr">
                    <a:lnL w="6350" cap="flat" cmpd="sng" algn="ctr">
                      <a:solidFill>
                        <a:srgbClr val="E0D5E8"/>
                      </a:solidFill>
                      <a:prstDash val="solid"/>
                      <a:round/>
                      <a:headEnd type="none" w="med" len="med"/>
                      <a:tailEnd type="none" w="med" len="med"/>
                    </a:lnL>
                    <a:lnR w="6350" cap="flat" cmpd="sng" algn="ctr">
                      <a:solidFill>
                        <a:srgbClr val="E0D5E8"/>
                      </a:solidFill>
                      <a:prstDash val="solid"/>
                      <a:round/>
                      <a:headEnd type="none" w="med" len="med"/>
                      <a:tailEnd type="none" w="med" len="med"/>
                    </a:lnR>
                    <a:lnT w="6350" cap="flat" cmpd="sng" algn="ctr">
                      <a:solidFill>
                        <a:srgbClr val="E0D5E8"/>
                      </a:solidFill>
                      <a:prstDash val="solid"/>
                      <a:round/>
                      <a:headEnd type="none" w="med" len="med"/>
                      <a:tailEnd type="none" w="med" len="med"/>
                    </a:lnT>
                    <a:lnB w="6350" cap="flat" cmpd="sng" algn="ctr">
                      <a:solidFill>
                        <a:srgbClr val="E0D5E8"/>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E18719"/>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63500" marR="63500" marT="38100" marB="38100" anchor="ctr">
                    <a:lnL w="6350" cap="flat" cmpd="sng" algn="ctr">
                      <a:solidFill>
                        <a:srgbClr val="E0D5E8"/>
                      </a:solidFill>
                      <a:prstDash val="solid"/>
                      <a:round/>
                      <a:headEnd type="none" w="med" len="med"/>
                      <a:tailEnd type="none" w="med" len="med"/>
                    </a:lnL>
                    <a:lnR w="6350" cap="flat" cmpd="sng" algn="ctr">
                      <a:solidFill>
                        <a:srgbClr val="E0D5E8"/>
                      </a:solidFill>
                      <a:prstDash val="solid"/>
                      <a:round/>
                      <a:headEnd type="none" w="med" len="med"/>
                      <a:tailEnd type="none" w="med" len="med"/>
                    </a:lnR>
                    <a:lnT w="6350" cap="flat" cmpd="sng" algn="ctr">
                      <a:solidFill>
                        <a:srgbClr val="E0D5E8"/>
                      </a:solidFill>
                      <a:prstDash val="solid"/>
                      <a:round/>
                      <a:headEnd type="none" w="med" len="med"/>
                      <a:tailEnd type="none" w="med" len="med"/>
                    </a:lnT>
                    <a:lnB w="6350" cap="flat" cmpd="sng" algn="ctr">
                      <a:solidFill>
                        <a:srgbClr val="E0D5E8"/>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E18719"/>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63500" marR="63500" marT="38100" marB="38100" anchor="ctr">
                    <a:lnL w="6350" cap="flat" cmpd="sng" algn="ctr">
                      <a:solidFill>
                        <a:srgbClr val="E0D5E8"/>
                      </a:solidFill>
                      <a:prstDash val="solid"/>
                      <a:round/>
                      <a:headEnd type="none" w="med" len="med"/>
                      <a:tailEnd type="none" w="med" len="med"/>
                    </a:lnL>
                    <a:lnR w="6350" cap="flat" cmpd="sng" algn="ctr">
                      <a:solidFill>
                        <a:srgbClr val="E0D5E8"/>
                      </a:solidFill>
                      <a:prstDash val="solid"/>
                      <a:round/>
                      <a:headEnd type="none" w="med" len="med"/>
                      <a:tailEnd type="none" w="med" len="med"/>
                    </a:lnR>
                    <a:lnT w="6350" cap="flat" cmpd="sng" algn="ctr">
                      <a:solidFill>
                        <a:srgbClr val="E0D5E8"/>
                      </a:solidFill>
                      <a:prstDash val="solid"/>
                      <a:round/>
                      <a:headEnd type="none" w="med" len="med"/>
                      <a:tailEnd type="none" w="med" len="med"/>
                    </a:lnT>
                    <a:lnB w="6350" cap="flat" cmpd="sng" algn="ctr">
                      <a:solidFill>
                        <a:srgbClr val="E0D5E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57200">
                <a:tc>
                  <a:txBody>
                    <a:bodyPr/>
                    <a:lstStyle/>
                    <a:p>
                      <a:pPr marL="0" indent="0" algn="l">
                        <a:buNone/>
                      </a:pPr>
                      <a:r>
                        <a:rPr lang="en-US" sz="1100" b="1" dirty="0">
                          <a:solidFill>
                            <a:srgbClr val="3D3D3D"/>
                          </a:solidFill>
                          <a:latin typeface="Calibri" pitchFamily="34" charset="0"/>
                          <a:ea typeface="Calibri" pitchFamily="34" charset="-122"/>
                          <a:cs typeface="Calibri" pitchFamily="34" charset="-120"/>
                        </a:rPr>
                        <a:t>6  Gen BI Consumption</a:t>
                      </a:r>
                      <a:endParaRPr lang="en-US" sz="1100" dirty="0">
                        <a:latin typeface="Calibri" charset="0"/>
                        <a:ea typeface="Calibri" charset="0"/>
                        <a:cs typeface="Calibri" charset="0"/>
                      </a:endParaRPr>
                    </a:p>
                  </a:txBody>
                  <a:tcPr marL="63500" marR="63500" marT="38100" marB="38100" anchor="ctr">
                    <a:lnL w="6350" cap="flat" cmpd="sng" algn="ctr">
                      <a:solidFill>
                        <a:srgbClr val="E0D5E8"/>
                      </a:solidFill>
                      <a:prstDash val="solid"/>
                      <a:round/>
                      <a:headEnd type="none" w="med" len="med"/>
                      <a:tailEnd type="none" w="med" len="med"/>
                    </a:lnL>
                    <a:lnR w="6350" cap="flat" cmpd="sng" algn="ctr">
                      <a:solidFill>
                        <a:srgbClr val="E0D5E8"/>
                      </a:solidFill>
                      <a:prstDash val="solid"/>
                      <a:round/>
                      <a:headEnd type="none" w="med" len="med"/>
                      <a:tailEnd type="none" w="med" len="med"/>
                    </a:lnR>
                    <a:lnT w="6350" cap="flat" cmpd="sng" algn="ctr">
                      <a:solidFill>
                        <a:srgbClr val="E0D5E8"/>
                      </a:solidFill>
                      <a:prstDash val="solid"/>
                      <a:round/>
                      <a:headEnd type="none" w="med" len="med"/>
                      <a:tailEnd type="none" w="med" len="med"/>
                    </a:lnT>
                    <a:lnB w="6350" cap="flat" cmpd="sng" algn="ctr">
                      <a:solidFill>
                        <a:srgbClr val="E0D5E8"/>
                      </a:solidFill>
                      <a:prstDash val="solid"/>
                      <a:round/>
                      <a:headEnd type="none" w="med" len="med"/>
                      <a:tailEnd type="none" w="med" len="med"/>
                    </a:lnB>
                    <a:solidFill>
                      <a:srgbClr val="F9F5FC"/>
                    </a:solidFill>
                  </a:tcPr>
                </a:tc>
                <a:tc>
                  <a:txBody>
                    <a:bodyPr/>
                    <a:lstStyle/>
                    <a:p>
                      <a:pPr marL="0" indent="0" algn="ctr">
                        <a:buNone/>
                      </a:pPr>
                      <a:r>
                        <a:rPr lang="en-US" sz="1600" dirty="0">
                          <a:solidFill>
                            <a:srgbClr val="CCCCCC"/>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63500" marR="63500" marT="38100" marB="38100" anchor="ctr">
                    <a:lnL w="6350" cap="flat" cmpd="sng" algn="ctr">
                      <a:solidFill>
                        <a:srgbClr val="E0D5E8"/>
                      </a:solidFill>
                      <a:prstDash val="solid"/>
                      <a:round/>
                      <a:headEnd type="none" w="med" len="med"/>
                      <a:tailEnd type="none" w="med" len="med"/>
                    </a:lnL>
                    <a:lnR w="6350" cap="flat" cmpd="sng" algn="ctr">
                      <a:solidFill>
                        <a:srgbClr val="E0D5E8"/>
                      </a:solidFill>
                      <a:prstDash val="solid"/>
                      <a:round/>
                      <a:headEnd type="none" w="med" len="med"/>
                      <a:tailEnd type="none" w="med" len="med"/>
                    </a:lnR>
                    <a:lnT w="6350" cap="flat" cmpd="sng" algn="ctr">
                      <a:solidFill>
                        <a:srgbClr val="E0D5E8"/>
                      </a:solidFill>
                      <a:prstDash val="solid"/>
                      <a:round/>
                      <a:headEnd type="none" w="med" len="med"/>
                      <a:tailEnd type="none" w="med" len="med"/>
                    </a:lnT>
                    <a:lnB w="6350" cap="flat" cmpd="sng" algn="ctr">
                      <a:solidFill>
                        <a:srgbClr val="E0D5E8"/>
                      </a:solidFill>
                      <a:prstDash val="solid"/>
                      <a:round/>
                      <a:headEnd type="none" w="med" len="med"/>
                      <a:tailEnd type="none" w="med" len="med"/>
                    </a:lnB>
                    <a:solidFill>
                      <a:srgbClr val="F9F5FC"/>
                    </a:solidFill>
                  </a:tcPr>
                </a:tc>
                <a:tc>
                  <a:txBody>
                    <a:bodyPr/>
                    <a:lstStyle/>
                    <a:p>
                      <a:pPr marL="0" indent="0" algn="ctr">
                        <a:buNone/>
                      </a:pPr>
                      <a:r>
                        <a:rPr lang="en-US" sz="1600" dirty="0">
                          <a:solidFill>
                            <a:srgbClr val="CCCCCC"/>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63500" marR="63500" marT="38100" marB="38100" anchor="ctr">
                    <a:lnL w="6350" cap="flat" cmpd="sng" algn="ctr">
                      <a:solidFill>
                        <a:srgbClr val="E0D5E8"/>
                      </a:solidFill>
                      <a:prstDash val="solid"/>
                      <a:round/>
                      <a:headEnd type="none" w="med" len="med"/>
                      <a:tailEnd type="none" w="med" len="med"/>
                    </a:lnL>
                    <a:lnR w="6350" cap="flat" cmpd="sng" algn="ctr">
                      <a:solidFill>
                        <a:srgbClr val="E0D5E8"/>
                      </a:solidFill>
                      <a:prstDash val="solid"/>
                      <a:round/>
                      <a:headEnd type="none" w="med" len="med"/>
                      <a:tailEnd type="none" w="med" len="med"/>
                    </a:lnR>
                    <a:lnT w="6350" cap="flat" cmpd="sng" algn="ctr">
                      <a:solidFill>
                        <a:srgbClr val="E0D5E8"/>
                      </a:solidFill>
                      <a:prstDash val="solid"/>
                      <a:round/>
                      <a:headEnd type="none" w="med" len="med"/>
                      <a:tailEnd type="none" w="med" len="med"/>
                    </a:lnT>
                    <a:lnB w="6350" cap="flat" cmpd="sng" algn="ctr">
                      <a:solidFill>
                        <a:srgbClr val="E0D5E8"/>
                      </a:solidFill>
                      <a:prstDash val="solid"/>
                      <a:round/>
                      <a:headEnd type="none" w="med" len="med"/>
                      <a:tailEnd type="none" w="med" len="med"/>
                    </a:lnB>
                    <a:solidFill>
                      <a:srgbClr val="F9F5FC"/>
                    </a:solidFill>
                  </a:tcPr>
                </a:tc>
                <a:tc>
                  <a:txBody>
                    <a:bodyPr/>
                    <a:lstStyle/>
                    <a:p>
                      <a:pPr marL="0" indent="0" algn="ctr">
                        <a:buNone/>
                      </a:pPr>
                      <a:r>
                        <a:rPr lang="en-US" sz="1600" dirty="0">
                          <a:solidFill>
                            <a:srgbClr val="CCCCCC"/>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63500" marR="63500" marT="38100" marB="38100" anchor="ctr">
                    <a:lnL w="6350" cap="flat" cmpd="sng" algn="ctr">
                      <a:solidFill>
                        <a:srgbClr val="E0D5E8"/>
                      </a:solidFill>
                      <a:prstDash val="solid"/>
                      <a:round/>
                      <a:headEnd type="none" w="med" len="med"/>
                      <a:tailEnd type="none" w="med" len="med"/>
                    </a:lnL>
                    <a:lnR w="6350" cap="flat" cmpd="sng" algn="ctr">
                      <a:solidFill>
                        <a:srgbClr val="E0D5E8"/>
                      </a:solidFill>
                      <a:prstDash val="solid"/>
                      <a:round/>
                      <a:headEnd type="none" w="med" len="med"/>
                      <a:tailEnd type="none" w="med" len="med"/>
                    </a:lnR>
                    <a:lnT w="6350" cap="flat" cmpd="sng" algn="ctr">
                      <a:solidFill>
                        <a:srgbClr val="E0D5E8"/>
                      </a:solidFill>
                      <a:prstDash val="solid"/>
                      <a:round/>
                      <a:headEnd type="none" w="med" len="med"/>
                      <a:tailEnd type="none" w="med" len="med"/>
                    </a:lnT>
                    <a:lnB w="6350" cap="flat" cmpd="sng" algn="ctr">
                      <a:solidFill>
                        <a:srgbClr val="E0D5E8"/>
                      </a:solidFill>
                      <a:prstDash val="solid"/>
                      <a:round/>
                      <a:headEnd type="none" w="med" len="med"/>
                      <a:tailEnd type="none" w="med" len="med"/>
                    </a:lnB>
                    <a:solidFill>
                      <a:srgbClr val="F9F5FC"/>
                    </a:solidFill>
                  </a:tcPr>
                </a:tc>
                <a:tc>
                  <a:txBody>
                    <a:bodyPr/>
                    <a:lstStyle/>
                    <a:p>
                      <a:pPr marL="0" indent="0" algn="ctr">
                        <a:buNone/>
                      </a:pPr>
                      <a:r>
                        <a:rPr lang="en-US" sz="1600" dirty="0">
                          <a:solidFill>
                            <a:srgbClr val="CCCCCC"/>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63500" marR="63500" marT="38100" marB="38100" anchor="ctr">
                    <a:lnL w="6350" cap="flat" cmpd="sng" algn="ctr">
                      <a:solidFill>
                        <a:srgbClr val="E0D5E8"/>
                      </a:solidFill>
                      <a:prstDash val="solid"/>
                      <a:round/>
                      <a:headEnd type="none" w="med" len="med"/>
                      <a:tailEnd type="none" w="med" len="med"/>
                    </a:lnL>
                    <a:lnR w="6350" cap="flat" cmpd="sng" algn="ctr">
                      <a:solidFill>
                        <a:srgbClr val="E0D5E8"/>
                      </a:solidFill>
                      <a:prstDash val="solid"/>
                      <a:round/>
                      <a:headEnd type="none" w="med" len="med"/>
                      <a:tailEnd type="none" w="med" len="med"/>
                    </a:lnR>
                    <a:lnT w="6350" cap="flat" cmpd="sng" algn="ctr">
                      <a:solidFill>
                        <a:srgbClr val="E0D5E8"/>
                      </a:solidFill>
                      <a:prstDash val="solid"/>
                      <a:round/>
                      <a:headEnd type="none" w="med" len="med"/>
                      <a:tailEnd type="none" w="med" len="med"/>
                    </a:lnT>
                    <a:lnB w="6350" cap="flat" cmpd="sng" algn="ctr">
                      <a:solidFill>
                        <a:srgbClr val="E0D5E8"/>
                      </a:solidFill>
                      <a:prstDash val="solid"/>
                      <a:round/>
                      <a:headEnd type="none" w="med" len="med"/>
                      <a:tailEnd type="none" w="med" len="med"/>
                    </a:lnB>
                    <a:solidFill>
                      <a:srgbClr val="F9F5FC"/>
                    </a:solidFill>
                  </a:tcPr>
                </a:tc>
                <a:tc>
                  <a:txBody>
                    <a:bodyPr/>
                    <a:lstStyle/>
                    <a:p>
                      <a:pPr marL="0" indent="0" algn="ctr">
                        <a:buNone/>
                      </a:pPr>
                      <a:r>
                        <a:rPr lang="en-US" sz="1600" dirty="0">
                          <a:solidFill>
                            <a:srgbClr val="CCCCCC"/>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63500" marR="63500" marT="38100" marB="38100" anchor="ctr">
                    <a:lnL w="6350" cap="flat" cmpd="sng" algn="ctr">
                      <a:solidFill>
                        <a:srgbClr val="E0D5E8"/>
                      </a:solidFill>
                      <a:prstDash val="solid"/>
                      <a:round/>
                      <a:headEnd type="none" w="med" len="med"/>
                      <a:tailEnd type="none" w="med" len="med"/>
                    </a:lnL>
                    <a:lnR w="6350" cap="flat" cmpd="sng" algn="ctr">
                      <a:solidFill>
                        <a:srgbClr val="E0D5E8"/>
                      </a:solidFill>
                      <a:prstDash val="solid"/>
                      <a:round/>
                      <a:headEnd type="none" w="med" len="med"/>
                      <a:tailEnd type="none" w="med" len="med"/>
                    </a:lnR>
                    <a:lnT w="6350" cap="flat" cmpd="sng" algn="ctr">
                      <a:solidFill>
                        <a:srgbClr val="E0D5E8"/>
                      </a:solidFill>
                      <a:prstDash val="solid"/>
                      <a:round/>
                      <a:headEnd type="none" w="med" len="med"/>
                      <a:tailEnd type="none" w="med" len="med"/>
                    </a:lnT>
                    <a:lnB w="6350" cap="flat" cmpd="sng" algn="ctr">
                      <a:solidFill>
                        <a:srgbClr val="E0D5E8"/>
                      </a:solidFill>
                      <a:prstDash val="solid"/>
                      <a:round/>
                      <a:headEnd type="none" w="med" len="med"/>
                      <a:tailEnd type="none" w="med" len="med"/>
                    </a:lnB>
                    <a:solidFill>
                      <a:srgbClr val="F9F5FC"/>
                    </a:solidFill>
                  </a:tcPr>
                </a:tc>
                <a:tc>
                  <a:txBody>
                    <a:bodyPr/>
                    <a:lstStyle/>
                    <a:p>
                      <a:pPr marL="0" indent="0" algn="ctr">
                        <a:buNone/>
                      </a:pPr>
                      <a:r>
                        <a:rPr lang="en-US" sz="1600" dirty="0">
                          <a:solidFill>
                            <a:srgbClr val="CCCCCC"/>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63500" marR="63500" marT="38100" marB="38100" anchor="ctr">
                    <a:lnL w="6350" cap="flat" cmpd="sng" algn="ctr">
                      <a:solidFill>
                        <a:srgbClr val="E0D5E8"/>
                      </a:solidFill>
                      <a:prstDash val="solid"/>
                      <a:round/>
                      <a:headEnd type="none" w="med" len="med"/>
                      <a:tailEnd type="none" w="med" len="med"/>
                    </a:lnL>
                    <a:lnR w="6350" cap="flat" cmpd="sng" algn="ctr">
                      <a:solidFill>
                        <a:srgbClr val="E0D5E8"/>
                      </a:solidFill>
                      <a:prstDash val="solid"/>
                      <a:round/>
                      <a:headEnd type="none" w="med" len="med"/>
                      <a:tailEnd type="none" w="med" len="med"/>
                    </a:lnR>
                    <a:lnT w="6350" cap="flat" cmpd="sng" algn="ctr">
                      <a:solidFill>
                        <a:srgbClr val="E0D5E8"/>
                      </a:solidFill>
                      <a:prstDash val="solid"/>
                      <a:round/>
                      <a:headEnd type="none" w="med" len="med"/>
                      <a:tailEnd type="none" w="med" len="med"/>
                    </a:lnT>
                    <a:lnB w="6350" cap="flat" cmpd="sng" algn="ctr">
                      <a:solidFill>
                        <a:srgbClr val="E0D5E8"/>
                      </a:solidFill>
                      <a:prstDash val="solid"/>
                      <a:round/>
                      <a:headEnd type="none" w="med" len="med"/>
                      <a:tailEnd type="none" w="med" len="med"/>
                    </a:lnB>
                    <a:solidFill>
                      <a:srgbClr val="F9F5FC"/>
                    </a:solidFill>
                  </a:tcPr>
                </a:tc>
                <a:tc>
                  <a:txBody>
                    <a:bodyPr/>
                    <a:lstStyle/>
                    <a:p>
                      <a:pPr marL="0" indent="0" algn="ctr">
                        <a:buNone/>
                      </a:pPr>
                      <a:r>
                        <a:rPr lang="en-US" sz="1600" dirty="0">
                          <a:solidFill>
                            <a:srgbClr val="E18719"/>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63500" marR="63500" marT="38100" marB="38100" anchor="ctr">
                    <a:lnL w="6350" cap="flat" cmpd="sng" algn="ctr">
                      <a:solidFill>
                        <a:srgbClr val="E0D5E8"/>
                      </a:solidFill>
                      <a:prstDash val="solid"/>
                      <a:round/>
                      <a:headEnd type="none" w="med" len="med"/>
                      <a:tailEnd type="none" w="med" len="med"/>
                    </a:lnL>
                    <a:lnR w="6350" cap="flat" cmpd="sng" algn="ctr">
                      <a:solidFill>
                        <a:srgbClr val="E0D5E8"/>
                      </a:solidFill>
                      <a:prstDash val="solid"/>
                      <a:round/>
                      <a:headEnd type="none" w="med" len="med"/>
                      <a:tailEnd type="none" w="med" len="med"/>
                    </a:lnR>
                    <a:lnT w="6350" cap="flat" cmpd="sng" algn="ctr">
                      <a:solidFill>
                        <a:srgbClr val="E0D5E8"/>
                      </a:solidFill>
                      <a:prstDash val="solid"/>
                      <a:round/>
                      <a:headEnd type="none" w="med" len="med"/>
                      <a:tailEnd type="none" w="med" len="med"/>
                    </a:lnT>
                    <a:lnB w="6350" cap="flat" cmpd="sng" algn="ctr">
                      <a:solidFill>
                        <a:srgbClr val="E0D5E8"/>
                      </a:solidFill>
                      <a:prstDash val="solid"/>
                      <a:round/>
                      <a:headEnd type="none" w="med" len="med"/>
                      <a:tailEnd type="none" w="med" len="med"/>
                    </a:lnB>
                    <a:solidFill>
                      <a:srgbClr val="F9F5FC"/>
                    </a:solidFill>
                  </a:tcPr>
                </a:tc>
                <a:tc>
                  <a:txBody>
                    <a:bodyPr/>
                    <a:lstStyle/>
                    <a:p>
                      <a:pPr marL="0" indent="0" algn="ctr">
                        <a:buNone/>
                      </a:pPr>
                      <a:r>
                        <a:rPr lang="en-US" sz="1600" dirty="0">
                          <a:solidFill>
                            <a:srgbClr val="E18719"/>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63500" marR="63500" marT="38100" marB="38100" anchor="ctr">
                    <a:lnL w="6350" cap="flat" cmpd="sng" algn="ctr">
                      <a:solidFill>
                        <a:srgbClr val="E0D5E8"/>
                      </a:solidFill>
                      <a:prstDash val="solid"/>
                      <a:round/>
                      <a:headEnd type="none" w="med" len="med"/>
                      <a:tailEnd type="none" w="med" len="med"/>
                    </a:lnL>
                    <a:lnR w="6350" cap="flat" cmpd="sng" algn="ctr">
                      <a:solidFill>
                        <a:srgbClr val="E0D5E8"/>
                      </a:solidFill>
                      <a:prstDash val="solid"/>
                      <a:round/>
                      <a:headEnd type="none" w="med" len="med"/>
                      <a:tailEnd type="none" w="med" len="med"/>
                    </a:lnR>
                    <a:lnT w="6350" cap="flat" cmpd="sng" algn="ctr">
                      <a:solidFill>
                        <a:srgbClr val="E0D5E8"/>
                      </a:solidFill>
                      <a:prstDash val="solid"/>
                      <a:round/>
                      <a:headEnd type="none" w="med" len="med"/>
                      <a:tailEnd type="none" w="med" len="med"/>
                    </a:lnT>
                    <a:lnB w="6350" cap="flat" cmpd="sng" algn="ctr">
                      <a:solidFill>
                        <a:srgbClr val="E0D5E8"/>
                      </a:solidFill>
                      <a:prstDash val="solid"/>
                      <a:round/>
                      <a:headEnd type="none" w="med" len="med"/>
                      <a:tailEnd type="none" w="med" len="med"/>
                    </a:lnB>
                    <a:solidFill>
                      <a:srgbClr val="F9F5FC"/>
                    </a:solidFill>
                  </a:tcPr>
                </a:tc>
                <a:extLst>
                  <a:ext uri="{0D108BD9-81ED-4DB2-BD59-A6C34878D82A}">
                    <a16:rowId xmlns:a16="http://schemas.microsoft.com/office/drawing/2014/main" val="10006"/>
                  </a:ext>
                </a:extLst>
              </a:tr>
            </a:tbl>
          </a:graphicData>
        </a:graphic>
      </p:graphicFrame>
      <p:sp>
        <p:nvSpPr>
          <p:cNvPr id="9" name="Text 6"/>
          <p:cNvSpPr/>
          <p:nvPr/>
        </p:nvSpPr>
        <p:spPr>
          <a:xfrm>
            <a:off x="548640" y="5029200"/>
            <a:ext cx="5486400" cy="365760"/>
          </a:xfrm>
          <a:prstGeom prst="rect">
            <a:avLst/>
          </a:prstGeom>
          <a:noFill/>
          <a:ln/>
        </p:spPr>
        <p:txBody>
          <a:bodyPr wrap="square" rtlCol="0" anchor="ctr"/>
          <a:lstStyle/>
          <a:p>
            <a:pPr marL="0" indent="0">
              <a:buNone/>
            </a:pPr>
            <a:r>
              <a:rPr lang="en-US" sz="1400" dirty="0">
                <a:solidFill>
                  <a:srgbClr val="E18719"/>
                </a:solidFill>
              </a:rPr>
              <a:t>⬤ </a:t>
            </a:r>
            <a:r>
              <a:rPr lang="en-US" sz="1000" dirty="0">
                <a:solidFill>
                  <a:srgbClr val="3D3D3D"/>
                </a:solidFill>
                <a:latin typeface="Calibri" pitchFamily="34" charset="0"/>
                <a:ea typeface="Calibri" pitchFamily="34" charset="-122"/>
                <a:cs typeface="Calibri" pitchFamily="34" charset="-120"/>
              </a:rPr>
              <a:t>Primary scope   </a:t>
            </a:r>
            <a:r>
              <a:rPr lang="en-US" sz="1400" dirty="0">
                <a:solidFill>
                  <a:srgbClr val="CCCCCC"/>
                </a:solidFill>
              </a:rPr>
              <a:t>○ </a:t>
            </a:r>
            <a:r>
              <a:rPr lang="en-US" sz="1000" dirty="0">
                <a:solidFill>
                  <a:srgbClr val="3D3D3D"/>
                </a:solidFill>
                <a:latin typeface="Calibri" pitchFamily="34" charset="0"/>
                <a:ea typeface="Calibri" pitchFamily="34" charset="-122"/>
                <a:cs typeface="Calibri" pitchFamily="34" charset="-120"/>
              </a:rPr>
              <a:t>Supporting / derived scope</a:t>
            </a:r>
            <a:endParaRPr lang="en-US" sz="1400" dirty="0"/>
          </a:p>
        </p:txBody>
      </p:sp>
      <p:sp>
        <p:nvSpPr>
          <p:cNvPr id="10" name="Text 7"/>
          <p:cNvSpPr/>
          <p:nvPr/>
        </p:nvSpPr>
        <p:spPr>
          <a:xfrm>
            <a:off x="548640" y="5486400"/>
            <a:ext cx="10972800" cy="320040"/>
          </a:xfrm>
          <a:prstGeom prst="rect">
            <a:avLst/>
          </a:prstGeom>
          <a:noFill/>
          <a:ln/>
        </p:spPr>
        <p:txBody>
          <a:bodyPr wrap="square" rtlCol="0" anchor="ctr"/>
          <a:lstStyle/>
          <a:p>
            <a:pPr marL="0" indent="0">
              <a:buNone/>
            </a:pPr>
            <a:r>
              <a:rPr lang="en-US" sz="1000" i="1" dirty="0">
                <a:solidFill>
                  <a:srgbClr val="4F2170"/>
                </a:solidFill>
                <a:latin typeface="Calibri" pitchFamily="34" charset="0"/>
                <a:ea typeface="Calibri" pitchFamily="34" charset="-122"/>
                <a:cs typeface="Calibri" pitchFamily="34" charset="-120"/>
              </a:rPr>
              <a:t>CDRB sections applicable per block: B1(A,I,K) | B2(B,D,E) | B3(A,B,E) | B4(C) | B5(A,D,E,F) | B6(F,G,J) | B7(I,K,L) | B8(I,L)</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4F2170"/>
          </a:solidFill>
          <a:ln/>
        </p:spPr>
        <p:txBody>
          <a:bodyPr/>
          <a:lstStyle/>
          <a:p>
            <a:endParaRPr lang="en-US"/>
          </a:p>
        </p:txBody>
      </p:sp>
      <p:sp>
        <p:nvSpPr>
          <p:cNvPr id="3" name="Text 1"/>
          <p:cNvSpPr/>
          <p:nvPr/>
        </p:nvSpPr>
        <p:spPr>
          <a:xfrm>
            <a:off x="548640" y="137160"/>
            <a:ext cx="10515600" cy="502920"/>
          </a:xfrm>
          <a:prstGeom prst="rect">
            <a:avLst/>
          </a:prstGeom>
          <a:noFill/>
          <a:ln/>
        </p:spPr>
        <p:txBody>
          <a:bodyPr wrap="square" rtlCol="0" anchor="ctr"/>
          <a:lstStyle/>
          <a:p>
            <a:pPr marL="0" indent="0">
              <a:buNone/>
            </a:pPr>
            <a:r>
              <a:rPr lang="en-US" sz="2400" dirty="0">
                <a:solidFill>
                  <a:srgbClr val="FFFFFF"/>
                </a:solidFill>
                <a:latin typeface="Arial" pitchFamily="34" charset="0"/>
                <a:ea typeface="Arial" pitchFamily="34" charset="-122"/>
                <a:cs typeface="Arial" pitchFamily="34" charset="-120"/>
              </a:rPr>
              <a:t>November Deliverables Overview</a:t>
            </a:r>
            <a:endParaRPr lang="en-US" sz="2400" dirty="0"/>
          </a:p>
        </p:txBody>
      </p:sp>
      <p:sp>
        <p:nvSpPr>
          <p:cNvPr id="4" name="Text 2"/>
          <p:cNvSpPr/>
          <p:nvPr/>
        </p:nvSpPr>
        <p:spPr>
          <a:xfrm>
            <a:off x="548640" y="594360"/>
            <a:ext cx="10515600" cy="320040"/>
          </a:xfrm>
          <a:prstGeom prst="rect">
            <a:avLst/>
          </a:prstGeom>
          <a:noFill/>
          <a:ln/>
        </p:spPr>
        <p:txBody>
          <a:bodyPr wrap="square" rtlCol="0" anchor="ctr"/>
          <a:lstStyle/>
          <a:p>
            <a:pPr marL="0" indent="0">
              <a:buNone/>
            </a:pPr>
            <a:r>
              <a:rPr lang="en-US" sz="1300" dirty="0">
                <a:solidFill>
                  <a:srgbClr val="E8DFF0"/>
                </a:solidFill>
                <a:latin typeface="Calibri" pitchFamily="34" charset="0"/>
                <a:ea typeface="Calibri" pitchFamily="34" charset="-122"/>
                <a:cs typeface="Calibri" pitchFamily="34" charset="-120"/>
              </a:rPr>
              <a:t>WS-1  |  Applicable CDRB: Sections A, C, D</a:t>
            </a:r>
            <a:endParaRPr lang="en-US" sz="1300" dirty="0"/>
          </a:p>
        </p:txBody>
      </p:sp>
      <p:sp>
        <p:nvSpPr>
          <p:cNvPr id="5" name="Shape 3"/>
          <p:cNvSpPr/>
          <p:nvPr/>
        </p:nvSpPr>
        <p:spPr>
          <a:xfrm>
            <a:off x="0" y="6492240"/>
            <a:ext cx="12188952" cy="365760"/>
          </a:xfrm>
          <a:prstGeom prst="rect">
            <a:avLst/>
          </a:prstGeom>
          <a:solidFill>
            <a:srgbClr val="3A1854"/>
          </a:solidFill>
          <a:ln/>
        </p:spPr>
        <p:txBody>
          <a:bodyPr/>
          <a:lstStyle/>
          <a:p>
            <a:endParaRPr lang="en-US"/>
          </a:p>
        </p:txBody>
      </p:sp>
      <p:sp>
        <p:nvSpPr>
          <p:cNvPr id="6" name="Text 4"/>
          <p:cNvSpPr/>
          <p:nvPr/>
        </p:nvSpPr>
        <p:spPr>
          <a:xfrm>
            <a:off x="548640" y="6510528"/>
            <a:ext cx="9144000" cy="320040"/>
          </a:xfrm>
          <a:prstGeom prst="rect">
            <a:avLst/>
          </a:prstGeom>
          <a:noFill/>
          <a:ln/>
        </p:spPr>
        <p:txBody>
          <a:bodyPr wrap="square" rtlCol="0" anchor="ctr"/>
          <a:lstStyle/>
          <a:p>
            <a:pPr marL="0" indent="0">
              <a:buNone/>
            </a:pPr>
            <a:r>
              <a:rPr lang="en-US" sz="900" dirty="0">
                <a:solidFill>
                  <a:srgbClr val="E8DFF0"/>
                </a:solidFill>
                <a:latin typeface="Calibri" pitchFamily="34" charset="0"/>
                <a:ea typeface="Calibri" pitchFamily="34" charset="-122"/>
                <a:cs typeface="Calibri" pitchFamily="34" charset="-120"/>
              </a:rPr>
              <a:t>LA OSA 2.0 Blueprint Workshop  |  Day 3 Morning  |  WS-1: Mexico &amp; Wacam</a:t>
            </a:r>
            <a:endParaRPr lang="en-US" sz="900" dirty="0"/>
          </a:p>
        </p:txBody>
      </p:sp>
      <p:sp>
        <p:nvSpPr>
          <p:cNvPr id="7" name="Text 5"/>
          <p:cNvSpPr/>
          <p:nvPr/>
        </p:nvSpPr>
        <p:spPr>
          <a:xfrm>
            <a:off x="10972800" y="6510528"/>
            <a:ext cx="914400" cy="320040"/>
          </a:xfrm>
          <a:prstGeom prst="rect">
            <a:avLst/>
          </a:prstGeom>
          <a:noFill/>
          <a:ln/>
        </p:spPr>
        <p:txBody>
          <a:bodyPr wrap="square" rtlCol="0" anchor="ctr"/>
          <a:lstStyle/>
          <a:p>
            <a:pPr marL="0" indent="0" algn="r">
              <a:buNone/>
            </a:pPr>
            <a:r>
              <a:rPr lang="en-US" sz="900" dirty="0">
                <a:solidFill>
                  <a:srgbClr val="E8DFF0"/>
                </a:solidFill>
                <a:latin typeface="Calibri" pitchFamily="34" charset="0"/>
                <a:ea typeface="Calibri" pitchFamily="34" charset="-122"/>
                <a:cs typeface="Calibri" pitchFamily="34" charset="-120"/>
              </a:rPr>
              <a:t>6 / 20</a:t>
            </a:r>
            <a:endParaRPr lang="en-US" sz="900" dirty="0"/>
          </a:p>
        </p:txBody>
      </p:sp>
      <p:sp>
        <p:nvSpPr>
          <p:cNvPr id="8" name="Shape 6"/>
          <p:cNvSpPr/>
          <p:nvPr/>
        </p:nvSpPr>
        <p:spPr>
          <a:xfrm>
            <a:off x="548640" y="1280160"/>
            <a:ext cx="11064240" cy="457200"/>
          </a:xfrm>
          <a:prstGeom prst="roundRect">
            <a:avLst>
              <a:gd name="adj" fmla="val 10000"/>
            </a:avLst>
          </a:prstGeom>
          <a:solidFill>
            <a:srgbClr val="E18719"/>
          </a:solidFill>
          <a:ln/>
        </p:spPr>
        <p:txBody>
          <a:bodyPr/>
          <a:lstStyle/>
          <a:p>
            <a:endParaRPr lang="en-US"/>
          </a:p>
        </p:txBody>
      </p:sp>
      <p:sp>
        <p:nvSpPr>
          <p:cNvPr id="9" name="Text 7"/>
          <p:cNvSpPr/>
          <p:nvPr/>
        </p:nvSpPr>
        <p:spPr>
          <a:xfrm>
            <a:off x="731520" y="1298448"/>
            <a:ext cx="10515600" cy="411480"/>
          </a:xfrm>
          <a:prstGeom prst="rect">
            <a:avLst/>
          </a:prstGeom>
          <a:noFill/>
          <a:ln/>
        </p:spPr>
        <p:txBody>
          <a:bodyPr wrap="square" rtlCol="0" anchor="ctr"/>
          <a:lstStyle/>
          <a:p>
            <a:pPr marL="0" indent="0">
              <a:buNone/>
            </a:pPr>
            <a:r>
              <a:rPr lang="en-US" sz="1400" b="1" dirty="0">
                <a:solidFill>
                  <a:srgbClr val="FFFFFF"/>
                </a:solidFill>
                <a:latin typeface="Arial" pitchFamily="34" charset="0"/>
                <a:ea typeface="Arial" pitchFamily="34" charset="-122"/>
                <a:cs typeface="Arial" pitchFamily="34" charset="-120"/>
              </a:rPr>
              <a:t>7 DELIVERABLES  |  NOVEMBER 2026  |  CDRB SECTIONS A · C · D</a:t>
            </a:r>
            <a:endParaRPr lang="en-US" sz="1400" dirty="0"/>
          </a:p>
        </p:txBody>
      </p:sp>
      <p:sp>
        <p:nvSpPr>
          <p:cNvPr id="10" name="Shape 8"/>
          <p:cNvSpPr/>
          <p:nvPr/>
        </p:nvSpPr>
        <p:spPr>
          <a:xfrm>
            <a:off x="548640" y="1920240"/>
            <a:ext cx="411480" cy="411480"/>
          </a:xfrm>
          <a:prstGeom prst="roundRect">
            <a:avLst>
              <a:gd name="adj" fmla="val 11111"/>
            </a:avLst>
          </a:prstGeom>
          <a:solidFill>
            <a:srgbClr val="4F2170"/>
          </a:solidFill>
          <a:ln/>
        </p:spPr>
        <p:txBody>
          <a:bodyPr/>
          <a:lstStyle/>
          <a:p>
            <a:endParaRPr lang="en-US"/>
          </a:p>
        </p:txBody>
      </p:sp>
      <p:sp>
        <p:nvSpPr>
          <p:cNvPr id="11" name="Text 9"/>
          <p:cNvSpPr/>
          <p:nvPr/>
        </p:nvSpPr>
        <p:spPr>
          <a:xfrm>
            <a:off x="548640" y="1920240"/>
            <a:ext cx="411480" cy="411480"/>
          </a:xfrm>
          <a:prstGeom prst="rect">
            <a:avLst/>
          </a:prstGeom>
          <a:noFill/>
          <a:ln/>
        </p:spPr>
        <p:txBody>
          <a:bodyPr wrap="square" rtlCol="0" anchor="ctr"/>
          <a:lstStyle/>
          <a:p>
            <a:pPr marL="0" indent="0" algn="ctr">
              <a:buNone/>
            </a:pPr>
            <a:r>
              <a:rPr lang="en-US" sz="1400" dirty="0">
                <a:solidFill>
                  <a:srgbClr val="FFFFFF"/>
                </a:solidFill>
                <a:latin typeface="Arial" pitchFamily="34" charset="0"/>
                <a:ea typeface="Arial" pitchFamily="34" charset="-122"/>
                <a:cs typeface="Arial" pitchFamily="34" charset="-120"/>
              </a:rPr>
              <a:t>1</a:t>
            </a:r>
            <a:endParaRPr lang="en-US" sz="1400" dirty="0"/>
          </a:p>
        </p:txBody>
      </p:sp>
      <p:sp>
        <p:nvSpPr>
          <p:cNvPr id="12" name="Text 10"/>
          <p:cNvSpPr/>
          <p:nvPr/>
        </p:nvSpPr>
        <p:spPr>
          <a:xfrm>
            <a:off x="1097280" y="1920240"/>
            <a:ext cx="8686800" cy="502920"/>
          </a:xfrm>
          <a:prstGeom prst="rect">
            <a:avLst/>
          </a:prstGeom>
          <a:noFill/>
          <a:ln/>
        </p:spPr>
        <p:txBody>
          <a:bodyPr wrap="square" rtlCol="0" anchor="ctr"/>
          <a:lstStyle/>
          <a:p>
            <a:pPr marL="0" indent="0">
              <a:lnSpc>
                <a:spcPct val="110000"/>
              </a:lnSpc>
              <a:buNone/>
            </a:pPr>
            <a:r>
              <a:rPr lang="en-US" sz="1150" dirty="0">
                <a:solidFill>
                  <a:srgbClr val="3D3D3D"/>
                </a:solidFill>
                <a:latin typeface="Calibri" pitchFamily="34" charset="0"/>
                <a:ea typeface="Calibri" pitchFamily="34" charset="-122"/>
                <a:cs typeface="Calibri" pitchFamily="34" charset="-120"/>
              </a:rPr>
              <a:t>AS-IS to TO-BE pipeline design — use existing stored procedures as reference, then design TO-BE pipelines for Mexico and Wacam</a:t>
            </a:r>
            <a:endParaRPr lang="en-US" sz="1150" dirty="0"/>
          </a:p>
        </p:txBody>
      </p:sp>
      <p:sp>
        <p:nvSpPr>
          <p:cNvPr id="13" name="Text 11"/>
          <p:cNvSpPr/>
          <p:nvPr/>
        </p:nvSpPr>
        <p:spPr>
          <a:xfrm>
            <a:off x="9966960" y="1965960"/>
            <a:ext cx="1554480" cy="320040"/>
          </a:xfrm>
          <a:prstGeom prst="rect">
            <a:avLst/>
          </a:prstGeom>
          <a:noFill/>
          <a:ln/>
        </p:spPr>
        <p:txBody>
          <a:bodyPr wrap="square" rtlCol="0" anchor="ctr"/>
          <a:lstStyle/>
          <a:p>
            <a:pPr marL="0" indent="0" algn="r">
              <a:buNone/>
            </a:pPr>
            <a:r>
              <a:rPr lang="en-US" sz="900" i="1" dirty="0">
                <a:solidFill>
                  <a:srgbClr val="4F2170"/>
                </a:solidFill>
                <a:latin typeface="Calibri" pitchFamily="34" charset="0"/>
                <a:ea typeface="Calibri" pitchFamily="34" charset="-122"/>
                <a:cs typeface="Calibri" pitchFamily="34" charset="-120"/>
              </a:rPr>
              <a:t>CDRB: A</a:t>
            </a:r>
            <a:endParaRPr lang="en-US" sz="900" dirty="0"/>
          </a:p>
        </p:txBody>
      </p:sp>
      <p:sp>
        <p:nvSpPr>
          <p:cNvPr id="14" name="Shape 12"/>
          <p:cNvSpPr/>
          <p:nvPr/>
        </p:nvSpPr>
        <p:spPr>
          <a:xfrm>
            <a:off x="548640" y="2542032"/>
            <a:ext cx="411480" cy="411480"/>
          </a:xfrm>
          <a:prstGeom prst="roundRect">
            <a:avLst>
              <a:gd name="adj" fmla="val 11111"/>
            </a:avLst>
          </a:prstGeom>
          <a:solidFill>
            <a:srgbClr val="4F2170"/>
          </a:solidFill>
          <a:ln/>
        </p:spPr>
        <p:txBody>
          <a:bodyPr/>
          <a:lstStyle/>
          <a:p>
            <a:endParaRPr lang="en-US"/>
          </a:p>
        </p:txBody>
      </p:sp>
      <p:sp>
        <p:nvSpPr>
          <p:cNvPr id="15" name="Text 13"/>
          <p:cNvSpPr/>
          <p:nvPr/>
        </p:nvSpPr>
        <p:spPr>
          <a:xfrm>
            <a:off x="548640" y="2542032"/>
            <a:ext cx="411480" cy="411480"/>
          </a:xfrm>
          <a:prstGeom prst="rect">
            <a:avLst/>
          </a:prstGeom>
          <a:noFill/>
          <a:ln/>
        </p:spPr>
        <p:txBody>
          <a:bodyPr wrap="square" rtlCol="0" anchor="ctr"/>
          <a:lstStyle/>
          <a:p>
            <a:pPr marL="0" indent="0" algn="ctr">
              <a:buNone/>
            </a:pPr>
            <a:r>
              <a:rPr lang="en-US" sz="1400" dirty="0">
                <a:solidFill>
                  <a:srgbClr val="FFFFFF"/>
                </a:solidFill>
                <a:latin typeface="Arial" pitchFamily="34" charset="0"/>
                <a:ea typeface="Arial" pitchFamily="34" charset="-122"/>
                <a:cs typeface="Arial" pitchFamily="34" charset="-120"/>
              </a:rPr>
              <a:t>2</a:t>
            </a:r>
            <a:endParaRPr lang="en-US" sz="1400" dirty="0"/>
          </a:p>
        </p:txBody>
      </p:sp>
      <p:sp>
        <p:nvSpPr>
          <p:cNvPr id="16" name="Text 14"/>
          <p:cNvSpPr/>
          <p:nvPr/>
        </p:nvSpPr>
        <p:spPr>
          <a:xfrm>
            <a:off x="1097280" y="2542032"/>
            <a:ext cx="8686800" cy="502920"/>
          </a:xfrm>
          <a:prstGeom prst="rect">
            <a:avLst/>
          </a:prstGeom>
          <a:noFill/>
          <a:ln/>
        </p:spPr>
        <p:txBody>
          <a:bodyPr wrap="square" rtlCol="0" anchor="ctr"/>
          <a:lstStyle/>
          <a:p>
            <a:pPr marL="0" indent="0">
              <a:lnSpc>
                <a:spcPct val="110000"/>
              </a:lnSpc>
              <a:buNone/>
            </a:pPr>
            <a:r>
              <a:rPr lang="en-US" sz="1150" dirty="0">
                <a:solidFill>
                  <a:srgbClr val="3D3D3D"/>
                </a:solidFill>
                <a:latin typeface="Calibri" pitchFamily="34" charset="0"/>
                <a:ea typeface="Calibri" pitchFamily="34" charset="-122"/>
                <a:cs typeface="Calibri" pitchFamily="34" charset="-120"/>
              </a:rPr>
              <a:t>Manual files harmonization — populate new harmonized manual files with existing data from MX and WC</a:t>
            </a:r>
            <a:endParaRPr lang="en-US" sz="1150" dirty="0"/>
          </a:p>
        </p:txBody>
      </p:sp>
      <p:sp>
        <p:nvSpPr>
          <p:cNvPr id="17" name="Text 15"/>
          <p:cNvSpPr/>
          <p:nvPr/>
        </p:nvSpPr>
        <p:spPr>
          <a:xfrm>
            <a:off x="9966960" y="2587752"/>
            <a:ext cx="1554480" cy="320040"/>
          </a:xfrm>
          <a:prstGeom prst="rect">
            <a:avLst/>
          </a:prstGeom>
          <a:noFill/>
          <a:ln/>
        </p:spPr>
        <p:txBody>
          <a:bodyPr wrap="square" rtlCol="0" anchor="ctr"/>
          <a:lstStyle/>
          <a:p>
            <a:pPr marL="0" indent="0" algn="r">
              <a:buNone/>
            </a:pPr>
            <a:r>
              <a:rPr lang="en-US" sz="900" i="1" dirty="0">
                <a:solidFill>
                  <a:srgbClr val="4F2170"/>
                </a:solidFill>
                <a:latin typeface="Calibri" pitchFamily="34" charset="0"/>
                <a:ea typeface="Calibri" pitchFamily="34" charset="-122"/>
                <a:cs typeface="Calibri" pitchFamily="34" charset="-120"/>
              </a:rPr>
              <a:t>CDRB: C</a:t>
            </a:r>
            <a:endParaRPr lang="en-US" sz="900" dirty="0"/>
          </a:p>
        </p:txBody>
      </p:sp>
      <p:sp>
        <p:nvSpPr>
          <p:cNvPr id="18" name="Shape 16"/>
          <p:cNvSpPr/>
          <p:nvPr/>
        </p:nvSpPr>
        <p:spPr>
          <a:xfrm>
            <a:off x="548640" y="3163824"/>
            <a:ext cx="411480" cy="411480"/>
          </a:xfrm>
          <a:prstGeom prst="roundRect">
            <a:avLst>
              <a:gd name="adj" fmla="val 11111"/>
            </a:avLst>
          </a:prstGeom>
          <a:solidFill>
            <a:srgbClr val="4F2170"/>
          </a:solidFill>
          <a:ln/>
        </p:spPr>
        <p:txBody>
          <a:bodyPr/>
          <a:lstStyle/>
          <a:p>
            <a:endParaRPr lang="en-US"/>
          </a:p>
        </p:txBody>
      </p:sp>
      <p:sp>
        <p:nvSpPr>
          <p:cNvPr id="19" name="Text 17"/>
          <p:cNvSpPr/>
          <p:nvPr/>
        </p:nvSpPr>
        <p:spPr>
          <a:xfrm>
            <a:off x="548640" y="3163824"/>
            <a:ext cx="411480" cy="411480"/>
          </a:xfrm>
          <a:prstGeom prst="rect">
            <a:avLst/>
          </a:prstGeom>
          <a:noFill/>
          <a:ln/>
        </p:spPr>
        <p:txBody>
          <a:bodyPr wrap="square" rtlCol="0" anchor="ctr"/>
          <a:lstStyle/>
          <a:p>
            <a:pPr marL="0" indent="0" algn="ctr">
              <a:buNone/>
            </a:pPr>
            <a:r>
              <a:rPr lang="en-US" sz="1400" dirty="0">
                <a:solidFill>
                  <a:srgbClr val="FFFFFF"/>
                </a:solidFill>
                <a:latin typeface="Arial" pitchFamily="34" charset="0"/>
                <a:ea typeface="Arial" pitchFamily="34" charset="-122"/>
                <a:cs typeface="Arial" pitchFamily="34" charset="-120"/>
              </a:rPr>
              <a:t>3</a:t>
            </a:r>
            <a:endParaRPr lang="en-US" sz="1400" dirty="0"/>
          </a:p>
        </p:txBody>
      </p:sp>
      <p:sp>
        <p:nvSpPr>
          <p:cNvPr id="20" name="Text 18"/>
          <p:cNvSpPr/>
          <p:nvPr/>
        </p:nvSpPr>
        <p:spPr>
          <a:xfrm>
            <a:off x="1097280" y="3163824"/>
            <a:ext cx="8686800" cy="502920"/>
          </a:xfrm>
          <a:prstGeom prst="rect">
            <a:avLst/>
          </a:prstGeom>
          <a:noFill/>
          <a:ln/>
        </p:spPr>
        <p:txBody>
          <a:bodyPr wrap="square" rtlCol="0" anchor="ctr"/>
          <a:lstStyle/>
          <a:p>
            <a:pPr marL="0" indent="0">
              <a:lnSpc>
                <a:spcPct val="110000"/>
              </a:lnSpc>
              <a:buNone/>
            </a:pPr>
            <a:r>
              <a:rPr lang="en-US" sz="1150" dirty="0">
                <a:solidFill>
                  <a:srgbClr val="3D3D3D"/>
                </a:solidFill>
                <a:latin typeface="Calibri" pitchFamily="34" charset="0"/>
                <a:ea typeface="Calibri" pitchFamily="34" charset="-122"/>
                <a:cs typeface="Calibri" pitchFamily="34" charset="-120"/>
              </a:rPr>
              <a:t>Market Share optimization — review existing Nielsen ingestion; recommend resilient patterns for schema changes without pre-communication</a:t>
            </a:r>
            <a:endParaRPr lang="en-US" sz="1150" dirty="0"/>
          </a:p>
        </p:txBody>
      </p:sp>
      <p:sp>
        <p:nvSpPr>
          <p:cNvPr id="21" name="Text 19"/>
          <p:cNvSpPr/>
          <p:nvPr/>
        </p:nvSpPr>
        <p:spPr>
          <a:xfrm>
            <a:off x="9966960" y="3209544"/>
            <a:ext cx="1554480" cy="320040"/>
          </a:xfrm>
          <a:prstGeom prst="rect">
            <a:avLst/>
          </a:prstGeom>
          <a:noFill/>
          <a:ln/>
        </p:spPr>
        <p:txBody>
          <a:bodyPr wrap="square" rtlCol="0" anchor="ctr"/>
          <a:lstStyle/>
          <a:p>
            <a:pPr marL="0" indent="0" algn="r">
              <a:buNone/>
            </a:pPr>
            <a:r>
              <a:rPr lang="en-US" sz="900" i="1" dirty="0">
                <a:solidFill>
                  <a:srgbClr val="4F2170"/>
                </a:solidFill>
                <a:latin typeface="Calibri" pitchFamily="34" charset="0"/>
                <a:ea typeface="Calibri" pitchFamily="34" charset="-122"/>
                <a:cs typeface="Calibri" pitchFamily="34" charset="-120"/>
              </a:rPr>
              <a:t>CDRB: C</a:t>
            </a:r>
            <a:endParaRPr lang="en-US" sz="900" dirty="0"/>
          </a:p>
        </p:txBody>
      </p:sp>
      <p:sp>
        <p:nvSpPr>
          <p:cNvPr id="22" name="Shape 20"/>
          <p:cNvSpPr/>
          <p:nvPr/>
        </p:nvSpPr>
        <p:spPr>
          <a:xfrm>
            <a:off x="548640" y="3785616"/>
            <a:ext cx="411480" cy="411480"/>
          </a:xfrm>
          <a:prstGeom prst="roundRect">
            <a:avLst>
              <a:gd name="adj" fmla="val 11111"/>
            </a:avLst>
          </a:prstGeom>
          <a:solidFill>
            <a:srgbClr val="4F2170"/>
          </a:solidFill>
          <a:ln/>
        </p:spPr>
        <p:txBody>
          <a:bodyPr/>
          <a:lstStyle/>
          <a:p>
            <a:endParaRPr lang="en-US"/>
          </a:p>
        </p:txBody>
      </p:sp>
      <p:sp>
        <p:nvSpPr>
          <p:cNvPr id="23" name="Text 21"/>
          <p:cNvSpPr/>
          <p:nvPr/>
        </p:nvSpPr>
        <p:spPr>
          <a:xfrm>
            <a:off x="548640" y="3785616"/>
            <a:ext cx="411480" cy="411480"/>
          </a:xfrm>
          <a:prstGeom prst="rect">
            <a:avLst/>
          </a:prstGeom>
          <a:noFill/>
          <a:ln/>
        </p:spPr>
        <p:txBody>
          <a:bodyPr wrap="square" rtlCol="0" anchor="ctr"/>
          <a:lstStyle/>
          <a:p>
            <a:pPr marL="0" indent="0" algn="ctr">
              <a:buNone/>
            </a:pPr>
            <a:r>
              <a:rPr lang="en-US" sz="1400" dirty="0">
                <a:solidFill>
                  <a:srgbClr val="FFFFFF"/>
                </a:solidFill>
                <a:latin typeface="Arial" pitchFamily="34" charset="0"/>
                <a:ea typeface="Arial" pitchFamily="34" charset="-122"/>
                <a:cs typeface="Arial" pitchFamily="34" charset="-120"/>
              </a:rPr>
              <a:t>4</a:t>
            </a:r>
            <a:endParaRPr lang="en-US" sz="1400" dirty="0"/>
          </a:p>
        </p:txBody>
      </p:sp>
      <p:sp>
        <p:nvSpPr>
          <p:cNvPr id="24" name="Text 22"/>
          <p:cNvSpPr/>
          <p:nvPr/>
        </p:nvSpPr>
        <p:spPr>
          <a:xfrm>
            <a:off x="1097280" y="3785616"/>
            <a:ext cx="8686800" cy="502920"/>
          </a:xfrm>
          <a:prstGeom prst="rect">
            <a:avLst/>
          </a:prstGeom>
          <a:noFill/>
          <a:ln/>
        </p:spPr>
        <p:txBody>
          <a:bodyPr wrap="square" rtlCol="0" anchor="ctr"/>
          <a:lstStyle/>
          <a:p>
            <a:pPr marL="0" indent="0">
              <a:lnSpc>
                <a:spcPct val="110000"/>
              </a:lnSpc>
              <a:buNone/>
            </a:pPr>
            <a:r>
              <a:rPr lang="en-US" sz="1150" dirty="0">
                <a:solidFill>
                  <a:srgbClr val="3D3D3D"/>
                </a:solidFill>
                <a:latin typeface="Calibri" pitchFamily="34" charset="0"/>
                <a:ea typeface="Calibri" pitchFamily="34" charset="-122"/>
                <a:cs typeface="Calibri" pitchFamily="34" charset="-120"/>
              </a:rPr>
              <a:t>Business rules as configuration objects — AI-assisted extraction from existing GCP code to propose configurable objects</a:t>
            </a:r>
            <a:endParaRPr lang="en-US" sz="1150" dirty="0"/>
          </a:p>
        </p:txBody>
      </p:sp>
      <p:sp>
        <p:nvSpPr>
          <p:cNvPr id="25" name="Text 23"/>
          <p:cNvSpPr/>
          <p:nvPr/>
        </p:nvSpPr>
        <p:spPr>
          <a:xfrm>
            <a:off x="9966960" y="3831336"/>
            <a:ext cx="1554480" cy="320040"/>
          </a:xfrm>
          <a:prstGeom prst="rect">
            <a:avLst/>
          </a:prstGeom>
          <a:noFill/>
          <a:ln/>
        </p:spPr>
        <p:txBody>
          <a:bodyPr wrap="square" rtlCol="0" anchor="ctr"/>
          <a:lstStyle/>
          <a:p>
            <a:pPr marL="0" indent="0" algn="r">
              <a:buNone/>
            </a:pPr>
            <a:r>
              <a:rPr lang="en-US" sz="900" i="1" dirty="0">
                <a:solidFill>
                  <a:srgbClr val="4F2170"/>
                </a:solidFill>
                <a:latin typeface="Calibri" pitchFamily="34" charset="0"/>
                <a:ea typeface="Calibri" pitchFamily="34" charset="-122"/>
                <a:cs typeface="Calibri" pitchFamily="34" charset="-120"/>
              </a:rPr>
              <a:t>CDRB: C</a:t>
            </a:r>
            <a:endParaRPr lang="en-US" sz="900" dirty="0"/>
          </a:p>
        </p:txBody>
      </p:sp>
      <p:sp>
        <p:nvSpPr>
          <p:cNvPr id="26" name="Shape 24"/>
          <p:cNvSpPr/>
          <p:nvPr/>
        </p:nvSpPr>
        <p:spPr>
          <a:xfrm>
            <a:off x="548640" y="4407408"/>
            <a:ext cx="411480" cy="411480"/>
          </a:xfrm>
          <a:prstGeom prst="roundRect">
            <a:avLst>
              <a:gd name="adj" fmla="val 11111"/>
            </a:avLst>
          </a:prstGeom>
          <a:solidFill>
            <a:srgbClr val="4F2170"/>
          </a:solidFill>
          <a:ln/>
        </p:spPr>
        <p:txBody>
          <a:bodyPr/>
          <a:lstStyle/>
          <a:p>
            <a:endParaRPr lang="en-US"/>
          </a:p>
        </p:txBody>
      </p:sp>
      <p:sp>
        <p:nvSpPr>
          <p:cNvPr id="27" name="Text 25"/>
          <p:cNvSpPr/>
          <p:nvPr/>
        </p:nvSpPr>
        <p:spPr>
          <a:xfrm>
            <a:off x="548640" y="4407408"/>
            <a:ext cx="411480" cy="411480"/>
          </a:xfrm>
          <a:prstGeom prst="rect">
            <a:avLst/>
          </a:prstGeom>
          <a:noFill/>
          <a:ln/>
        </p:spPr>
        <p:txBody>
          <a:bodyPr wrap="square" rtlCol="0" anchor="ctr"/>
          <a:lstStyle/>
          <a:p>
            <a:pPr marL="0" indent="0" algn="ctr">
              <a:buNone/>
            </a:pPr>
            <a:r>
              <a:rPr lang="en-US" sz="1400" dirty="0">
                <a:solidFill>
                  <a:srgbClr val="FFFFFF"/>
                </a:solidFill>
                <a:latin typeface="Arial" pitchFamily="34" charset="0"/>
                <a:ea typeface="Arial" pitchFamily="34" charset="-122"/>
                <a:cs typeface="Arial" pitchFamily="34" charset="-120"/>
              </a:rPr>
              <a:t>5</a:t>
            </a:r>
            <a:endParaRPr lang="en-US" sz="1400" dirty="0"/>
          </a:p>
        </p:txBody>
      </p:sp>
      <p:sp>
        <p:nvSpPr>
          <p:cNvPr id="28" name="Text 26"/>
          <p:cNvSpPr/>
          <p:nvPr/>
        </p:nvSpPr>
        <p:spPr>
          <a:xfrm>
            <a:off x="1097280" y="4407408"/>
            <a:ext cx="8686800" cy="502920"/>
          </a:xfrm>
          <a:prstGeom prst="rect">
            <a:avLst/>
          </a:prstGeom>
          <a:noFill/>
          <a:ln/>
        </p:spPr>
        <p:txBody>
          <a:bodyPr wrap="square" rtlCol="0" anchor="ctr"/>
          <a:lstStyle/>
          <a:p>
            <a:pPr marL="0" indent="0">
              <a:lnSpc>
                <a:spcPct val="110000"/>
              </a:lnSpc>
              <a:buNone/>
            </a:pPr>
            <a:r>
              <a:rPr lang="en-US" sz="1150" dirty="0">
                <a:solidFill>
                  <a:srgbClr val="3D3D3D"/>
                </a:solidFill>
                <a:latin typeface="Calibri" pitchFamily="34" charset="0"/>
                <a:ea typeface="Calibri" pitchFamily="34" charset="-122"/>
                <a:cs typeface="Calibri" pitchFamily="34" charset="-120"/>
              </a:rPr>
              <a:t>Core Domain fit/gap analysis — against LA existing design, including Brazil for this case only</a:t>
            </a:r>
            <a:endParaRPr lang="en-US" sz="1150" dirty="0"/>
          </a:p>
        </p:txBody>
      </p:sp>
      <p:sp>
        <p:nvSpPr>
          <p:cNvPr id="29" name="Text 27"/>
          <p:cNvSpPr/>
          <p:nvPr/>
        </p:nvSpPr>
        <p:spPr>
          <a:xfrm>
            <a:off x="9966960" y="4453128"/>
            <a:ext cx="1554480" cy="320040"/>
          </a:xfrm>
          <a:prstGeom prst="rect">
            <a:avLst/>
          </a:prstGeom>
          <a:noFill/>
          <a:ln/>
        </p:spPr>
        <p:txBody>
          <a:bodyPr wrap="square" rtlCol="0" anchor="ctr"/>
          <a:lstStyle/>
          <a:p>
            <a:pPr marL="0" indent="0" algn="r">
              <a:buNone/>
            </a:pPr>
            <a:r>
              <a:rPr lang="en-US" sz="900" i="1" dirty="0">
                <a:solidFill>
                  <a:srgbClr val="4F2170"/>
                </a:solidFill>
                <a:latin typeface="Calibri" pitchFamily="34" charset="0"/>
                <a:ea typeface="Calibri" pitchFamily="34" charset="-122"/>
                <a:cs typeface="Calibri" pitchFamily="34" charset="-120"/>
              </a:rPr>
              <a:t>CDRB: A</a:t>
            </a:r>
            <a:endParaRPr lang="en-US" sz="900" dirty="0"/>
          </a:p>
        </p:txBody>
      </p:sp>
      <p:sp>
        <p:nvSpPr>
          <p:cNvPr id="30" name="Shape 28"/>
          <p:cNvSpPr/>
          <p:nvPr/>
        </p:nvSpPr>
        <p:spPr>
          <a:xfrm>
            <a:off x="548640" y="5029200"/>
            <a:ext cx="411480" cy="411480"/>
          </a:xfrm>
          <a:prstGeom prst="roundRect">
            <a:avLst>
              <a:gd name="adj" fmla="val 11111"/>
            </a:avLst>
          </a:prstGeom>
          <a:solidFill>
            <a:srgbClr val="4F2170"/>
          </a:solidFill>
          <a:ln/>
        </p:spPr>
        <p:txBody>
          <a:bodyPr/>
          <a:lstStyle/>
          <a:p>
            <a:endParaRPr lang="en-US"/>
          </a:p>
        </p:txBody>
      </p:sp>
      <p:sp>
        <p:nvSpPr>
          <p:cNvPr id="31" name="Text 29"/>
          <p:cNvSpPr/>
          <p:nvPr/>
        </p:nvSpPr>
        <p:spPr>
          <a:xfrm>
            <a:off x="548640" y="5029200"/>
            <a:ext cx="411480" cy="411480"/>
          </a:xfrm>
          <a:prstGeom prst="rect">
            <a:avLst/>
          </a:prstGeom>
          <a:noFill/>
          <a:ln/>
        </p:spPr>
        <p:txBody>
          <a:bodyPr wrap="square" rtlCol="0" anchor="ctr"/>
          <a:lstStyle/>
          <a:p>
            <a:pPr marL="0" indent="0" algn="ctr">
              <a:buNone/>
            </a:pPr>
            <a:r>
              <a:rPr lang="en-US" sz="1400" dirty="0">
                <a:solidFill>
                  <a:srgbClr val="FFFFFF"/>
                </a:solidFill>
                <a:latin typeface="Arial" pitchFamily="34" charset="0"/>
                <a:ea typeface="Arial" pitchFamily="34" charset="-122"/>
                <a:cs typeface="Arial" pitchFamily="34" charset="-120"/>
              </a:rPr>
              <a:t>6</a:t>
            </a:r>
            <a:endParaRPr lang="en-US" sz="1400" dirty="0"/>
          </a:p>
        </p:txBody>
      </p:sp>
      <p:sp>
        <p:nvSpPr>
          <p:cNvPr id="32" name="Text 30"/>
          <p:cNvSpPr/>
          <p:nvPr/>
        </p:nvSpPr>
        <p:spPr>
          <a:xfrm>
            <a:off x="1097280" y="5029200"/>
            <a:ext cx="8686800" cy="502920"/>
          </a:xfrm>
          <a:prstGeom prst="rect">
            <a:avLst/>
          </a:prstGeom>
          <a:noFill/>
          <a:ln/>
        </p:spPr>
        <p:txBody>
          <a:bodyPr wrap="square" rtlCol="0" anchor="ctr"/>
          <a:lstStyle/>
          <a:p>
            <a:pPr marL="0" indent="0">
              <a:lnSpc>
                <a:spcPct val="110000"/>
              </a:lnSpc>
              <a:buNone/>
            </a:pPr>
            <a:r>
              <a:rPr lang="en-US" sz="1150" dirty="0">
                <a:solidFill>
                  <a:srgbClr val="3D3D3D"/>
                </a:solidFill>
                <a:latin typeface="Calibri" pitchFamily="34" charset="0"/>
                <a:ea typeface="Calibri" pitchFamily="34" charset="-122"/>
                <a:cs typeface="Calibri" pitchFamily="34" charset="-120"/>
              </a:rPr>
              <a:t>KPI harmonization finalized — structure and material population with formulas, filters, and calculation (4-category approach)</a:t>
            </a:r>
            <a:endParaRPr lang="en-US" sz="1150" dirty="0"/>
          </a:p>
        </p:txBody>
      </p:sp>
      <p:sp>
        <p:nvSpPr>
          <p:cNvPr id="33" name="Text 31"/>
          <p:cNvSpPr/>
          <p:nvPr/>
        </p:nvSpPr>
        <p:spPr>
          <a:xfrm>
            <a:off x="9966960" y="5074920"/>
            <a:ext cx="1554480" cy="320040"/>
          </a:xfrm>
          <a:prstGeom prst="rect">
            <a:avLst/>
          </a:prstGeom>
          <a:noFill/>
          <a:ln/>
        </p:spPr>
        <p:txBody>
          <a:bodyPr wrap="square" rtlCol="0" anchor="ctr"/>
          <a:lstStyle/>
          <a:p>
            <a:pPr marL="0" indent="0" algn="r">
              <a:buNone/>
            </a:pPr>
            <a:r>
              <a:rPr lang="en-US" sz="900" i="1" dirty="0">
                <a:solidFill>
                  <a:srgbClr val="4F2170"/>
                </a:solidFill>
                <a:latin typeface="Calibri" pitchFamily="34" charset="0"/>
                <a:ea typeface="Calibri" pitchFamily="34" charset="-122"/>
                <a:cs typeface="Calibri" pitchFamily="34" charset="-120"/>
              </a:rPr>
              <a:t>CDRB: D</a:t>
            </a:r>
            <a:endParaRPr lang="en-US" sz="900" dirty="0"/>
          </a:p>
        </p:txBody>
      </p:sp>
      <p:sp>
        <p:nvSpPr>
          <p:cNvPr id="34" name="Shape 32"/>
          <p:cNvSpPr/>
          <p:nvPr/>
        </p:nvSpPr>
        <p:spPr>
          <a:xfrm>
            <a:off x="548640" y="5650992"/>
            <a:ext cx="411480" cy="411480"/>
          </a:xfrm>
          <a:prstGeom prst="roundRect">
            <a:avLst>
              <a:gd name="adj" fmla="val 11111"/>
            </a:avLst>
          </a:prstGeom>
          <a:solidFill>
            <a:srgbClr val="4F2170"/>
          </a:solidFill>
          <a:ln/>
        </p:spPr>
        <p:txBody>
          <a:bodyPr/>
          <a:lstStyle/>
          <a:p>
            <a:endParaRPr lang="en-US"/>
          </a:p>
        </p:txBody>
      </p:sp>
      <p:sp>
        <p:nvSpPr>
          <p:cNvPr id="35" name="Text 33"/>
          <p:cNvSpPr/>
          <p:nvPr/>
        </p:nvSpPr>
        <p:spPr>
          <a:xfrm>
            <a:off x="548640" y="5650992"/>
            <a:ext cx="411480" cy="411480"/>
          </a:xfrm>
          <a:prstGeom prst="rect">
            <a:avLst/>
          </a:prstGeom>
          <a:noFill/>
          <a:ln/>
        </p:spPr>
        <p:txBody>
          <a:bodyPr wrap="square" rtlCol="0" anchor="ctr"/>
          <a:lstStyle/>
          <a:p>
            <a:pPr marL="0" indent="0" algn="ctr">
              <a:buNone/>
            </a:pPr>
            <a:r>
              <a:rPr lang="en-US" sz="1400" dirty="0">
                <a:solidFill>
                  <a:srgbClr val="FFFFFF"/>
                </a:solidFill>
                <a:latin typeface="Arial" pitchFamily="34" charset="0"/>
                <a:ea typeface="Arial" pitchFamily="34" charset="-122"/>
                <a:cs typeface="Arial" pitchFamily="34" charset="-120"/>
              </a:rPr>
              <a:t>7</a:t>
            </a:r>
            <a:endParaRPr lang="en-US" sz="1400" dirty="0"/>
          </a:p>
        </p:txBody>
      </p:sp>
      <p:sp>
        <p:nvSpPr>
          <p:cNvPr id="36" name="Text 34"/>
          <p:cNvSpPr/>
          <p:nvPr/>
        </p:nvSpPr>
        <p:spPr>
          <a:xfrm>
            <a:off x="1097280" y="5650992"/>
            <a:ext cx="8686800" cy="502920"/>
          </a:xfrm>
          <a:prstGeom prst="rect">
            <a:avLst/>
          </a:prstGeom>
          <a:noFill/>
          <a:ln/>
        </p:spPr>
        <p:txBody>
          <a:bodyPr wrap="square" rtlCol="0" anchor="ctr"/>
          <a:lstStyle/>
          <a:p>
            <a:pPr marL="0" indent="0">
              <a:lnSpc>
                <a:spcPct val="110000"/>
              </a:lnSpc>
              <a:buNone/>
            </a:pPr>
            <a:r>
              <a:rPr lang="en-US" sz="1150" dirty="0">
                <a:solidFill>
                  <a:srgbClr val="3D3D3D"/>
                </a:solidFill>
                <a:latin typeface="Calibri" pitchFamily="34" charset="0"/>
                <a:ea typeface="Calibri" pitchFamily="34" charset="-122"/>
                <a:cs typeface="Calibri" pitchFamily="34" charset="-120"/>
              </a:rPr>
              <a:t>CDRB reviews register — show and apply reviews for Sections A01–A05, C01–C05, D01–D08 with planned actions</a:t>
            </a:r>
            <a:endParaRPr lang="en-US" sz="1150" dirty="0"/>
          </a:p>
        </p:txBody>
      </p:sp>
      <p:sp>
        <p:nvSpPr>
          <p:cNvPr id="37" name="Text 35"/>
          <p:cNvSpPr/>
          <p:nvPr/>
        </p:nvSpPr>
        <p:spPr>
          <a:xfrm>
            <a:off x="9966960" y="5696712"/>
            <a:ext cx="1554480" cy="320040"/>
          </a:xfrm>
          <a:prstGeom prst="rect">
            <a:avLst/>
          </a:prstGeom>
          <a:noFill/>
          <a:ln/>
        </p:spPr>
        <p:txBody>
          <a:bodyPr wrap="square" rtlCol="0" anchor="ctr"/>
          <a:lstStyle/>
          <a:p>
            <a:pPr marL="0" indent="0" algn="r">
              <a:buNone/>
            </a:pPr>
            <a:r>
              <a:rPr lang="en-US" sz="900" i="1" dirty="0">
                <a:solidFill>
                  <a:srgbClr val="4F2170"/>
                </a:solidFill>
                <a:latin typeface="Calibri" pitchFamily="34" charset="0"/>
                <a:ea typeface="Calibri" pitchFamily="34" charset="-122"/>
                <a:cs typeface="Calibri" pitchFamily="34" charset="-120"/>
              </a:rPr>
              <a:t>CDRB: A,C,D</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4F2170"/>
          </a:solidFill>
          <a:ln/>
        </p:spPr>
        <p:txBody>
          <a:bodyPr/>
          <a:lstStyle/>
          <a:p>
            <a:endParaRPr lang="en-US"/>
          </a:p>
        </p:txBody>
      </p:sp>
      <p:sp>
        <p:nvSpPr>
          <p:cNvPr id="3" name="Text 1"/>
          <p:cNvSpPr/>
          <p:nvPr/>
        </p:nvSpPr>
        <p:spPr>
          <a:xfrm>
            <a:off x="548640" y="137160"/>
            <a:ext cx="10515600" cy="502920"/>
          </a:xfrm>
          <a:prstGeom prst="rect">
            <a:avLst/>
          </a:prstGeom>
          <a:noFill/>
          <a:ln/>
        </p:spPr>
        <p:txBody>
          <a:bodyPr wrap="square" rtlCol="0" anchor="ctr"/>
          <a:lstStyle/>
          <a:p>
            <a:pPr marL="0" indent="0">
              <a:buNone/>
            </a:pPr>
            <a:r>
              <a:rPr lang="en-US" sz="2400" dirty="0">
                <a:solidFill>
                  <a:srgbClr val="FFFFFF"/>
                </a:solidFill>
                <a:latin typeface="Arial" pitchFamily="34" charset="0"/>
                <a:ea typeface="Arial" pitchFamily="34" charset="-122"/>
                <a:cs typeface="Arial" pitchFamily="34" charset="-120"/>
              </a:rPr>
              <a:t>Nov Deliverable 1: AS-IS → TO-BE Pipeline Design</a:t>
            </a:r>
            <a:endParaRPr lang="en-US" sz="2400" dirty="0"/>
          </a:p>
        </p:txBody>
      </p:sp>
      <p:sp>
        <p:nvSpPr>
          <p:cNvPr id="4" name="Text 2"/>
          <p:cNvSpPr/>
          <p:nvPr/>
        </p:nvSpPr>
        <p:spPr>
          <a:xfrm>
            <a:off x="548640" y="594360"/>
            <a:ext cx="10515600" cy="320040"/>
          </a:xfrm>
          <a:prstGeom prst="rect">
            <a:avLst/>
          </a:prstGeom>
          <a:noFill/>
          <a:ln/>
        </p:spPr>
        <p:txBody>
          <a:bodyPr wrap="square" rtlCol="0" anchor="ctr"/>
          <a:lstStyle/>
          <a:p>
            <a:pPr marL="0" indent="0">
              <a:buNone/>
            </a:pPr>
            <a:r>
              <a:rPr lang="en-US" sz="1300" dirty="0">
                <a:solidFill>
                  <a:srgbClr val="E8DFF0"/>
                </a:solidFill>
                <a:latin typeface="Calibri" pitchFamily="34" charset="0"/>
                <a:ea typeface="Calibri" pitchFamily="34" charset="-122"/>
                <a:cs typeface="Calibri" pitchFamily="34" charset="-120"/>
              </a:rPr>
              <a:t>CDRB Section A — Architecture &amp; Layering</a:t>
            </a:r>
            <a:endParaRPr lang="en-US" sz="1300" dirty="0"/>
          </a:p>
        </p:txBody>
      </p:sp>
      <p:sp>
        <p:nvSpPr>
          <p:cNvPr id="5" name="Shape 3"/>
          <p:cNvSpPr/>
          <p:nvPr/>
        </p:nvSpPr>
        <p:spPr>
          <a:xfrm>
            <a:off x="0" y="6492240"/>
            <a:ext cx="12188952" cy="365760"/>
          </a:xfrm>
          <a:prstGeom prst="rect">
            <a:avLst/>
          </a:prstGeom>
          <a:solidFill>
            <a:srgbClr val="3A1854"/>
          </a:solidFill>
          <a:ln/>
        </p:spPr>
        <p:txBody>
          <a:bodyPr/>
          <a:lstStyle/>
          <a:p>
            <a:endParaRPr lang="en-US"/>
          </a:p>
        </p:txBody>
      </p:sp>
      <p:sp>
        <p:nvSpPr>
          <p:cNvPr id="6" name="Text 4"/>
          <p:cNvSpPr/>
          <p:nvPr/>
        </p:nvSpPr>
        <p:spPr>
          <a:xfrm>
            <a:off x="548640" y="6510528"/>
            <a:ext cx="9144000" cy="320040"/>
          </a:xfrm>
          <a:prstGeom prst="rect">
            <a:avLst/>
          </a:prstGeom>
          <a:noFill/>
          <a:ln/>
        </p:spPr>
        <p:txBody>
          <a:bodyPr wrap="square" rtlCol="0" anchor="ctr"/>
          <a:lstStyle/>
          <a:p>
            <a:pPr marL="0" indent="0">
              <a:buNone/>
            </a:pPr>
            <a:r>
              <a:rPr lang="en-US" sz="900" dirty="0">
                <a:solidFill>
                  <a:srgbClr val="E8DFF0"/>
                </a:solidFill>
                <a:latin typeface="Calibri" pitchFamily="34" charset="0"/>
                <a:ea typeface="Calibri" pitchFamily="34" charset="-122"/>
                <a:cs typeface="Calibri" pitchFamily="34" charset="-120"/>
              </a:rPr>
              <a:t>LA OSA 2.0 Blueprint Workshop  |  Day 3 Morning  |  WS-1: Mexico &amp; Wacam</a:t>
            </a:r>
            <a:endParaRPr lang="en-US" sz="900" dirty="0"/>
          </a:p>
        </p:txBody>
      </p:sp>
      <p:sp>
        <p:nvSpPr>
          <p:cNvPr id="7" name="Text 5"/>
          <p:cNvSpPr/>
          <p:nvPr/>
        </p:nvSpPr>
        <p:spPr>
          <a:xfrm>
            <a:off x="10972800" y="6510528"/>
            <a:ext cx="914400" cy="320040"/>
          </a:xfrm>
          <a:prstGeom prst="rect">
            <a:avLst/>
          </a:prstGeom>
          <a:noFill/>
          <a:ln/>
        </p:spPr>
        <p:txBody>
          <a:bodyPr wrap="square" rtlCol="0" anchor="ctr"/>
          <a:lstStyle/>
          <a:p>
            <a:pPr marL="0" indent="0" algn="r">
              <a:buNone/>
            </a:pPr>
            <a:r>
              <a:rPr lang="en-US" sz="900" dirty="0">
                <a:solidFill>
                  <a:srgbClr val="E8DFF0"/>
                </a:solidFill>
                <a:latin typeface="Calibri" pitchFamily="34" charset="0"/>
                <a:ea typeface="Calibri" pitchFamily="34" charset="-122"/>
                <a:cs typeface="Calibri" pitchFamily="34" charset="-120"/>
              </a:rPr>
              <a:t>7 / 20</a:t>
            </a:r>
            <a:endParaRPr lang="en-US" sz="900" dirty="0"/>
          </a:p>
        </p:txBody>
      </p:sp>
      <p:sp>
        <p:nvSpPr>
          <p:cNvPr id="8" name="Text 6"/>
          <p:cNvSpPr/>
          <p:nvPr/>
        </p:nvSpPr>
        <p:spPr>
          <a:xfrm>
            <a:off x="548640" y="1280160"/>
            <a:ext cx="10972800" cy="457200"/>
          </a:xfrm>
          <a:prstGeom prst="rect">
            <a:avLst/>
          </a:prstGeom>
          <a:noFill/>
          <a:ln/>
        </p:spPr>
        <p:txBody>
          <a:bodyPr wrap="square" rtlCol="0" anchor="ctr"/>
          <a:lstStyle/>
          <a:p>
            <a:pPr marL="0" indent="0">
              <a:lnSpc>
                <a:spcPct val="120000"/>
              </a:lnSpc>
              <a:buNone/>
            </a:pPr>
            <a:r>
              <a:rPr lang="en-US" sz="1300" dirty="0">
                <a:solidFill>
                  <a:srgbClr val="3D3D3D"/>
                </a:solidFill>
                <a:latin typeface="Calibri" pitchFamily="34" charset="0"/>
                <a:ea typeface="Calibri" pitchFamily="34" charset="-122"/>
                <a:cs typeface="Calibri" pitchFamily="34" charset="-120"/>
              </a:rPr>
              <a:t>Use existing GCP stored procedures as the starting reference, then design TO-BE pipelines following the 8-block architecture agreed on Day 2.</a:t>
            </a:r>
            <a:endParaRPr lang="en-US" sz="1300" dirty="0"/>
          </a:p>
        </p:txBody>
      </p:sp>
      <p:sp>
        <p:nvSpPr>
          <p:cNvPr id="9" name="Shape 7"/>
          <p:cNvSpPr/>
          <p:nvPr/>
        </p:nvSpPr>
        <p:spPr>
          <a:xfrm>
            <a:off x="548640" y="1920240"/>
            <a:ext cx="5029200" cy="3474720"/>
          </a:xfrm>
          <a:prstGeom prst="roundRect">
            <a:avLst>
              <a:gd name="adj" fmla="val 2105"/>
            </a:avLst>
          </a:prstGeom>
          <a:solidFill>
            <a:srgbClr val="FFF8F0"/>
          </a:solidFill>
          <a:ln w="19050">
            <a:solidFill>
              <a:srgbClr val="E18719"/>
            </a:solidFill>
            <a:prstDash val="solid"/>
          </a:ln>
        </p:spPr>
        <p:txBody>
          <a:bodyPr/>
          <a:lstStyle/>
          <a:p>
            <a:endParaRPr lang="en-US"/>
          </a:p>
        </p:txBody>
      </p:sp>
      <p:sp>
        <p:nvSpPr>
          <p:cNvPr id="10" name="Text 8"/>
          <p:cNvSpPr/>
          <p:nvPr/>
        </p:nvSpPr>
        <p:spPr>
          <a:xfrm>
            <a:off x="731520" y="2011680"/>
            <a:ext cx="4663440" cy="320040"/>
          </a:xfrm>
          <a:prstGeom prst="rect">
            <a:avLst/>
          </a:prstGeom>
          <a:noFill/>
          <a:ln/>
        </p:spPr>
        <p:txBody>
          <a:bodyPr wrap="square" rtlCol="0" anchor="ctr"/>
          <a:lstStyle/>
          <a:p>
            <a:pPr marL="0" indent="0">
              <a:buNone/>
            </a:pPr>
            <a:r>
              <a:rPr lang="en-US" sz="1400" b="1" dirty="0">
                <a:solidFill>
                  <a:srgbClr val="E18719"/>
                </a:solidFill>
                <a:latin typeface="Arial" pitchFamily="34" charset="0"/>
                <a:ea typeface="Arial" pitchFamily="34" charset="-122"/>
                <a:cs typeface="Arial" pitchFamily="34" charset="-120"/>
              </a:rPr>
              <a:t>AS-IS (GCP Current State)</a:t>
            </a:r>
            <a:endParaRPr lang="en-US" sz="1400" dirty="0"/>
          </a:p>
        </p:txBody>
      </p:sp>
      <p:sp>
        <p:nvSpPr>
          <p:cNvPr id="11" name="Text 9"/>
          <p:cNvSpPr/>
          <p:nvPr/>
        </p:nvSpPr>
        <p:spPr>
          <a:xfrm>
            <a:off x="822960" y="2423160"/>
            <a:ext cx="4480560" cy="2834640"/>
          </a:xfrm>
          <a:prstGeom prst="rect">
            <a:avLst/>
          </a:prstGeom>
          <a:noFill/>
          <a:ln/>
        </p:spPr>
        <p:txBody>
          <a:bodyPr wrap="square" rtlCol="0" anchor="t"/>
          <a:lstStyle/>
          <a:p>
            <a:pPr marL="0" indent="0">
              <a:lnSpc>
                <a:spcPct val="135000"/>
              </a:lnSpc>
              <a:buNone/>
            </a:pPr>
            <a:r>
              <a:rPr lang="en-US" sz="1150" dirty="0">
                <a:solidFill>
                  <a:srgbClr val="3D3D3D"/>
                </a:solidFill>
                <a:latin typeface="Calibri" pitchFamily="34" charset="0"/>
                <a:ea typeface="Calibri" pitchFamily="34" charset="-122"/>
                <a:cs typeface="Calibri" pitchFamily="34" charset="-120"/>
              </a:rPr>
              <a:t>• Existing GCP stored procedures for MX &amp; WC
• Documented header in every procedure
• Consistent exception handling with status logging
• Deterministic hashed surrogate keys
• Watermark-driven incremental processing
• Narrow KPI model with unpivot (SISO)
• Multi-calendar model (natural, MDLZ retail, O9)
• SISO rules documented with BRD references</a:t>
            </a:r>
            <a:endParaRPr lang="en-US" sz="1150" dirty="0"/>
          </a:p>
        </p:txBody>
      </p:sp>
      <p:sp>
        <p:nvSpPr>
          <p:cNvPr id="12" name="Text 10"/>
          <p:cNvSpPr/>
          <p:nvPr/>
        </p:nvSpPr>
        <p:spPr>
          <a:xfrm>
            <a:off x="5669280" y="3200400"/>
            <a:ext cx="731520" cy="548640"/>
          </a:xfrm>
          <a:prstGeom prst="rect">
            <a:avLst/>
          </a:prstGeom>
          <a:noFill/>
          <a:ln/>
        </p:spPr>
        <p:txBody>
          <a:bodyPr wrap="square" rtlCol="0" anchor="ctr"/>
          <a:lstStyle/>
          <a:p>
            <a:pPr marL="0" indent="0" algn="ctr">
              <a:buNone/>
            </a:pPr>
            <a:r>
              <a:rPr lang="en-US" sz="3600" dirty="0">
                <a:solidFill>
                  <a:srgbClr val="4F2170"/>
                </a:solidFill>
                <a:latin typeface="Arial" pitchFamily="34" charset="0"/>
                <a:ea typeface="Arial" pitchFamily="34" charset="-122"/>
                <a:cs typeface="Arial" pitchFamily="34" charset="-120"/>
              </a:rPr>
              <a:t>→</a:t>
            </a:r>
            <a:endParaRPr lang="en-US" sz="3600" dirty="0"/>
          </a:p>
        </p:txBody>
      </p:sp>
      <p:sp>
        <p:nvSpPr>
          <p:cNvPr id="13" name="Shape 11"/>
          <p:cNvSpPr/>
          <p:nvPr/>
        </p:nvSpPr>
        <p:spPr>
          <a:xfrm>
            <a:off x="6492240" y="1920240"/>
            <a:ext cx="5029200" cy="3474720"/>
          </a:xfrm>
          <a:prstGeom prst="roundRect">
            <a:avLst>
              <a:gd name="adj" fmla="val 2105"/>
            </a:avLst>
          </a:prstGeom>
          <a:solidFill>
            <a:srgbClr val="E8F5E4"/>
          </a:solidFill>
          <a:ln w="19050">
            <a:solidFill>
              <a:srgbClr val="287819"/>
            </a:solidFill>
            <a:prstDash val="solid"/>
          </a:ln>
        </p:spPr>
        <p:txBody>
          <a:bodyPr/>
          <a:lstStyle/>
          <a:p>
            <a:endParaRPr lang="en-US"/>
          </a:p>
        </p:txBody>
      </p:sp>
      <p:sp>
        <p:nvSpPr>
          <p:cNvPr id="14" name="Text 12"/>
          <p:cNvSpPr/>
          <p:nvPr/>
        </p:nvSpPr>
        <p:spPr>
          <a:xfrm>
            <a:off x="6675120" y="2011680"/>
            <a:ext cx="4663440" cy="320040"/>
          </a:xfrm>
          <a:prstGeom prst="rect">
            <a:avLst/>
          </a:prstGeom>
          <a:noFill/>
          <a:ln/>
        </p:spPr>
        <p:txBody>
          <a:bodyPr wrap="square" rtlCol="0" anchor="ctr"/>
          <a:lstStyle/>
          <a:p>
            <a:pPr marL="0" indent="0">
              <a:buNone/>
            </a:pPr>
            <a:r>
              <a:rPr lang="en-US" sz="1400" b="1" dirty="0">
                <a:solidFill>
                  <a:srgbClr val="287819"/>
                </a:solidFill>
                <a:latin typeface="Arial" pitchFamily="34" charset="0"/>
                <a:ea typeface="Arial" pitchFamily="34" charset="-122"/>
                <a:cs typeface="Arial" pitchFamily="34" charset="-120"/>
              </a:rPr>
              <a:t>TO-BE (Databricks 8-Block Architecture)</a:t>
            </a:r>
            <a:endParaRPr lang="en-US" sz="1400" dirty="0"/>
          </a:p>
        </p:txBody>
      </p:sp>
      <p:sp>
        <p:nvSpPr>
          <p:cNvPr id="15" name="Text 13"/>
          <p:cNvSpPr/>
          <p:nvPr/>
        </p:nvSpPr>
        <p:spPr>
          <a:xfrm>
            <a:off x="6675120" y="2423160"/>
            <a:ext cx="4663440" cy="2834640"/>
          </a:xfrm>
          <a:prstGeom prst="rect">
            <a:avLst/>
          </a:prstGeom>
          <a:noFill/>
          <a:ln/>
        </p:spPr>
        <p:txBody>
          <a:bodyPr wrap="square" rtlCol="0" anchor="t"/>
          <a:lstStyle/>
          <a:p>
            <a:pPr marL="0" indent="0">
              <a:lnSpc>
                <a:spcPct val="135000"/>
              </a:lnSpc>
              <a:buNone/>
            </a:pPr>
            <a:r>
              <a:rPr lang="en-US" sz="1150" dirty="0">
                <a:solidFill>
                  <a:srgbClr val="3D3D3D"/>
                </a:solidFill>
                <a:latin typeface="Calibri" pitchFamily="34" charset="0"/>
                <a:ea typeface="Calibri" pitchFamily="34" charset="-122"/>
                <a:cs typeface="Calibri" pitchFamily="34" charset="-120"/>
              </a:rPr>
              <a:t>• 8-block procedure template applied to every SP
• Market as a parameter — zero code branches
• 10 config tables + 8 shared functions
• 6 canonical core domain entities (D1–D6)
• KPI engine: calculate once, expand late
• Generic 6-step publish layer
• Unity Catalog metric views + Genie spaces
• CDRB Sections A–L as quality gates</a:t>
            </a:r>
            <a:endParaRPr lang="en-US" sz="1150" dirty="0"/>
          </a:p>
        </p:txBody>
      </p:sp>
      <p:sp>
        <p:nvSpPr>
          <p:cNvPr id="16" name="Text 14"/>
          <p:cNvSpPr/>
          <p:nvPr/>
        </p:nvSpPr>
        <p:spPr>
          <a:xfrm>
            <a:off x="548640" y="5623560"/>
            <a:ext cx="10972800" cy="365760"/>
          </a:xfrm>
          <a:prstGeom prst="rect">
            <a:avLst/>
          </a:prstGeom>
          <a:noFill/>
          <a:ln/>
        </p:spPr>
        <p:txBody>
          <a:bodyPr wrap="square" rtlCol="0" anchor="ctr"/>
          <a:lstStyle/>
          <a:p>
            <a:pPr marL="0" indent="0">
              <a:buNone/>
            </a:pPr>
            <a:r>
              <a:rPr lang="en-US" sz="1100" i="1" dirty="0">
                <a:solidFill>
                  <a:srgbClr val="4F2170"/>
                </a:solidFill>
                <a:latin typeface="Calibri" pitchFamily="34" charset="0"/>
                <a:ea typeface="Calibri" pitchFamily="34" charset="-122"/>
                <a:cs typeface="Calibri" pitchFamily="34" charset="-120"/>
              </a:rPr>
              <a:t>Every existing GCP procedure is mapped to its replacement in the new architecture. This is the foundation for the December build.</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4F2170"/>
          </a:solidFill>
          <a:ln/>
        </p:spPr>
        <p:txBody>
          <a:bodyPr/>
          <a:lstStyle/>
          <a:p>
            <a:endParaRPr lang="en-US"/>
          </a:p>
        </p:txBody>
      </p:sp>
      <p:sp>
        <p:nvSpPr>
          <p:cNvPr id="3" name="Text 1"/>
          <p:cNvSpPr/>
          <p:nvPr/>
        </p:nvSpPr>
        <p:spPr>
          <a:xfrm>
            <a:off x="548640" y="137160"/>
            <a:ext cx="10515600" cy="502920"/>
          </a:xfrm>
          <a:prstGeom prst="rect">
            <a:avLst/>
          </a:prstGeom>
          <a:noFill/>
          <a:ln/>
        </p:spPr>
        <p:txBody>
          <a:bodyPr wrap="square" rtlCol="0" anchor="ctr"/>
          <a:lstStyle/>
          <a:p>
            <a:pPr marL="0" indent="0">
              <a:buNone/>
            </a:pPr>
            <a:r>
              <a:rPr lang="en-US" sz="2400" dirty="0">
                <a:solidFill>
                  <a:srgbClr val="FFFFFF"/>
                </a:solidFill>
                <a:latin typeface="Arial" pitchFamily="34" charset="0"/>
                <a:ea typeface="Arial" pitchFamily="34" charset="-122"/>
                <a:cs typeface="Arial" pitchFamily="34" charset="-120"/>
              </a:rPr>
              <a:t>Nov Deliverables 2 &amp; 3: Manual Files &amp; Market Share</a:t>
            </a:r>
            <a:endParaRPr lang="en-US" sz="2400" dirty="0"/>
          </a:p>
        </p:txBody>
      </p:sp>
      <p:sp>
        <p:nvSpPr>
          <p:cNvPr id="4" name="Text 2"/>
          <p:cNvSpPr/>
          <p:nvPr/>
        </p:nvSpPr>
        <p:spPr>
          <a:xfrm>
            <a:off x="548640" y="594360"/>
            <a:ext cx="10515600" cy="320040"/>
          </a:xfrm>
          <a:prstGeom prst="rect">
            <a:avLst/>
          </a:prstGeom>
          <a:noFill/>
          <a:ln/>
        </p:spPr>
        <p:txBody>
          <a:bodyPr wrap="square" rtlCol="0" anchor="ctr"/>
          <a:lstStyle/>
          <a:p>
            <a:pPr marL="0" indent="0">
              <a:buNone/>
            </a:pPr>
            <a:r>
              <a:rPr lang="en-US" sz="1300" dirty="0">
                <a:solidFill>
                  <a:srgbClr val="E8DFF0"/>
                </a:solidFill>
                <a:latin typeface="Calibri" pitchFamily="34" charset="0"/>
                <a:ea typeface="Calibri" pitchFamily="34" charset="-122"/>
                <a:cs typeface="Calibri" pitchFamily="34" charset="-120"/>
              </a:rPr>
              <a:t>CDRB Section C — Configuration: Business Rules as Data</a:t>
            </a:r>
            <a:endParaRPr lang="en-US" sz="1300" dirty="0"/>
          </a:p>
        </p:txBody>
      </p:sp>
      <p:sp>
        <p:nvSpPr>
          <p:cNvPr id="5" name="Shape 3"/>
          <p:cNvSpPr/>
          <p:nvPr/>
        </p:nvSpPr>
        <p:spPr>
          <a:xfrm>
            <a:off x="0" y="6492240"/>
            <a:ext cx="12188952" cy="365760"/>
          </a:xfrm>
          <a:prstGeom prst="rect">
            <a:avLst/>
          </a:prstGeom>
          <a:solidFill>
            <a:srgbClr val="3A1854"/>
          </a:solidFill>
          <a:ln/>
        </p:spPr>
        <p:txBody>
          <a:bodyPr/>
          <a:lstStyle/>
          <a:p>
            <a:endParaRPr lang="en-US"/>
          </a:p>
        </p:txBody>
      </p:sp>
      <p:sp>
        <p:nvSpPr>
          <p:cNvPr id="6" name="Text 4"/>
          <p:cNvSpPr/>
          <p:nvPr/>
        </p:nvSpPr>
        <p:spPr>
          <a:xfrm>
            <a:off x="548640" y="6510528"/>
            <a:ext cx="9144000" cy="320040"/>
          </a:xfrm>
          <a:prstGeom prst="rect">
            <a:avLst/>
          </a:prstGeom>
          <a:noFill/>
          <a:ln/>
        </p:spPr>
        <p:txBody>
          <a:bodyPr wrap="square" rtlCol="0" anchor="ctr"/>
          <a:lstStyle/>
          <a:p>
            <a:pPr marL="0" indent="0">
              <a:buNone/>
            </a:pPr>
            <a:r>
              <a:rPr lang="en-US" sz="900" dirty="0">
                <a:solidFill>
                  <a:srgbClr val="E8DFF0"/>
                </a:solidFill>
                <a:latin typeface="Calibri" pitchFamily="34" charset="0"/>
                <a:ea typeface="Calibri" pitchFamily="34" charset="-122"/>
                <a:cs typeface="Calibri" pitchFamily="34" charset="-120"/>
              </a:rPr>
              <a:t>LA OSA 2.0 Blueprint Workshop  |  Day 3 Morning  |  WS-1: Mexico &amp; Wacam</a:t>
            </a:r>
            <a:endParaRPr lang="en-US" sz="900" dirty="0"/>
          </a:p>
        </p:txBody>
      </p:sp>
      <p:sp>
        <p:nvSpPr>
          <p:cNvPr id="7" name="Text 5"/>
          <p:cNvSpPr/>
          <p:nvPr/>
        </p:nvSpPr>
        <p:spPr>
          <a:xfrm>
            <a:off x="10972800" y="6510528"/>
            <a:ext cx="914400" cy="320040"/>
          </a:xfrm>
          <a:prstGeom prst="rect">
            <a:avLst/>
          </a:prstGeom>
          <a:noFill/>
          <a:ln/>
        </p:spPr>
        <p:txBody>
          <a:bodyPr wrap="square" rtlCol="0" anchor="ctr"/>
          <a:lstStyle/>
          <a:p>
            <a:pPr marL="0" indent="0" algn="r">
              <a:buNone/>
            </a:pPr>
            <a:r>
              <a:rPr lang="en-US" sz="900" dirty="0">
                <a:solidFill>
                  <a:srgbClr val="E8DFF0"/>
                </a:solidFill>
                <a:latin typeface="Calibri" pitchFamily="34" charset="0"/>
                <a:ea typeface="Calibri" pitchFamily="34" charset="-122"/>
                <a:cs typeface="Calibri" pitchFamily="34" charset="-120"/>
              </a:rPr>
              <a:t>8 / 20</a:t>
            </a:r>
            <a:endParaRPr lang="en-US" sz="900" dirty="0"/>
          </a:p>
        </p:txBody>
      </p:sp>
      <p:sp>
        <p:nvSpPr>
          <p:cNvPr id="8" name="Shape 6"/>
          <p:cNvSpPr/>
          <p:nvPr/>
        </p:nvSpPr>
        <p:spPr>
          <a:xfrm>
            <a:off x="548640" y="1325880"/>
            <a:ext cx="5303520" cy="4114800"/>
          </a:xfrm>
          <a:prstGeom prst="roundRect">
            <a:avLst>
              <a:gd name="adj" fmla="val 1778"/>
            </a:avLst>
          </a:prstGeom>
          <a:solidFill>
            <a:srgbClr val="FFF3E5"/>
          </a:solidFill>
          <a:ln w="19050">
            <a:solidFill>
              <a:srgbClr val="E18719"/>
            </a:solidFill>
            <a:prstDash val="solid"/>
          </a:ln>
        </p:spPr>
        <p:txBody>
          <a:bodyPr/>
          <a:lstStyle/>
          <a:p>
            <a:endParaRPr lang="en-US"/>
          </a:p>
        </p:txBody>
      </p:sp>
      <p:sp>
        <p:nvSpPr>
          <p:cNvPr id="9" name="Shape 7"/>
          <p:cNvSpPr/>
          <p:nvPr/>
        </p:nvSpPr>
        <p:spPr>
          <a:xfrm>
            <a:off x="548640" y="1325880"/>
            <a:ext cx="5303520" cy="457200"/>
          </a:xfrm>
          <a:prstGeom prst="roundRect">
            <a:avLst>
              <a:gd name="adj" fmla="val 10000"/>
            </a:avLst>
          </a:prstGeom>
          <a:solidFill>
            <a:srgbClr val="E18719"/>
          </a:solidFill>
          <a:ln/>
        </p:spPr>
        <p:txBody>
          <a:bodyPr/>
          <a:lstStyle/>
          <a:p>
            <a:endParaRPr lang="en-US"/>
          </a:p>
        </p:txBody>
      </p:sp>
      <p:sp>
        <p:nvSpPr>
          <p:cNvPr id="10" name="Text 8"/>
          <p:cNvSpPr/>
          <p:nvPr/>
        </p:nvSpPr>
        <p:spPr>
          <a:xfrm>
            <a:off x="731520" y="1344168"/>
            <a:ext cx="4937760" cy="411480"/>
          </a:xfrm>
          <a:prstGeom prst="rect">
            <a:avLst/>
          </a:prstGeom>
          <a:noFill/>
          <a:ln/>
        </p:spPr>
        <p:txBody>
          <a:bodyPr wrap="square" rtlCol="0" anchor="ctr"/>
          <a:lstStyle/>
          <a:p>
            <a:pPr marL="0" indent="0">
              <a:buNone/>
            </a:pPr>
            <a:r>
              <a:rPr lang="en-US" sz="1400" b="1" dirty="0">
                <a:solidFill>
                  <a:srgbClr val="FFFFFF"/>
                </a:solidFill>
                <a:latin typeface="Arial" pitchFamily="34" charset="0"/>
                <a:ea typeface="Arial" pitchFamily="34" charset="-122"/>
                <a:cs typeface="Arial" pitchFamily="34" charset="-120"/>
              </a:rPr>
              <a:t>②  Manual Files Harmonization</a:t>
            </a:r>
            <a:endParaRPr lang="en-US" sz="1400" dirty="0"/>
          </a:p>
        </p:txBody>
      </p:sp>
      <p:sp>
        <p:nvSpPr>
          <p:cNvPr id="11" name="Text 9"/>
          <p:cNvSpPr/>
          <p:nvPr/>
        </p:nvSpPr>
        <p:spPr>
          <a:xfrm>
            <a:off x="777240" y="1920240"/>
            <a:ext cx="4846320" cy="3291840"/>
          </a:xfrm>
          <a:prstGeom prst="rect">
            <a:avLst/>
          </a:prstGeom>
          <a:noFill/>
          <a:ln/>
        </p:spPr>
        <p:txBody>
          <a:bodyPr wrap="square" rtlCol="0" anchor="t"/>
          <a:lstStyle/>
          <a:p>
            <a:pPr marL="0" indent="0">
              <a:lnSpc>
                <a:spcPct val="125000"/>
              </a:lnSpc>
              <a:buNone/>
            </a:pPr>
            <a:r>
              <a:rPr lang="en-US" sz="1200" dirty="0">
                <a:solidFill>
                  <a:srgbClr val="3D3D3D"/>
                </a:solidFill>
                <a:latin typeface="Calibri" pitchFamily="34" charset="0"/>
                <a:ea typeface="Calibri" pitchFamily="34" charset="-122"/>
                <a:cs typeface="Calibri" pitchFamily="34" charset="-120"/>
              </a:rPr>
              <a:t>Harmonize and populate the new harmonized manual files with existing data from MX and WC:
</a:t>
            </a:r>
            <a:r>
              <a:rPr lang="en-US" sz="1150" dirty="0">
                <a:solidFill>
                  <a:srgbClr val="3D3D3D"/>
                </a:solidFill>
                <a:latin typeface="Calibri" pitchFamily="34" charset="0"/>
                <a:ea typeface="Calibri" pitchFamily="34" charset="-122"/>
                <a:cs typeface="Calibri" pitchFamily="34" charset="-120"/>
              </a:rPr>
              <a:t>• ALT hierarchies
• SISO rules
• Financial ratios
• Targets
</a:t>
            </a:r>
            <a:r>
              <a:rPr lang="en-US" sz="1150" i="1" dirty="0">
                <a:solidFill>
                  <a:srgbClr val="4F2170"/>
                </a:solidFill>
                <a:latin typeface="Calibri" pitchFamily="34" charset="0"/>
                <a:ea typeface="Calibri" pitchFamily="34" charset="-122"/>
                <a:cs typeface="Calibri" pitchFamily="34" charset="-120"/>
              </a:rPr>
              <a:t>Design the harmonized template that will later extend to full LA scope.</a:t>
            </a:r>
            <a:endParaRPr lang="en-US" sz="1200" dirty="0"/>
          </a:p>
        </p:txBody>
      </p:sp>
      <p:sp>
        <p:nvSpPr>
          <p:cNvPr id="12" name="Shape 10"/>
          <p:cNvSpPr/>
          <p:nvPr/>
        </p:nvSpPr>
        <p:spPr>
          <a:xfrm>
            <a:off x="6309360" y="1325880"/>
            <a:ext cx="5303520" cy="4114800"/>
          </a:xfrm>
          <a:prstGeom prst="roundRect">
            <a:avLst>
              <a:gd name="adj" fmla="val 1778"/>
            </a:avLst>
          </a:prstGeom>
          <a:solidFill>
            <a:srgbClr val="FFF3E5"/>
          </a:solidFill>
          <a:ln w="19050">
            <a:solidFill>
              <a:srgbClr val="E18719"/>
            </a:solidFill>
            <a:prstDash val="solid"/>
          </a:ln>
        </p:spPr>
        <p:txBody>
          <a:bodyPr/>
          <a:lstStyle/>
          <a:p>
            <a:endParaRPr lang="en-US"/>
          </a:p>
        </p:txBody>
      </p:sp>
      <p:sp>
        <p:nvSpPr>
          <p:cNvPr id="13" name="Shape 11"/>
          <p:cNvSpPr/>
          <p:nvPr/>
        </p:nvSpPr>
        <p:spPr>
          <a:xfrm>
            <a:off x="6309360" y="1325880"/>
            <a:ext cx="5303520" cy="457200"/>
          </a:xfrm>
          <a:prstGeom prst="roundRect">
            <a:avLst>
              <a:gd name="adj" fmla="val 10000"/>
            </a:avLst>
          </a:prstGeom>
          <a:solidFill>
            <a:srgbClr val="E18719"/>
          </a:solidFill>
          <a:ln/>
        </p:spPr>
        <p:txBody>
          <a:bodyPr/>
          <a:lstStyle/>
          <a:p>
            <a:endParaRPr lang="en-US"/>
          </a:p>
        </p:txBody>
      </p:sp>
      <p:sp>
        <p:nvSpPr>
          <p:cNvPr id="14" name="Text 12"/>
          <p:cNvSpPr/>
          <p:nvPr/>
        </p:nvSpPr>
        <p:spPr>
          <a:xfrm>
            <a:off x="6492240" y="1344168"/>
            <a:ext cx="4937760" cy="411480"/>
          </a:xfrm>
          <a:prstGeom prst="rect">
            <a:avLst/>
          </a:prstGeom>
          <a:noFill/>
          <a:ln/>
        </p:spPr>
        <p:txBody>
          <a:bodyPr wrap="square" rtlCol="0" anchor="ctr"/>
          <a:lstStyle/>
          <a:p>
            <a:pPr marL="0" indent="0">
              <a:buNone/>
            </a:pPr>
            <a:r>
              <a:rPr lang="en-US" sz="1400" b="1" dirty="0">
                <a:solidFill>
                  <a:srgbClr val="FFFFFF"/>
                </a:solidFill>
                <a:latin typeface="Arial" pitchFamily="34" charset="0"/>
                <a:ea typeface="Arial" pitchFamily="34" charset="-122"/>
                <a:cs typeface="Arial" pitchFamily="34" charset="-120"/>
              </a:rPr>
              <a:t>③  Market Share Optimization</a:t>
            </a:r>
            <a:endParaRPr lang="en-US" sz="1400" dirty="0"/>
          </a:p>
        </p:txBody>
      </p:sp>
      <p:sp>
        <p:nvSpPr>
          <p:cNvPr id="15" name="Text 13"/>
          <p:cNvSpPr/>
          <p:nvPr/>
        </p:nvSpPr>
        <p:spPr>
          <a:xfrm>
            <a:off x="6537960" y="1920240"/>
            <a:ext cx="4846320" cy="3291840"/>
          </a:xfrm>
          <a:prstGeom prst="rect">
            <a:avLst/>
          </a:prstGeom>
          <a:noFill/>
          <a:ln/>
        </p:spPr>
        <p:txBody>
          <a:bodyPr wrap="square" rtlCol="0" anchor="t"/>
          <a:lstStyle/>
          <a:p>
            <a:pPr marL="0" indent="0">
              <a:lnSpc>
                <a:spcPct val="125000"/>
              </a:lnSpc>
              <a:buNone/>
            </a:pPr>
            <a:r>
              <a:rPr lang="en-US" sz="1200" dirty="0">
                <a:solidFill>
                  <a:srgbClr val="3D3D3D"/>
                </a:solidFill>
                <a:latin typeface="Calibri" pitchFamily="34" charset="0"/>
                <a:ea typeface="Calibri" pitchFamily="34" charset="-122"/>
                <a:cs typeface="Calibri" pitchFamily="34" charset="-120"/>
              </a:rPr>
              <a:t>Review existing Nielsen ingestion and provide recommendations for optimization:
</a:t>
            </a:r>
            <a:r>
              <a:rPr lang="en-US" sz="1150" dirty="0">
                <a:solidFill>
                  <a:srgbClr val="3D3D3D"/>
                </a:solidFill>
                <a:latin typeface="Calibri" pitchFamily="34" charset="0"/>
                <a:ea typeface="Calibri" pitchFamily="34" charset="-122"/>
                <a:cs typeface="Calibri" pitchFamily="34" charset="-120"/>
              </a:rPr>
              <a:t>• Nielsen changes schema without pre-communication
• Design resilient ingestion patterns
• Schema detection and adaptive handling
• Alerting when schema changes detected
</a:t>
            </a:r>
            <a:r>
              <a:rPr lang="en-US" sz="1150" i="1" dirty="0">
                <a:solidFill>
                  <a:srgbClr val="4F2170"/>
                </a:solidFill>
                <a:latin typeface="Calibri" pitchFamily="34" charset="0"/>
                <a:ea typeface="Calibri" pitchFamily="34" charset="-122"/>
                <a:cs typeface="Calibri" pitchFamily="34" charset="-120"/>
              </a:rPr>
              <a:t>Ensures Market Share calculations remain trustworthy even when source formats shift.</a:t>
            </a:r>
            <a:endParaRPr lang="en-US" sz="1200" dirty="0"/>
          </a:p>
        </p:txBody>
      </p:sp>
      <p:sp>
        <p:nvSpPr>
          <p:cNvPr id="16" name="Shape 14"/>
          <p:cNvSpPr/>
          <p:nvPr/>
        </p:nvSpPr>
        <p:spPr>
          <a:xfrm>
            <a:off x="548640" y="5669280"/>
            <a:ext cx="11064240" cy="457200"/>
          </a:xfrm>
          <a:prstGeom prst="roundRect">
            <a:avLst>
              <a:gd name="adj" fmla="val 10000"/>
            </a:avLst>
          </a:prstGeom>
          <a:solidFill>
            <a:srgbClr val="E8DFF0"/>
          </a:solidFill>
          <a:ln/>
        </p:spPr>
        <p:txBody>
          <a:bodyPr/>
          <a:lstStyle/>
          <a:p>
            <a:endParaRPr lang="en-US"/>
          </a:p>
        </p:txBody>
      </p:sp>
      <p:sp>
        <p:nvSpPr>
          <p:cNvPr id="17" name="Text 15"/>
          <p:cNvSpPr/>
          <p:nvPr/>
        </p:nvSpPr>
        <p:spPr>
          <a:xfrm>
            <a:off x="731520" y="5687568"/>
            <a:ext cx="10515600" cy="411480"/>
          </a:xfrm>
          <a:prstGeom prst="rect">
            <a:avLst/>
          </a:prstGeom>
          <a:noFill/>
          <a:ln/>
        </p:spPr>
        <p:txBody>
          <a:bodyPr wrap="square" rtlCol="0" anchor="ctr"/>
          <a:lstStyle/>
          <a:p>
            <a:pPr marL="0" indent="0">
              <a:buNone/>
            </a:pPr>
            <a:r>
              <a:rPr lang="en-US" sz="1100" i="1" dirty="0">
                <a:solidFill>
                  <a:srgbClr val="4F2170"/>
                </a:solidFill>
                <a:latin typeface="Calibri" pitchFamily="34" charset="0"/>
                <a:ea typeface="Calibri" pitchFamily="34" charset="-122"/>
                <a:cs typeface="Calibri" pitchFamily="34" charset="-120"/>
              </a:rPr>
              <a:t>Both deliverables map to CDRB Section C: every business rule exists as a versioned configuration row with owner and effective dates.</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4F2170"/>
          </a:solidFill>
          <a:ln/>
        </p:spPr>
        <p:txBody>
          <a:bodyPr/>
          <a:lstStyle/>
          <a:p>
            <a:endParaRPr lang="en-US"/>
          </a:p>
        </p:txBody>
      </p:sp>
      <p:sp>
        <p:nvSpPr>
          <p:cNvPr id="3" name="Text 1"/>
          <p:cNvSpPr/>
          <p:nvPr/>
        </p:nvSpPr>
        <p:spPr>
          <a:xfrm>
            <a:off x="548640" y="137160"/>
            <a:ext cx="10515600" cy="502920"/>
          </a:xfrm>
          <a:prstGeom prst="rect">
            <a:avLst/>
          </a:prstGeom>
          <a:noFill/>
          <a:ln/>
        </p:spPr>
        <p:txBody>
          <a:bodyPr wrap="square" rtlCol="0" anchor="ctr"/>
          <a:lstStyle/>
          <a:p>
            <a:pPr marL="0" indent="0">
              <a:buNone/>
            </a:pPr>
            <a:r>
              <a:rPr lang="en-US" sz="2400" dirty="0">
                <a:solidFill>
                  <a:srgbClr val="FFFFFF"/>
                </a:solidFill>
                <a:latin typeface="Arial" pitchFamily="34" charset="0"/>
                <a:ea typeface="Arial" pitchFamily="34" charset="-122"/>
                <a:cs typeface="Arial" pitchFamily="34" charset="-120"/>
              </a:rPr>
              <a:t>Nov Deliverable 4: Business Rules as Config Objects</a:t>
            </a:r>
            <a:endParaRPr lang="en-US" sz="2400" dirty="0"/>
          </a:p>
        </p:txBody>
      </p:sp>
      <p:sp>
        <p:nvSpPr>
          <p:cNvPr id="4" name="Text 2"/>
          <p:cNvSpPr/>
          <p:nvPr/>
        </p:nvSpPr>
        <p:spPr>
          <a:xfrm>
            <a:off x="548640" y="594360"/>
            <a:ext cx="10515600" cy="320040"/>
          </a:xfrm>
          <a:prstGeom prst="rect">
            <a:avLst/>
          </a:prstGeom>
          <a:noFill/>
          <a:ln/>
        </p:spPr>
        <p:txBody>
          <a:bodyPr wrap="square" rtlCol="0" anchor="ctr"/>
          <a:lstStyle/>
          <a:p>
            <a:pPr marL="0" indent="0">
              <a:buNone/>
            </a:pPr>
            <a:r>
              <a:rPr lang="en-US" sz="1300" dirty="0">
                <a:solidFill>
                  <a:srgbClr val="E8DFF0"/>
                </a:solidFill>
                <a:latin typeface="Calibri" pitchFamily="34" charset="0"/>
                <a:ea typeface="Calibri" pitchFamily="34" charset="-122"/>
                <a:cs typeface="Calibri" pitchFamily="34" charset="-120"/>
              </a:rPr>
              <a:t>CDRB Section C — AI-Assisted Extraction from Existing Code</a:t>
            </a:r>
            <a:endParaRPr lang="en-US" sz="1300" dirty="0"/>
          </a:p>
        </p:txBody>
      </p:sp>
      <p:sp>
        <p:nvSpPr>
          <p:cNvPr id="5" name="Shape 3"/>
          <p:cNvSpPr/>
          <p:nvPr/>
        </p:nvSpPr>
        <p:spPr>
          <a:xfrm>
            <a:off x="0" y="6492240"/>
            <a:ext cx="12188952" cy="365760"/>
          </a:xfrm>
          <a:prstGeom prst="rect">
            <a:avLst/>
          </a:prstGeom>
          <a:solidFill>
            <a:srgbClr val="3A1854"/>
          </a:solidFill>
          <a:ln/>
        </p:spPr>
        <p:txBody>
          <a:bodyPr/>
          <a:lstStyle/>
          <a:p>
            <a:endParaRPr lang="en-US"/>
          </a:p>
        </p:txBody>
      </p:sp>
      <p:sp>
        <p:nvSpPr>
          <p:cNvPr id="6" name="Text 4"/>
          <p:cNvSpPr/>
          <p:nvPr/>
        </p:nvSpPr>
        <p:spPr>
          <a:xfrm>
            <a:off x="548640" y="6510528"/>
            <a:ext cx="9144000" cy="320040"/>
          </a:xfrm>
          <a:prstGeom prst="rect">
            <a:avLst/>
          </a:prstGeom>
          <a:noFill/>
          <a:ln/>
        </p:spPr>
        <p:txBody>
          <a:bodyPr wrap="square" rtlCol="0" anchor="ctr"/>
          <a:lstStyle/>
          <a:p>
            <a:pPr marL="0" indent="0">
              <a:buNone/>
            </a:pPr>
            <a:r>
              <a:rPr lang="en-US" sz="900" dirty="0">
                <a:solidFill>
                  <a:srgbClr val="E8DFF0"/>
                </a:solidFill>
                <a:latin typeface="Calibri" pitchFamily="34" charset="0"/>
                <a:ea typeface="Calibri" pitchFamily="34" charset="-122"/>
                <a:cs typeface="Calibri" pitchFamily="34" charset="-120"/>
              </a:rPr>
              <a:t>LA OSA 2.0 Blueprint Workshop  |  Day 3 Morning  |  WS-1: Mexico &amp; Wacam</a:t>
            </a:r>
            <a:endParaRPr lang="en-US" sz="900" dirty="0"/>
          </a:p>
        </p:txBody>
      </p:sp>
      <p:sp>
        <p:nvSpPr>
          <p:cNvPr id="7" name="Text 5"/>
          <p:cNvSpPr/>
          <p:nvPr/>
        </p:nvSpPr>
        <p:spPr>
          <a:xfrm>
            <a:off x="10972800" y="6510528"/>
            <a:ext cx="914400" cy="320040"/>
          </a:xfrm>
          <a:prstGeom prst="rect">
            <a:avLst/>
          </a:prstGeom>
          <a:noFill/>
          <a:ln/>
        </p:spPr>
        <p:txBody>
          <a:bodyPr wrap="square" rtlCol="0" anchor="ctr"/>
          <a:lstStyle/>
          <a:p>
            <a:pPr marL="0" indent="0" algn="r">
              <a:buNone/>
            </a:pPr>
            <a:r>
              <a:rPr lang="en-US" sz="900" dirty="0">
                <a:solidFill>
                  <a:srgbClr val="E8DFF0"/>
                </a:solidFill>
                <a:latin typeface="Calibri" pitchFamily="34" charset="0"/>
                <a:ea typeface="Calibri" pitchFamily="34" charset="-122"/>
                <a:cs typeface="Calibri" pitchFamily="34" charset="-120"/>
              </a:rPr>
              <a:t>9 / 20</a:t>
            </a:r>
            <a:endParaRPr lang="en-US" sz="900" dirty="0"/>
          </a:p>
        </p:txBody>
      </p:sp>
      <p:sp>
        <p:nvSpPr>
          <p:cNvPr id="8" name="Text 6"/>
          <p:cNvSpPr/>
          <p:nvPr/>
        </p:nvSpPr>
        <p:spPr>
          <a:xfrm>
            <a:off x="548640" y="1234440"/>
            <a:ext cx="10972800" cy="365760"/>
          </a:xfrm>
          <a:prstGeom prst="rect">
            <a:avLst/>
          </a:prstGeom>
          <a:noFill/>
          <a:ln/>
        </p:spPr>
        <p:txBody>
          <a:bodyPr wrap="square" rtlCol="0" anchor="ctr"/>
          <a:lstStyle/>
          <a:p>
            <a:pPr marL="0" indent="0">
              <a:buNone/>
            </a:pPr>
            <a:r>
              <a:rPr lang="en-US" sz="1600" b="1" dirty="0">
                <a:solidFill>
                  <a:srgbClr val="4F2170"/>
                </a:solidFill>
                <a:latin typeface="Arial" pitchFamily="34" charset="0"/>
                <a:ea typeface="Arial" pitchFamily="34" charset="-122"/>
                <a:cs typeface="Arial" pitchFamily="34" charset="-120"/>
              </a:rPr>
              <a:t>P2 Principle in Action: Rules as Data, Not Code</a:t>
            </a:r>
            <a:endParaRPr lang="en-US" sz="1600" dirty="0"/>
          </a:p>
        </p:txBody>
      </p:sp>
      <p:sp>
        <p:nvSpPr>
          <p:cNvPr id="9" name="Text 7"/>
          <p:cNvSpPr/>
          <p:nvPr/>
        </p:nvSpPr>
        <p:spPr>
          <a:xfrm>
            <a:off x="548640" y="1645920"/>
            <a:ext cx="10972800" cy="411480"/>
          </a:xfrm>
          <a:prstGeom prst="rect">
            <a:avLst/>
          </a:prstGeom>
          <a:noFill/>
          <a:ln/>
        </p:spPr>
        <p:txBody>
          <a:bodyPr wrap="square" rtlCol="0" anchor="ctr"/>
          <a:lstStyle/>
          <a:p>
            <a:pPr marL="0" indent="0">
              <a:lnSpc>
                <a:spcPct val="120000"/>
              </a:lnSpc>
              <a:buNone/>
            </a:pPr>
            <a:r>
              <a:rPr lang="en-US" sz="1200" dirty="0">
                <a:solidFill>
                  <a:srgbClr val="3D3D3D"/>
                </a:solidFill>
                <a:latin typeface="Calibri" pitchFamily="34" charset="0"/>
                <a:ea typeface="Calibri" pitchFamily="34" charset="-122"/>
                <a:cs typeface="Calibri" pitchFamily="34" charset="-120"/>
              </a:rPr>
              <a:t>Business rules converted to configuration objects using AI to read existing GCP code and propose those objects. All 10 configuration tables populated from existing code.</a:t>
            </a:r>
            <a:endParaRPr lang="en-US" sz="1200" dirty="0"/>
          </a:p>
        </p:txBody>
      </p:sp>
      <p:sp>
        <p:nvSpPr>
          <p:cNvPr id="10" name="Shape 8"/>
          <p:cNvSpPr/>
          <p:nvPr/>
        </p:nvSpPr>
        <p:spPr>
          <a:xfrm>
            <a:off x="548640" y="2286000"/>
            <a:ext cx="5394960" cy="530352"/>
          </a:xfrm>
          <a:prstGeom prst="roundRect">
            <a:avLst>
              <a:gd name="adj" fmla="val 8621"/>
            </a:avLst>
          </a:prstGeom>
          <a:solidFill>
            <a:srgbClr val="FFF3E5"/>
          </a:solidFill>
          <a:ln w="9525">
            <a:solidFill>
              <a:srgbClr val="E18719"/>
            </a:solidFill>
            <a:prstDash val="solid"/>
          </a:ln>
        </p:spPr>
        <p:txBody>
          <a:bodyPr/>
          <a:lstStyle/>
          <a:p>
            <a:endParaRPr lang="en-US"/>
          </a:p>
        </p:txBody>
      </p:sp>
      <p:sp>
        <p:nvSpPr>
          <p:cNvPr id="11" name="Shape 9"/>
          <p:cNvSpPr/>
          <p:nvPr/>
        </p:nvSpPr>
        <p:spPr>
          <a:xfrm>
            <a:off x="621792" y="2359152"/>
            <a:ext cx="365760" cy="365760"/>
          </a:xfrm>
          <a:prstGeom prst="roundRect">
            <a:avLst>
              <a:gd name="adj" fmla="val 10000"/>
            </a:avLst>
          </a:prstGeom>
          <a:solidFill>
            <a:srgbClr val="E18719"/>
          </a:solidFill>
          <a:ln/>
        </p:spPr>
        <p:txBody>
          <a:bodyPr/>
          <a:lstStyle/>
          <a:p>
            <a:endParaRPr lang="en-US"/>
          </a:p>
        </p:txBody>
      </p:sp>
      <p:sp>
        <p:nvSpPr>
          <p:cNvPr id="12" name="Text 10"/>
          <p:cNvSpPr/>
          <p:nvPr/>
        </p:nvSpPr>
        <p:spPr>
          <a:xfrm>
            <a:off x="621792" y="2359152"/>
            <a:ext cx="365760" cy="365760"/>
          </a:xfrm>
          <a:prstGeom prst="rect">
            <a:avLst/>
          </a:prstGeom>
          <a:noFill/>
          <a:ln/>
        </p:spPr>
        <p:txBody>
          <a:bodyPr wrap="square"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13" name="Text 11"/>
          <p:cNvSpPr/>
          <p:nvPr/>
        </p:nvSpPr>
        <p:spPr>
          <a:xfrm>
            <a:off x="1097280" y="2331720"/>
            <a:ext cx="4663440" cy="438912"/>
          </a:xfrm>
          <a:prstGeom prst="rect">
            <a:avLst/>
          </a:prstGeom>
          <a:noFill/>
          <a:ln/>
        </p:spPr>
        <p:txBody>
          <a:bodyPr wrap="square" rtlCol="0" anchor="ctr"/>
          <a:lstStyle/>
          <a:p>
            <a:pPr marL="0" indent="0">
              <a:buNone/>
            </a:pPr>
            <a:r>
              <a:rPr lang="en-US" sz="1150" dirty="0">
                <a:solidFill>
                  <a:srgbClr val="3D3D3D"/>
                </a:solidFill>
                <a:latin typeface="Calibri" pitchFamily="34" charset="0"/>
                <a:ea typeface="Calibri" pitchFamily="34" charset="-122"/>
                <a:cs typeface="Calibri" pitchFamily="34" charset="-120"/>
              </a:rPr>
              <a:t>Market scope definitions</a:t>
            </a:r>
            <a:endParaRPr lang="en-US" sz="1150" dirty="0"/>
          </a:p>
        </p:txBody>
      </p:sp>
      <p:sp>
        <p:nvSpPr>
          <p:cNvPr id="14" name="Shape 12"/>
          <p:cNvSpPr/>
          <p:nvPr/>
        </p:nvSpPr>
        <p:spPr>
          <a:xfrm>
            <a:off x="6217920" y="2286000"/>
            <a:ext cx="5394960" cy="530352"/>
          </a:xfrm>
          <a:prstGeom prst="roundRect">
            <a:avLst>
              <a:gd name="adj" fmla="val 8621"/>
            </a:avLst>
          </a:prstGeom>
          <a:solidFill>
            <a:srgbClr val="FFF8F0"/>
          </a:solidFill>
          <a:ln w="9525">
            <a:solidFill>
              <a:srgbClr val="E18719"/>
            </a:solidFill>
            <a:prstDash val="solid"/>
          </a:ln>
        </p:spPr>
        <p:txBody>
          <a:bodyPr/>
          <a:lstStyle/>
          <a:p>
            <a:endParaRPr lang="en-US"/>
          </a:p>
        </p:txBody>
      </p:sp>
      <p:sp>
        <p:nvSpPr>
          <p:cNvPr id="15" name="Shape 13"/>
          <p:cNvSpPr/>
          <p:nvPr/>
        </p:nvSpPr>
        <p:spPr>
          <a:xfrm>
            <a:off x="6291072" y="2359152"/>
            <a:ext cx="365760" cy="365760"/>
          </a:xfrm>
          <a:prstGeom prst="roundRect">
            <a:avLst>
              <a:gd name="adj" fmla="val 10000"/>
            </a:avLst>
          </a:prstGeom>
          <a:solidFill>
            <a:srgbClr val="E18719"/>
          </a:solidFill>
          <a:ln/>
        </p:spPr>
        <p:txBody>
          <a:bodyPr/>
          <a:lstStyle/>
          <a:p>
            <a:endParaRPr lang="en-US"/>
          </a:p>
        </p:txBody>
      </p:sp>
      <p:sp>
        <p:nvSpPr>
          <p:cNvPr id="16" name="Text 14"/>
          <p:cNvSpPr/>
          <p:nvPr/>
        </p:nvSpPr>
        <p:spPr>
          <a:xfrm>
            <a:off x="6291072" y="2359152"/>
            <a:ext cx="365760" cy="365760"/>
          </a:xfrm>
          <a:prstGeom prst="rect">
            <a:avLst/>
          </a:prstGeom>
          <a:noFill/>
          <a:ln/>
        </p:spPr>
        <p:txBody>
          <a:bodyPr wrap="square"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17" name="Text 15"/>
          <p:cNvSpPr/>
          <p:nvPr/>
        </p:nvSpPr>
        <p:spPr>
          <a:xfrm>
            <a:off x="6766560" y="2331720"/>
            <a:ext cx="4663440" cy="438912"/>
          </a:xfrm>
          <a:prstGeom prst="rect">
            <a:avLst/>
          </a:prstGeom>
          <a:noFill/>
          <a:ln/>
        </p:spPr>
        <p:txBody>
          <a:bodyPr wrap="square" rtlCol="0" anchor="ctr"/>
          <a:lstStyle/>
          <a:p>
            <a:pPr marL="0" indent="0">
              <a:buNone/>
            </a:pPr>
            <a:r>
              <a:rPr lang="en-US" sz="1150" dirty="0">
                <a:solidFill>
                  <a:srgbClr val="3D3D3D"/>
                </a:solidFill>
                <a:latin typeface="Calibri" pitchFamily="34" charset="0"/>
                <a:ea typeface="Calibri" pitchFamily="34" charset="-122"/>
                <a:cs typeface="Calibri" pitchFamily="34" charset="-120"/>
              </a:rPr>
              <a:t>Document type classifications</a:t>
            </a:r>
            <a:endParaRPr lang="en-US" sz="1150" dirty="0"/>
          </a:p>
        </p:txBody>
      </p:sp>
      <p:sp>
        <p:nvSpPr>
          <p:cNvPr id="18" name="Shape 16"/>
          <p:cNvSpPr/>
          <p:nvPr/>
        </p:nvSpPr>
        <p:spPr>
          <a:xfrm>
            <a:off x="548640" y="2944368"/>
            <a:ext cx="5394960" cy="530352"/>
          </a:xfrm>
          <a:prstGeom prst="roundRect">
            <a:avLst>
              <a:gd name="adj" fmla="val 8621"/>
            </a:avLst>
          </a:prstGeom>
          <a:solidFill>
            <a:srgbClr val="FFF3E5"/>
          </a:solidFill>
          <a:ln w="9525">
            <a:solidFill>
              <a:srgbClr val="E18719"/>
            </a:solidFill>
            <a:prstDash val="solid"/>
          </a:ln>
        </p:spPr>
        <p:txBody>
          <a:bodyPr/>
          <a:lstStyle/>
          <a:p>
            <a:endParaRPr lang="en-US"/>
          </a:p>
        </p:txBody>
      </p:sp>
      <p:sp>
        <p:nvSpPr>
          <p:cNvPr id="19" name="Shape 17"/>
          <p:cNvSpPr/>
          <p:nvPr/>
        </p:nvSpPr>
        <p:spPr>
          <a:xfrm>
            <a:off x="621792" y="3017520"/>
            <a:ext cx="365760" cy="365760"/>
          </a:xfrm>
          <a:prstGeom prst="roundRect">
            <a:avLst>
              <a:gd name="adj" fmla="val 10000"/>
            </a:avLst>
          </a:prstGeom>
          <a:solidFill>
            <a:srgbClr val="E18719"/>
          </a:solidFill>
          <a:ln/>
        </p:spPr>
        <p:txBody>
          <a:bodyPr/>
          <a:lstStyle/>
          <a:p>
            <a:endParaRPr lang="en-US"/>
          </a:p>
        </p:txBody>
      </p:sp>
      <p:sp>
        <p:nvSpPr>
          <p:cNvPr id="20" name="Text 18"/>
          <p:cNvSpPr/>
          <p:nvPr/>
        </p:nvSpPr>
        <p:spPr>
          <a:xfrm>
            <a:off x="621792" y="3017520"/>
            <a:ext cx="365760" cy="365760"/>
          </a:xfrm>
          <a:prstGeom prst="rect">
            <a:avLst/>
          </a:prstGeom>
          <a:noFill/>
          <a:ln/>
        </p:spPr>
        <p:txBody>
          <a:bodyPr wrap="square"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3</a:t>
            </a:r>
            <a:endParaRPr lang="en-US" sz="1200" dirty="0"/>
          </a:p>
        </p:txBody>
      </p:sp>
      <p:sp>
        <p:nvSpPr>
          <p:cNvPr id="21" name="Text 19"/>
          <p:cNvSpPr/>
          <p:nvPr/>
        </p:nvSpPr>
        <p:spPr>
          <a:xfrm>
            <a:off x="1097280" y="2990088"/>
            <a:ext cx="4663440" cy="438912"/>
          </a:xfrm>
          <a:prstGeom prst="rect">
            <a:avLst/>
          </a:prstGeom>
          <a:noFill/>
          <a:ln/>
        </p:spPr>
        <p:txBody>
          <a:bodyPr wrap="square" rtlCol="0" anchor="ctr"/>
          <a:lstStyle/>
          <a:p>
            <a:pPr marL="0" indent="0">
              <a:buNone/>
            </a:pPr>
            <a:r>
              <a:rPr lang="en-US" sz="1150" dirty="0">
                <a:solidFill>
                  <a:srgbClr val="3D3D3D"/>
                </a:solidFill>
                <a:latin typeface="Calibri" pitchFamily="34" charset="0"/>
                <a:ea typeface="Calibri" pitchFamily="34" charset="-122"/>
                <a:cs typeface="Calibri" pitchFamily="34" charset="-120"/>
              </a:rPr>
              <a:t>Reason code roles</a:t>
            </a:r>
            <a:endParaRPr lang="en-US" sz="1150" dirty="0"/>
          </a:p>
        </p:txBody>
      </p:sp>
      <p:sp>
        <p:nvSpPr>
          <p:cNvPr id="22" name="Shape 20"/>
          <p:cNvSpPr/>
          <p:nvPr/>
        </p:nvSpPr>
        <p:spPr>
          <a:xfrm>
            <a:off x="6217920" y="2944368"/>
            <a:ext cx="5394960" cy="530352"/>
          </a:xfrm>
          <a:prstGeom prst="roundRect">
            <a:avLst>
              <a:gd name="adj" fmla="val 8621"/>
            </a:avLst>
          </a:prstGeom>
          <a:solidFill>
            <a:srgbClr val="FFF8F0"/>
          </a:solidFill>
          <a:ln w="9525">
            <a:solidFill>
              <a:srgbClr val="E18719"/>
            </a:solidFill>
            <a:prstDash val="solid"/>
          </a:ln>
        </p:spPr>
        <p:txBody>
          <a:bodyPr/>
          <a:lstStyle/>
          <a:p>
            <a:endParaRPr lang="en-US"/>
          </a:p>
        </p:txBody>
      </p:sp>
      <p:sp>
        <p:nvSpPr>
          <p:cNvPr id="23" name="Shape 21"/>
          <p:cNvSpPr/>
          <p:nvPr/>
        </p:nvSpPr>
        <p:spPr>
          <a:xfrm>
            <a:off x="6291072" y="3017520"/>
            <a:ext cx="365760" cy="365760"/>
          </a:xfrm>
          <a:prstGeom prst="roundRect">
            <a:avLst>
              <a:gd name="adj" fmla="val 10000"/>
            </a:avLst>
          </a:prstGeom>
          <a:solidFill>
            <a:srgbClr val="E18719"/>
          </a:solidFill>
          <a:ln/>
        </p:spPr>
        <p:txBody>
          <a:bodyPr/>
          <a:lstStyle/>
          <a:p>
            <a:endParaRPr lang="en-US"/>
          </a:p>
        </p:txBody>
      </p:sp>
      <p:sp>
        <p:nvSpPr>
          <p:cNvPr id="24" name="Text 22"/>
          <p:cNvSpPr/>
          <p:nvPr/>
        </p:nvSpPr>
        <p:spPr>
          <a:xfrm>
            <a:off x="6291072" y="3017520"/>
            <a:ext cx="365760" cy="365760"/>
          </a:xfrm>
          <a:prstGeom prst="rect">
            <a:avLst/>
          </a:prstGeom>
          <a:noFill/>
          <a:ln/>
        </p:spPr>
        <p:txBody>
          <a:bodyPr wrap="square"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4</a:t>
            </a:r>
            <a:endParaRPr lang="en-US" sz="1200" dirty="0"/>
          </a:p>
        </p:txBody>
      </p:sp>
      <p:sp>
        <p:nvSpPr>
          <p:cNvPr id="25" name="Text 23"/>
          <p:cNvSpPr/>
          <p:nvPr/>
        </p:nvSpPr>
        <p:spPr>
          <a:xfrm>
            <a:off x="6766560" y="2990088"/>
            <a:ext cx="4663440" cy="438912"/>
          </a:xfrm>
          <a:prstGeom prst="rect">
            <a:avLst/>
          </a:prstGeom>
          <a:noFill/>
          <a:ln/>
        </p:spPr>
        <p:txBody>
          <a:bodyPr wrap="square" rtlCol="0" anchor="ctr"/>
          <a:lstStyle/>
          <a:p>
            <a:pPr marL="0" indent="0">
              <a:buNone/>
            </a:pPr>
            <a:r>
              <a:rPr lang="en-US" sz="1150" dirty="0">
                <a:solidFill>
                  <a:srgbClr val="3D3D3D"/>
                </a:solidFill>
                <a:latin typeface="Calibri" pitchFamily="34" charset="0"/>
                <a:ea typeface="Calibri" pitchFamily="34" charset="-122"/>
                <a:cs typeface="Calibri" pitchFamily="34" charset="-120"/>
              </a:rPr>
              <a:t>Item category roles</a:t>
            </a:r>
            <a:endParaRPr lang="en-US" sz="1150" dirty="0"/>
          </a:p>
        </p:txBody>
      </p:sp>
      <p:sp>
        <p:nvSpPr>
          <p:cNvPr id="26" name="Shape 24"/>
          <p:cNvSpPr/>
          <p:nvPr/>
        </p:nvSpPr>
        <p:spPr>
          <a:xfrm>
            <a:off x="548640" y="3602736"/>
            <a:ext cx="5394960" cy="530352"/>
          </a:xfrm>
          <a:prstGeom prst="roundRect">
            <a:avLst>
              <a:gd name="adj" fmla="val 8621"/>
            </a:avLst>
          </a:prstGeom>
          <a:solidFill>
            <a:srgbClr val="FFF3E5"/>
          </a:solidFill>
          <a:ln w="9525">
            <a:solidFill>
              <a:srgbClr val="E18719"/>
            </a:solidFill>
            <a:prstDash val="solid"/>
          </a:ln>
        </p:spPr>
        <p:txBody>
          <a:bodyPr/>
          <a:lstStyle/>
          <a:p>
            <a:endParaRPr lang="en-US"/>
          </a:p>
        </p:txBody>
      </p:sp>
      <p:sp>
        <p:nvSpPr>
          <p:cNvPr id="27" name="Shape 25"/>
          <p:cNvSpPr/>
          <p:nvPr/>
        </p:nvSpPr>
        <p:spPr>
          <a:xfrm>
            <a:off x="621792" y="3675888"/>
            <a:ext cx="365760" cy="365760"/>
          </a:xfrm>
          <a:prstGeom prst="roundRect">
            <a:avLst>
              <a:gd name="adj" fmla="val 10000"/>
            </a:avLst>
          </a:prstGeom>
          <a:solidFill>
            <a:srgbClr val="E18719"/>
          </a:solidFill>
          <a:ln/>
        </p:spPr>
        <p:txBody>
          <a:bodyPr/>
          <a:lstStyle/>
          <a:p>
            <a:endParaRPr lang="en-US"/>
          </a:p>
        </p:txBody>
      </p:sp>
      <p:sp>
        <p:nvSpPr>
          <p:cNvPr id="28" name="Text 26"/>
          <p:cNvSpPr/>
          <p:nvPr/>
        </p:nvSpPr>
        <p:spPr>
          <a:xfrm>
            <a:off x="621792" y="3675888"/>
            <a:ext cx="365760" cy="365760"/>
          </a:xfrm>
          <a:prstGeom prst="rect">
            <a:avLst/>
          </a:prstGeom>
          <a:noFill/>
          <a:ln/>
        </p:spPr>
        <p:txBody>
          <a:bodyPr wrap="square"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5</a:t>
            </a:r>
            <a:endParaRPr lang="en-US" sz="1200" dirty="0"/>
          </a:p>
        </p:txBody>
      </p:sp>
      <p:sp>
        <p:nvSpPr>
          <p:cNvPr id="29" name="Text 27"/>
          <p:cNvSpPr/>
          <p:nvPr/>
        </p:nvSpPr>
        <p:spPr>
          <a:xfrm>
            <a:off x="1097280" y="3648456"/>
            <a:ext cx="4663440" cy="438912"/>
          </a:xfrm>
          <a:prstGeom prst="rect">
            <a:avLst/>
          </a:prstGeom>
          <a:noFill/>
          <a:ln/>
        </p:spPr>
        <p:txBody>
          <a:bodyPr wrap="square" rtlCol="0" anchor="ctr"/>
          <a:lstStyle/>
          <a:p>
            <a:pPr marL="0" indent="0">
              <a:buNone/>
            </a:pPr>
            <a:r>
              <a:rPr lang="en-US" sz="1150" dirty="0">
                <a:solidFill>
                  <a:srgbClr val="3D3D3D"/>
                </a:solidFill>
                <a:latin typeface="Calibri" pitchFamily="34" charset="0"/>
                <a:ea typeface="Calibri" pitchFamily="34" charset="-122"/>
                <a:cs typeface="Calibri" pitchFamily="34" charset="-120"/>
              </a:rPr>
              <a:t>Cut-off rules</a:t>
            </a:r>
            <a:endParaRPr lang="en-US" sz="1150" dirty="0"/>
          </a:p>
        </p:txBody>
      </p:sp>
      <p:sp>
        <p:nvSpPr>
          <p:cNvPr id="30" name="Shape 28"/>
          <p:cNvSpPr/>
          <p:nvPr/>
        </p:nvSpPr>
        <p:spPr>
          <a:xfrm>
            <a:off x="6217920" y="3602736"/>
            <a:ext cx="5394960" cy="530352"/>
          </a:xfrm>
          <a:prstGeom prst="roundRect">
            <a:avLst>
              <a:gd name="adj" fmla="val 8621"/>
            </a:avLst>
          </a:prstGeom>
          <a:solidFill>
            <a:srgbClr val="FFF8F0"/>
          </a:solidFill>
          <a:ln w="9525">
            <a:solidFill>
              <a:srgbClr val="E18719"/>
            </a:solidFill>
            <a:prstDash val="solid"/>
          </a:ln>
        </p:spPr>
        <p:txBody>
          <a:bodyPr/>
          <a:lstStyle/>
          <a:p>
            <a:endParaRPr lang="en-US"/>
          </a:p>
        </p:txBody>
      </p:sp>
      <p:sp>
        <p:nvSpPr>
          <p:cNvPr id="31" name="Shape 29"/>
          <p:cNvSpPr/>
          <p:nvPr/>
        </p:nvSpPr>
        <p:spPr>
          <a:xfrm>
            <a:off x="6291072" y="3675888"/>
            <a:ext cx="365760" cy="365760"/>
          </a:xfrm>
          <a:prstGeom prst="roundRect">
            <a:avLst>
              <a:gd name="adj" fmla="val 10000"/>
            </a:avLst>
          </a:prstGeom>
          <a:solidFill>
            <a:srgbClr val="E18719"/>
          </a:solidFill>
          <a:ln/>
        </p:spPr>
        <p:txBody>
          <a:bodyPr/>
          <a:lstStyle/>
          <a:p>
            <a:endParaRPr lang="en-US"/>
          </a:p>
        </p:txBody>
      </p:sp>
      <p:sp>
        <p:nvSpPr>
          <p:cNvPr id="32" name="Text 30"/>
          <p:cNvSpPr/>
          <p:nvPr/>
        </p:nvSpPr>
        <p:spPr>
          <a:xfrm>
            <a:off x="6291072" y="3675888"/>
            <a:ext cx="365760" cy="365760"/>
          </a:xfrm>
          <a:prstGeom prst="rect">
            <a:avLst/>
          </a:prstGeom>
          <a:noFill/>
          <a:ln/>
        </p:spPr>
        <p:txBody>
          <a:bodyPr wrap="square"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6</a:t>
            </a:r>
            <a:endParaRPr lang="en-US" sz="1200" dirty="0"/>
          </a:p>
        </p:txBody>
      </p:sp>
      <p:sp>
        <p:nvSpPr>
          <p:cNvPr id="33" name="Text 31"/>
          <p:cNvSpPr/>
          <p:nvPr/>
        </p:nvSpPr>
        <p:spPr>
          <a:xfrm>
            <a:off x="6766560" y="3648456"/>
            <a:ext cx="4663440" cy="438912"/>
          </a:xfrm>
          <a:prstGeom prst="rect">
            <a:avLst/>
          </a:prstGeom>
          <a:noFill/>
          <a:ln/>
        </p:spPr>
        <p:txBody>
          <a:bodyPr wrap="square" rtlCol="0" anchor="ctr"/>
          <a:lstStyle/>
          <a:p>
            <a:pPr marL="0" indent="0">
              <a:buNone/>
            </a:pPr>
            <a:r>
              <a:rPr lang="en-US" sz="1150" dirty="0">
                <a:solidFill>
                  <a:srgbClr val="3D3D3D"/>
                </a:solidFill>
                <a:latin typeface="Calibri" pitchFamily="34" charset="0"/>
                <a:ea typeface="Calibri" pitchFamily="34" charset="-122"/>
                <a:cs typeface="Calibri" pitchFamily="34" charset="-120"/>
              </a:rPr>
              <a:t>Open order bucket conditions</a:t>
            </a:r>
            <a:endParaRPr lang="en-US" sz="1150" dirty="0"/>
          </a:p>
        </p:txBody>
      </p:sp>
      <p:sp>
        <p:nvSpPr>
          <p:cNvPr id="34" name="Shape 32"/>
          <p:cNvSpPr/>
          <p:nvPr/>
        </p:nvSpPr>
        <p:spPr>
          <a:xfrm>
            <a:off x="548640" y="4261104"/>
            <a:ext cx="5394960" cy="530352"/>
          </a:xfrm>
          <a:prstGeom prst="roundRect">
            <a:avLst>
              <a:gd name="adj" fmla="val 8621"/>
            </a:avLst>
          </a:prstGeom>
          <a:solidFill>
            <a:srgbClr val="FFF3E5"/>
          </a:solidFill>
          <a:ln w="9525">
            <a:solidFill>
              <a:srgbClr val="E18719"/>
            </a:solidFill>
            <a:prstDash val="solid"/>
          </a:ln>
        </p:spPr>
        <p:txBody>
          <a:bodyPr/>
          <a:lstStyle/>
          <a:p>
            <a:endParaRPr lang="en-US"/>
          </a:p>
        </p:txBody>
      </p:sp>
      <p:sp>
        <p:nvSpPr>
          <p:cNvPr id="35" name="Shape 33"/>
          <p:cNvSpPr/>
          <p:nvPr/>
        </p:nvSpPr>
        <p:spPr>
          <a:xfrm>
            <a:off x="621792" y="4334256"/>
            <a:ext cx="365760" cy="365760"/>
          </a:xfrm>
          <a:prstGeom prst="roundRect">
            <a:avLst>
              <a:gd name="adj" fmla="val 10000"/>
            </a:avLst>
          </a:prstGeom>
          <a:solidFill>
            <a:srgbClr val="E18719"/>
          </a:solidFill>
          <a:ln/>
        </p:spPr>
        <p:txBody>
          <a:bodyPr/>
          <a:lstStyle/>
          <a:p>
            <a:endParaRPr lang="en-US"/>
          </a:p>
        </p:txBody>
      </p:sp>
      <p:sp>
        <p:nvSpPr>
          <p:cNvPr id="36" name="Text 34"/>
          <p:cNvSpPr/>
          <p:nvPr/>
        </p:nvSpPr>
        <p:spPr>
          <a:xfrm>
            <a:off x="621792" y="4334256"/>
            <a:ext cx="365760" cy="365760"/>
          </a:xfrm>
          <a:prstGeom prst="rect">
            <a:avLst/>
          </a:prstGeom>
          <a:noFill/>
          <a:ln/>
        </p:spPr>
        <p:txBody>
          <a:bodyPr wrap="square"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7</a:t>
            </a:r>
            <a:endParaRPr lang="en-US" sz="1200" dirty="0"/>
          </a:p>
        </p:txBody>
      </p:sp>
      <p:sp>
        <p:nvSpPr>
          <p:cNvPr id="37" name="Text 35"/>
          <p:cNvSpPr/>
          <p:nvPr/>
        </p:nvSpPr>
        <p:spPr>
          <a:xfrm>
            <a:off x="1097280" y="4306824"/>
            <a:ext cx="4663440" cy="438912"/>
          </a:xfrm>
          <a:prstGeom prst="rect">
            <a:avLst/>
          </a:prstGeom>
          <a:noFill/>
          <a:ln/>
        </p:spPr>
        <p:txBody>
          <a:bodyPr wrap="square" rtlCol="0" anchor="ctr"/>
          <a:lstStyle/>
          <a:p>
            <a:pPr marL="0" indent="0">
              <a:buNone/>
            </a:pPr>
            <a:r>
              <a:rPr lang="en-US" sz="1150" dirty="0">
                <a:solidFill>
                  <a:srgbClr val="3D3D3D"/>
                </a:solidFill>
                <a:latin typeface="Calibri" pitchFamily="34" charset="0"/>
                <a:ea typeface="Calibri" pitchFamily="34" charset="-122"/>
                <a:cs typeface="Calibri" pitchFamily="34" charset="-120"/>
              </a:rPr>
              <a:t>FX conversion policies</a:t>
            </a:r>
            <a:endParaRPr lang="en-US" sz="1150" dirty="0"/>
          </a:p>
        </p:txBody>
      </p:sp>
      <p:sp>
        <p:nvSpPr>
          <p:cNvPr id="38" name="Shape 36"/>
          <p:cNvSpPr/>
          <p:nvPr/>
        </p:nvSpPr>
        <p:spPr>
          <a:xfrm>
            <a:off x="6217920" y="4261104"/>
            <a:ext cx="5394960" cy="530352"/>
          </a:xfrm>
          <a:prstGeom prst="roundRect">
            <a:avLst>
              <a:gd name="adj" fmla="val 8621"/>
            </a:avLst>
          </a:prstGeom>
          <a:solidFill>
            <a:srgbClr val="FFF8F0"/>
          </a:solidFill>
          <a:ln w="9525">
            <a:solidFill>
              <a:srgbClr val="E18719"/>
            </a:solidFill>
            <a:prstDash val="solid"/>
          </a:ln>
        </p:spPr>
        <p:txBody>
          <a:bodyPr/>
          <a:lstStyle/>
          <a:p>
            <a:endParaRPr lang="en-US"/>
          </a:p>
        </p:txBody>
      </p:sp>
      <p:sp>
        <p:nvSpPr>
          <p:cNvPr id="39" name="Shape 37"/>
          <p:cNvSpPr/>
          <p:nvPr/>
        </p:nvSpPr>
        <p:spPr>
          <a:xfrm>
            <a:off x="6291072" y="4334256"/>
            <a:ext cx="365760" cy="365760"/>
          </a:xfrm>
          <a:prstGeom prst="roundRect">
            <a:avLst>
              <a:gd name="adj" fmla="val 10000"/>
            </a:avLst>
          </a:prstGeom>
          <a:solidFill>
            <a:srgbClr val="E18719"/>
          </a:solidFill>
          <a:ln/>
        </p:spPr>
        <p:txBody>
          <a:bodyPr/>
          <a:lstStyle/>
          <a:p>
            <a:endParaRPr lang="en-US"/>
          </a:p>
        </p:txBody>
      </p:sp>
      <p:sp>
        <p:nvSpPr>
          <p:cNvPr id="40" name="Text 38"/>
          <p:cNvSpPr/>
          <p:nvPr/>
        </p:nvSpPr>
        <p:spPr>
          <a:xfrm>
            <a:off x="6291072" y="4334256"/>
            <a:ext cx="365760" cy="365760"/>
          </a:xfrm>
          <a:prstGeom prst="rect">
            <a:avLst/>
          </a:prstGeom>
          <a:noFill/>
          <a:ln/>
        </p:spPr>
        <p:txBody>
          <a:bodyPr wrap="square"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8</a:t>
            </a:r>
            <a:endParaRPr lang="en-US" sz="1200" dirty="0"/>
          </a:p>
        </p:txBody>
      </p:sp>
      <p:sp>
        <p:nvSpPr>
          <p:cNvPr id="41" name="Text 39"/>
          <p:cNvSpPr/>
          <p:nvPr/>
        </p:nvSpPr>
        <p:spPr>
          <a:xfrm>
            <a:off x="6766560" y="4306824"/>
            <a:ext cx="4663440" cy="438912"/>
          </a:xfrm>
          <a:prstGeom prst="rect">
            <a:avLst/>
          </a:prstGeom>
          <a:noFill/>
          <a:ln/>
        </p:spPr>
        <p:txBody>
          <a:bodyPr wrap="square" rtlCol="0" anchor="ctr"/>
          <a:lstStyle/>
          <a:p>
            <a:pPr marL="0" indent="0">
              <a:buNone/>
            </a:pPr>
            <a:r>
              <a:rPr lang="en-US" sz="1150" dirty="0">
                <a:solidFill>
                  <a:srgbClr val="3D3D3D"/>
                </a:solidFill>
                <a:latin typeface="Calibri" pitchFamily="34" charset="0"/>
                <a:ea typeface="Calibri" pitchFamily="34" charset="-122"/>
                <a:cs typeface="Calibri" pitchFamily="34" charset="-120"/>
              </a:rPr>
              <a:t>SISO business rules</a:t>
            </a:r>
            <a:endParaRPr lang="en-US" sz="1150" dirty="0"/>
          </a:p>
        </p:txBody>
      </p:sp>
      <p:sp>
        <p:nvSpPr>
          <p:cNvPr id="42" name="Shape 40"/>
          <p:cNvSpPr/>
          <p:nvPr/>
        </p:nvSpPr>
        <p:spPr>
          <a:xfrm>
            <a:off x="548640" y="4919472"/>
            <a:ext cx="5394960" cy="530352"/>
          </a:xfrm>
          <a:prstGeom prst="roundRect">
            <a:avLst>
              <a:gd name="adj" fmla="val 8621"/>
            </a:avLst>
          </a:prstGeom>
          <a:solidFill>
            <a:srgbClr val="FFF3E5"/>
          </a:solidFill>
          <a:ln w="9525">
            <a:solidFill>
              <a:srgbClr val="E18719"/>
            </a:solidFill>
            <a:prstDash val="solid"/>
          </a:ln>
        </p:spPr>
        <p:txBody>
          <a:bodyPr/>
          <a:lstStyle/>
          <a:p>
            <a:endParaRPr lang="en-US"/>
          </a:p>
        </p:txBody>
      </p:sp>
      <p:sp>
        <p:nvSpPr>
          <p:cNvPr id="43" name="Shape 41"/>
          <p:cNvSpPr/>
          <p:nvPr/>
        </p:nvSpPr>
        <p:spPr>
          <a:xfrm>
            <a:off x="621792" y="4992624"/>
            <a:ext cx="365760" cy="365760"/>
          </a:xfrm>
          <a:prstGeom prst="roundRect">
            <a:avLst>
              <a:gd name="adj" fmla="val 10000"/>
            </a:avLst>
          </a:prstGeom>
          <a:solidFill>
            <a:srgbClr val="E18719"/>
          </a:solidFill>
          <a:ln/>
        </p:spPr>
        <p:txBody>
          <a:bodyPr/>
          <a:lstStyle/>
          <a:p>
            <a:endParaRPr lang="en-US"/>
          </a:p>
        </p:txBody>
      </p:sp>
      <p:sp>
        <p:nvSpPr>
          <p:cNvPr id="44" name="Text 42"/>
          <p:cNvSpPr/>
          <p:nvPr/>
        </p:nvSpPr>
        <p:spPr>
          <a:xfrm>
            <a:off x="621792" y="4992624"/>
            <a:ext cx="365760" cy="365760"/>
          </a:xfrm>
          <a:prstGeom prst="rect">
            <a:avLst/>
          </a:prstGeom>
          <a:noFill/>
          <a:ln/>
        </p:spPr>
        <p:txBody>
          <a:bodyPr wrap="square"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9</a:t>
            </a:r>
            <a:endParaRPr lang="en-US" sz="1200" dirty="0"/>
          </a:p>
        </p:txBody>
      </p:sp>
      <p:sp>
        <p:nvSpPr>
          <p:cNvPr id="45" name="Text 43"/>
          <p:cNvSpPr/>
          <p:nvPr/>
        </p:nvSpPr>
        <p:spPr>
          <a:xfrm>
            <a:off x="1097280" y="4965192"/>
            <a:ext cx="4663440" cy="438912"/>
          </a:xfrm>
          <a:prstGeom prst="rect">
            <a:avLst/>
          </a:prstGeom>
          <a:noFill/>
          <a:ln/>
        </p:spPr>
        <p:txBody>
          <a:bodyPr wrap="square" rtlCol="0" anchor="ctr"/>
          <a:lstStyle/>
          <a:p>
            <a:pPr marL="0" indent="0">
              <a:buNone/>
            </a:pPr>
            <a:r>
              <a:rPr lang="en-US" sz="1150" dirty="0">
                <a:solidFill>
                  <a:srgbClr val="3D3D3D"/>
                </a:solidFill>
                <a:latin typeface="Calibri" pitchFamily="34" charset="0"/>
                <a:ea typeface="Calibri" pitchFamily="34" charset="-122"/>
                <a:cs typeface="Calibri" pitchFamily="34" charset="-120"/>
              </a:rPr>
              <a:t>KPI registry (dictionary as executable metadata)</a:t>
            </a:r>
            <a:endParaRPr lang="en-US" sz="1150" dirty="0"/>
          </a:p>
        </p:txBody>
      </p:sp>
      <p:sp>
        <p:nvSpPr>
          <p:cNvPr id="46" name="Shape 44"/>
          <p:cNvSpPr/>
          <p:nvPr/>
        </p:nvSpPr>
        <p:spPr>
          <a:xfrm>
            <a:off x="6217920" y="4919472"/>
            <a:ext cx="5394960" cy="530352"/>
          </a:xfrm>
          <a:prstGeom prst="roundRect">
            <a:avLst>
              <a:gd name="adj" fmla="val 8621"/>
            </a:avLst>
          </a:prstGeom>
          <a:solidFill>
            <a:srgbClr val="FFF8F0"/>
          </a:solidFill>
          <a:ln w="9525">
            <a:solidFill>
              <a:srgbClr val="E18719"/>
            </a:solidFill>
            <a:prstDash val="solid"/>
          </a:ln>
        </p:spPr>
        <p:txBody>
          <a:bodyPr/>
          <a:lstStyle/>
          <a:p>
            <a:endParaRPr lang="en-US"/>
          </a:p>
        </p:txBody>
      </p:sp>
      <p:sp>
        <p:nvSpPr>
          <p:cNvPr id="47" name="Shape 45"/>
          <p:cNvSpPr/>
          <p:nvPr/>
        </p:nvSpPr>
        <p:spPr>
          <a:xfrm>
            <a:off x="6291072" y="4992624"/>
            <a:ext cx="365760" cy="365760"/>
          </a:xfrm>
          <a:prstGeom prst="roundRect">
            <a:avLst>
              <a:gd name="adj" fmla="val 10000"/>
            </a:avLst>
          </a:prstGeom>
          <a:solidFill>
            <a:srgbClr val="E18719"/>
          </a:solidFill>
          <a:ln/>
        </p:spPr>
        <p:txBody>
          <a:bodyPr/>
          <a:lstStyle/>
          <a:p>
            <a:endParaRPr lang="en-US"/>
          </a:p>
        </p:txBody>
      </p:sp>
      <p:sp>
        <p:nvSpPr>
          <p:cNvPr id="48" name="Text 46"/>
          <p:cNvSpPr/>
          <p:nvPr/>
        </p:nvSpPr>
        <p:spPr>
          <a:xfrm>
            <a:off x="6291072" y="4992624"/>
            <a:ext cx="365760" cy="365760"/>
          </a:xfrm>
          <a:prstGeom prst="rect">
            <a:avLst/>
          </a:prstGeom>
          <a:noFill/>
          <a:ln/>
        </p:spPr>
        <p:txBody>
          <a:bodyPr wrap="square"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10</a:t>
            </a:r>
            <a:endParaRPr lang="en-US" sz="1200" dirty="0"/>
          </a:p>
        </p:txBody>
      </p:sp>
      <p:sp>
        <p:nvSpPr>
          <p:cNvPr id="49" name="Text 47"/>
          <p:cNvSpPr/>
          <p:nvPr/>
        </p:nvSpPr>
        <p:spPr>
          <a:xfrm>
            <a:off x="6766560" y="4965192"/>
            <a:ext cx="4663440" cy="438912"/>
          </a:xfrm>
          <a:prstGeom prst="rect">
            <a:avLst/>
          </a:prstGeom>
          <a:noFill/>
          <a:ln/>
        </p:spPr>
        <p:txBody>
          <a:bodyPr wrap="square" rtlCol="0" anchor="ctr"/>
          <a:lstStyle/>
          <a:p>
            <a:pPr marL="0" indent="0">
              <a:buNone/>
            </a:pPr>
            <a:r>
              <a:rPr lang="en-US" sz="1150" dirty="0">
                <a:solidFill>
                  <a:srgbClr val="3D3D3D"/>
                </a:solidFill>
                <a:latin typeface="Calibri" pitchFamily="34" charset="0"/>
                <a:ea typeface="Calibri" pitchFamily="34" charset="-122"/>
                <a:cs typeface="Calibri" pitchFamily="34" charset="-120"/>
              </a:rPr>
              <a:t>Quality rule thresholds</a:t>
            </a:r>
            <a:endParaRPr lang="en-US" sz="1150" dirty="0"/>
          </a:p>
        </p:txBody>
      </p:sp>
      <p:sp>
        <p:nvSpPr>
          <p:cNvPr id="50" name="Shape 48"/>
          <p:cNvSpPr/>
          <p:nvPr/>
        </p:nvSpPr>
        <p:spPr>
          <a:xfrm>
            <a:off x="548640" y="5669280"/>
            <a:ext cx="11064240" cy="548640"/>
          </a:xfrm>
          <a:prstGeom prst="roundRect">
            <a:avLst>
              <a:gd name="adj" fmla="val 10000"/>
            </a:avLst>
          </a:prstGeom>
          <a:solidFill>
            <a:srgbClr val="E8DFF0"/>
          </a:solidFill>
          <a:ln w="12700">
            <a:solidFill>
              <a:srgbClr val="4F2170"/>
            </a:solidFill>
            <a:prstDash val="solid"/>
          </a:ln>
        </p:spPr>
        <p:txBody>
          <a:bodyPr/>
          <a:lstStyle/>
          <a:p>
            <a:endParaRPr lang="en-US"/>
          </a:p>
        </p:txBody>
      </p:sp>
      <p:sp>
        <p:nvSpPr>
          <p:cNvPr id="51" name="Text 49"/>
          <p:cNvSpPr/>
          <p:nvPr/>
        </p:nvSpPr>
        <p:spPr>
          <a:xfrm>
            <a:off x="777240" y="5715000"/>
            <a:ext cx="10607040" cy="457200"/>
          </a:xfrm>
          <a:prstGeom prst="rect">
            <a:avLst/>
          </a:prstGeom>
          <a:noFill/>
          <a:ln/>
        </p:spPr>
        <p:txBody>
          <a:bodyPr wrap="square" rtlCol="0" anchor="ctr"/>
          <a:lstStyle/>
          <a:p>
            <a:pPr marL="0" indent="0">
              <a:buNone/>
            </a:pPr>
            <a:r>
              <a:rPr lang="en-US" sz="1200" b="1" dirty="0">
                <a:solidFill>
                  <a:srgbClr val="4F2170"/>
                </a:solidFill>
                <a:latin typeface="Arial" pitchFamily="34" charset="0"/>
                <a:ea typeface="Arial" pitchFamily="34" charset="-122"/>
                <a:cs typeface="Arial" pitchFamily="34" charset="-120"/>
              </a:rPr>
              <a:t>🤖  AI-Assisted:  </a:t>
            </a:r>
            <a:r>
              <a:rPr lang="en-US" sz="1150" dirty="0">
                <a:solidFill>
                  <a:srgbClr val="3D3D3D"/>
                </a:solidFill>
                <a:latin typeface="Calibri" pitchFamily="34" charset="0"/>
                <a:ea typeface="Calibri" pitchFamily="34" charset="-122"/>
                <a:cs typeface="Calibri" pitchFamily="34" charset="-120"/>
              </a:rPr>
              <a:t>AI reads existing GCP stored procedures and proposes configuration objects. Engineers validate and refine. Same code for any market; only the configuration changes.</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4F2170"/>
          </a:solidFill>
          <a:ln/>
        </p:spPr>
        <p:txBody>
          <a:bodyPr/>
          <a:lstStyle/>
          <a:p>
            <a:endParaRPr lang="en-US"/>
          </a:p>
        </p:txBody>
      </p:sp>
      <p:sp>
        <p:nvSpPr>
          <p:cNvPr id="3" name="Text 1"/>
          <p:cNvSpPr/>
          <p:nvPr/>
        </p:nvSpPr>
        <p:spPr>
          <a:xfrm>
            <a:off x="548640" y="137160"/>
            <a:ext cx="10515600" cy="502920"/>
          </a:xfrm>
          <a:prstGeom prst="rect">
            <a:avLst/>
          </a:prstGeom>
          <a:noFill/>
          <a:ln/>
        </p:spPr>
        <p:txBody>
          <a:bodyPr wrap="square" rtlCol="0" anchor="ctr"/>
          <a:lstStyle/>
          <a:p>
            <a:pPr marL="0" indent="0">
              <a:buNone/>
            </a:pPr>
            <a:r>
              <a:rPr lang="en-US" sz="2400" dirty="0">
                <a:solidFill>
                  <a:srgbClr val="FFFFFF"/>
                </a:solidFill>
                <a:latin typeface="Arial" pitchFamily="34" charset="0"/>
                <a:ea typeface="Arial" pitchFamily="34" charset="-122"/>
                <a:cs typeface="Arial" pitchFamily="34" charset="-120"/>
              </a:rPr>
              <a:t>Nov Deliverables 5 &amp; 6: Core Domain Fit/Gap &amp; KPI Harmonization</a:t>
            </a:r>
            <a:endParaRPr lang="en-US" sz="2400" dirty="0"/>
          </a:p>
        </p:txBody>
      </p:sp>
      <p:sp>
        <p:nvSpPr>
          <p:cNvPr id="4" name="Text 2"/>
          <p:cNvSpPr/>
          <p:nvPr/>
        </p:nvSpPr>
        <p:spPr>
          <a:xfrm>
            <a:off x="548640" y="594360"/>
            <a:ext cx="10515600" cy="320040"/>
          </a:xfrm>
          <a:prstGeom prst="rect">
            <a:avLst/>
          </a:prstGeom>
          <a:noFill/>
          <a:ln/>
        </p:spPr>
        <p:txBody>
          <a:bodyPr wrap="square" rtlCol="0" anchor="ctr"/>
          <a:lstStyle/>
          <a:p>
            <a:pPr marL="0" indent="0">
              <a:buNone/>
            </a:pPr>
            <a:r>
              <a:rPr lang="en-US" sz="1300" dirty="0">
                <a:solidFill>
                  <a:srgbClr val="E8DFF0"/>
                </a:solidFill>
                <a:latin typeface="Calibri" pitchFamily="34" charset="0"/>
                <a:ea typeface="Calibri" pitchFamily="34" charset="-122"/>
                <a:cs typeface="Calibri" pitchFamily="34" charset="-120"/>
              </a:rPr>
              <a:t>CDRB Sections A &amp; D</a:t>
            </a:r>
            <a:endParaRPr lang="en-US" sz="1300" dirty="0"/>
          </a:p>
        </p:txBody>
      </p:sp>
      <p:sp>
        <p:nvSpPr>
          <p:cNvPr id="5" name="Shape 3"/>
          <p:cNvSpPr/>
          <p:nvPr/>
        </p:nvSpPr>
        <p:spPr>
          <a:xfrm>
            <a:off x="0" y="6492240"/>
            <a:ext cx="12188952" cy="365760"/>
          </a:xfrm>
          <a:prstGeom prst="rect">
            <a:avLst/>
          </a:prstGeom>
          <a:solidFill>
            <a:srgbClr val="3A1854"/>
          </a:solidFill>
          <a:ln/>
        </p:spPr>
        <p:txBody>
          <a:bodyPr/>
          <a:lstStyle/>
          <a:p>
            <a:endParaRPr lang="en-US"/>
          </a:p>
        </p:txBody>
      </p:sp>
      <p:sp>
        <p:nvSpPr>
          <p:cNvPr id="6" name="Text 4"/>
          <p:cNvSpPr/>
          <p:nvPr/>
        </p:nvSpPr>
        <p:spPr>
          <a:xfrm>
            <a:off x="548640" y="6510528"/>
            <a:ext cx="9144000" cy="320040"/>
          </a:xfrm>
          <a:prstGeom prst="rect">
            <a:avLst/>
          </a:prstGeom>
          <a:noFill/>
          <a:ln/>
        </p:spPr>
        <p:txBody>
          <a:bodyPr wrap="square" rtlCol="0" anchor="ctr"/>
          <a:lstStyle/>
          <a:p>
            <a:pPr marL="0" indent="0">
              <a:buNone/>
            </a:pPr>
            <a:r>
              <a:rPr lang="en-US" sz="900" dirty="0">
                <a:solidFill>
                  <a:srgbClr val="E8DFF0"/>
                </a:solidFill>
                <a:latin typeface="Calibri" pitchFamily="34" charset="0"/>
                <a:ea typeface="Calibri" pitchFamily="34" charset="-122"/>
                <a:cs typeface="Calibri" pitchFamily="34" charset="-120"/>
              </a:rPr>
              <a:t>LA OSA 2.0 Blueprint Workshop  |  Day 3 Morning  |  WS-1: Mexico &amp; Wacam</a:t>
            </a:r>
            <a:endParaRPr lang="en-US" sz="900" dirty="0"/>
          </a:p>
        </p:txBody>
      </p:sp>
      <p:sp>
        <p:nvSpPr>
          <p:cNvPr id="7" name="Text 5"/>
          <p:cNvSpPr/>
          <p:nvPr/>
        </p:nvSpPr>
        <p:spPr>
          <a:xfrm>
            <a:off x="10972800" y="6510528"/>
            <a:ext cx="914400" cy="320040"/>
          </a:xfrm>
          <a:prstGeom prst="rect">
            <a:avLst/>
          </a:prstGeom>
          <a:noFill/>
          <a:ln/>
        </p:spPr>
        <p:txBody>
          <a:bodyPr wrap="square" rtlCol="0" anchor="ctr"/>
          <a:lstStyle/>
          <a:p>
            <a:pPr marL="0" indent="0" algn="r">
              <a:buNone/>
            </a:pPr>
            <a:r>
              <a:rPr lang="en-US" sz="900" dirty="0">
                <a:solidFill>
                  <a:srgbClr val="E8DFF0"/>
                </a:solidFill>
                <a:latin typeface="Calibri" pitchFamily="34" charset="0"/>
                <a:ea typeface="Calibri" pitchFamily="34" charset="-122"/>
                <a:cs typeface="Calibri" pitchFamily="34" charset="-120"/>
              </a:rPr>
              <a:t>10 / 20</a:t>
            </a:r>
            <a:endParaRPr lang="en-US" sz="900" dirty="0"/>
          </a:p>
        </p:txBody>
      </p:sp>
      <p:sp>
        <p:nvSpPr>
          <p:cNvPr id="8" name="Shape 6"/>
          <p:cNvSpPr/>
          <p:nvPr/>
        </p:nvSpPr>
        <p:spPr>
          <a:xfrm>
            <a:off x="548640" y="1325880"/>
            <a:ext cx="5303520" cy="3840480"/>
          </a:xfrm>
          <a:prstGeom prst="roundRect">
            <a:avLst>
              <a:gd name="adj" fmla="val 1905"/>
            </a:avLst>
          </a:prstGeom>
          <a:solidFill>
            <a:srgbClr val="E8DFF0"/>
          </a:solidFill>
          <a:ln w="19050">
            <a:solidFill>
              <a:srgbClr val="4F2170"/>
            </a:solidFill>
            <a:prstDash val="solid"/>
          </a:ln>
        </p:spPr>
        <p:txBody>
          <a:bodyPr/>
          <a:lstStyle/>
          <a:p>
            <a:endParaRPr lang="en-US"/>
          </a:p>
        </p:txBody>
      </p:sp>
      <p:sp>
        <p:nvSpPr>
          <p:cNvPr id="9" name="Text 7"/>
          <p:cNvSpPr/>
          <p:nvPr/>
        </p:nvSpPr>
        <p:spPr>
          <a:xfrm>
            <a:off x="777240" y="1417320"/>
            <a:ext cx="4846320" cy="320040"/>
          </a:xfrm>
          <a:prstGeom prst="rect">
            <a:avLst/>
          </a:prstGeom>
          <a:noFill/>
          <a:ln/>
        </p:spPr>
        <p:txBody>
          <a:bodyPr wrap="square" rtlCol="0" anchor="ctr"/>
          <a:lstStyle/>
          <a:p>
            <a:pPr marL="0" indent="0">
              <a:buNone/>
            </a:pPr>
            <a:r>
              <a:rPr lang="en-US" sz="1400" b="1" dirty="0">
                <a:solidFill>
                  <a:srgbClr val="4F2170"/>
                </a:solidFill>
                <a:latin typeface="Arial" pitchFamily="34" charset="0"/>
                <a:ea typeface="Arial" pitchFamily="34" charset="-122"/>
                <a:cs typeface="Arial" pitchFamily="34" charset="-120"/>
              </a:rPr>
              <a:t>⑤  Core Domain Fit/Gap Analysis</a:t>
            </a:r>
            <a:endParaRPr lang="en-US" sz="1400" dirty="0"/>
          </a:p>
        </p:txBody>
      </p:sp>
      <p:sp>
        <p:nvSpPr>
          <p:cNvPr id="10" name="Text 8"/>
          <p:cNvSpPr/>
          <p:nvPr/>
        </p:nvSpPr>
        <p:spPr>
          <a:xfrm>
            <a:off x="777240" y="1828800"/>
            <a:ext cx="4846320" cy="3200400"/>
          </a:xfrm>
          <a:prstGeom prst="rect">
            <a:avLst/>
          </a:prstGeom>
          <a:noFill/>
          <a:ln/>
        </p:spPr>
        <p:txBody>
          <a:bodyPr wrap="square" rtlCol="0" anchor="t"/>
          <a:lstStyle/>
          <a:p>
            <a:pPr marL="0" indent="0">
              <a:lnSpc>
                <a:spcPct val="125000"/>
              </a:lnSpc>
              <a:buNone/>
            </a:pPr>
            <a:r>
              <a:rPr lang="en-US" sz="1200" dirty="0">
                <a:solidFill>
                  <a:srgbClr val="3D3D3D"/>
                </a:solidFill>
                <a:latin typeface="Calibri" pitchFamily="34" charset="0"/>
                <a:ea typeface="Calibri" pitchFamily="34" charset="-122"/>
                <a:cs typeface="Calibri" pitchFamily="34" charset="-120"/>
              </a:rPr>
              <a:t>Analysis of current GCP domain structures against the 6 canonical entities from Day 2:
</a:t>
            </a:r>
            <a:r>
              <a:rPr lang="en-US" sz="1100" b="1" dirty="0">
                <a:solidFill>
                  <a:srgbClr val="E18719"/>
                </a:solidFill>
                <a:latin typeface="Calibri" pitchFamily="34" charset="0"/>
                <a:ea typeface="Calibri" pitchFamily="34" charset="-122"/>
                <a:cs typeface="Calibri" pitchFamily="34" charset="-120"/>
              </a:rPr>
              <a:t>D1 — Sales Orders
D2 — Invoices
D3 — Deliveries
D4 — Order Schedule &amp; Status
D5 — Order–Invoice Detail
D6 — Order–Delivery Detail
</a:t>
            </a:r>
            <a:r>
              <a:rPr lang="en-US" sz="1100" i="1" dirty="0">
                <a:solidFill>
                  <a:srgbClr val="4F2170"/>
                </a:solidFill>
                <a:latin typeface="Calibri" pitchFamily="34" charset="0"/>
                <a:ea typeface="Calibri" pitchFamily="34" charset="-122"/>
                <a:cs typeface="Calibri" pitchFamily="34" charset="-120"/>
              </a:rPr>
              <a:t>Includes Brazil for this assessment only. Identifies what carries forward, what changes, and what is new.</a:t>
            </a:r>
            <a:endParaRPr lang="en-US" sz="1200" dirty="0"/>
          </a:p>
        </p:txBody>
      </p:sp>
      <p:sp>
        <p:nvSpPr>
          <p:cNvPr id="11" name="Shape 9"/>
          <p:cNvSpPr/>
          <p:nvPr/>
        </p:nvSpPr>
        <p:spPr>
          <a:xfrm>
            <a:off x="6309360" y="1325880"/>
            <a:ext cx="5303520" cy="3840480"/>
          </a:xfrm>
          <a:prstGeom prst="roundRect">
            <a:avLst>
              <a:gd name="adj" fmla="val 1905"/>
            </a:avLst>
          </a:prstGeom>
          <a:solidFill>
            <a:srgbClr val="FFF3E5"/>
          </a:solidFill>
          <a:ln w="19050">
            <a:solidFill>
              <a:srgbClr val="E18719"/>
            </a:solidFill>
            <a:prstDash val="solid"/>
          </a:ln>
        </p:spPr>
        <p:txBody>
          <a:bodyPr/>
          <a:lstStyle/>
          <a:p>
            <a:endParaRPr lang="en-US"/>
          </a:p>
        </p:txBody>
      </p:sp>
      <p:sp>
        <p:nvSpPr>
          <p:cNvPr id="12" name="Text 10"/>
          <p:cNvSpPr/>
          <p:nvPr/>
        </p:nvSpPr>
        <p:spPr>
          <a:xfrm>
            <a:off x="6537960" y="1417320"/>
            <a:ext cx="4846320" cy="320040"/>
          </a:xfrm>
          <a:prstGeom prst="rect">
            <a:avLst/>
          </a:prstGeom>
          <a:noFill/>
          <a:ln/>
        </p:spPr>
        <p:txBody>
          <a:bodyPr wrap="square" rtlCol="0" anchor="ctr"/>
          <a:lstStyle/>
          <a:p>
            <a:pPr marL="0" indent="0">
              <a:buNone/>
            </a:pPr>
            <a:r>
              <a:rPr lang="en-US" sz="1400" b="1" dirty="0">
                <a:solidFill>
                  <a:srgbClr val="E18719"/>
                </a:solidFill>
                <a:latin typeface="Arial" pitchFamily="34" charset="0"/>
                <a:ea typeface="Arial" pitchFamily="34" charset="-122"/>
                <a:cs typeface="Arial" pitchFamily="34" charset="-120"/>
              </a:rPr>
              <a:t>⑥  KPI Harmonization — 4-Category Approach</a:t>
            </a:r>
            <a:endParaRPr lang="en-US" sz="1400" dirty="0"/>
          </a:p>
        </p:txBody>
      </p:sp>
      <p:sp>
        <p:nvSpPr>
          <p:cNvPr id="13" name="Shape 11"/>
          <p:cNvSpPr/>
          <p:nvPr/>
        </p:nvSpPr>
        <p:spPr>
          <a:xfrm>
            <a:off x="6537960" y="1920240"/>
            <a:ext cx="365760" cy="365760"/>
          </a:xfrm>
          <a:prstGeom prst="roundRect">
            <a:avLst>
              <a:gd name="adj" fmla="val 10000"/>
            </a:avLst>
          </a:prstGeom>
          <a:solidFill>
            <a:srgbClr val="4F2170"/>
          </a:solidFill>
          <a:ln/>
        </p:spPr>
        <p:txBody>
          <a:bodyPr/>
          <a:lstStyle/>
          <a:p>
            <a:endParaRPr lang="en-US"/>
          </a:p>
        </p:txBody>
      </p:sp>
      <p:sp>
        <p:nvSpPr>
          <p:cNvPr id="14" name="Text 12"/>
          <p:cNvSpPr/>
          <p:nvPr/>
        </p:nvSpPr>
        <p:spPr>
          <a:xfrm>
            <a:off x="6537960" y="1920240"/>
            <a:ext cx="365760" cy="365760"/>
          </a:xfrm>
          <a:prstGeom prst="rect">
            <a:avLst/>
          </a:prstGeom>
          <a:noFill/>
          <a:ln/>
        </p:spPr>
        <p:txBody>
          <a:bodyPr wrap="square" rtlCol="0" anchor="ctr"/>
          <a:lstStyle/>
          <a:p>
            <a:pPr marL="0" indent="0" algn="ctr">
              <a:buNone/>
            </a:pPr>
            <a:r>
              <a:rPr lang="en-US" sz="1400" dirty="0">
                <a:solidFill>
                  <a:srgbClr val="FFFFFF"/>
                </a:solidFill>
                <a:latin typeface="Arial" pitchFamily="34" charset="0"/>
                <a:ea typeface="Arial" pitchFamily="34" charset="-122"/>
                <a:cs typeface="Arial" pitchFamily="34" charset="-120"/>
              </a:rPr>
              <a:t>A</a:t>
            </a:r>
            <a:endParaRPr lang="en-US" sz="1400" dirty="0"/>
          </a:p>
        </p:txBody>
      </p:sp>
      <p:sp>
        <p:nvSpPr>
          <p:cNvPr id="15" name="Text 13"/>
          <p:cNvSpPr/>
          <p:nvPr/>
        </p:nvSpPr>
        <p:spPr>
          <a:xfrm>
            <a:off x="7040880" y="1920240"/>
            <a:ext cx="4297680" cy="502920"/>
          </a:xfrm>
          <a:prstGeom prst="rect">
            <a:avLst/>
          </a:prstGeom>
          <a:noFill/>
          <a:ln/>
        </p:spPr>
        <p:txBody>
          <a:bodyPr wrap="square" rtlCol="0" anchor="ctr"/>
          <a:lstStyle/>
          <a:p>
            <a:pPr marL="0" indent="0">
              <a:lnSpc>
                <a:spcPct val="115000"/>
              </a:lnSpc>
              <a:buNone/>
            </a:pPr>
            <a:r>
              <a:rPr lang="en-US" sz="1150" dirty="0">
                <a:solidFill>
                  <a:srgbClr val="3D3D3D"/>
                </a:solidFill>
                <a:latin typeface="Calibri" pitchFamily="34" charset="0"/>
                <a:ea typeface="Calibri" pitchFamily="34" charset="-122"/>
                <a:cs typeface="Calibri" pitchFamily="34" charset="-120"/>
              </a:rPr>
              <a:t>Same name &amp; formula → confirm and close</a:t>
            </a:r>
            <a:endParaRPr lang="en-US" sz="1150" dirty="0"/>
          </a:p>
        </p:txBody>
      </p:sp>
      <p:sp>
        <p:nvSpPr>
          <p:cNvPr id="16" name="Shape 14"/>
          <p:cNvSpPr/>
          <p:nvPr/>
        </p:nvSpPr>
        <p:spPr>
          <a:xfrm>
            <a:off x="6537960" y="2560320"/>
            <a:ext cx="365760" cy="365760"/>
          </a:xfrm>
          <a:prstGeom prst="roundRect">
            <a:avLst>
              <a:gd name="adj" fmla="val 10000"/>
            </a:avLst>
          </a:prstGeom>
          <a:solidFill>
            <a:srgbClr val="4F2170"/>
          </a:solidFill>
          <a:ln/>
        </p:spPr>
        <p:txBody>
          <a:bodyPr/>
          <a:lstStyle/>
          <a:p>
            <a:endParaRPr lang="en-US"/>
          </a:p>
        </p:txBody>
      </p:sp>
      <p:sp>
        <p:nvSpPr>
          <p:cNvPr id="17" name="Text 15"/>
          <p:cNvSpPr/>
          <p:nvPr/>
        </p:nvSpPr>
        <p:spPr>
          <a:xfrm>
            <a:off x="6537960" y="2560320"/>
            <a:ext cx="365760" cy="365760"/>
          </a:xfrm>
          <a:prstGeom prst="rect">
            <a:avLst/>
          </a:prstGeom>
          <a:noFill/>
          <a:ln/>
        </p:spPr>
        <p:txBody>
          <a:bodyPr wrap="square" rtlCol="0" anchor="ctr"/>
          <a:lstStyle/>
          <a:p>
            <a:pPr marL="0" indent="0" algn="ctr">
              <a:buNone/>
            </a:pPr>
            <a:r>
              <a:rPr lang="en-US" sz="1400" dirty="0">
                <a:solidFill>
                  <a:srgbClr val="FFFFFF"/>
                </a:solidFill>
                <a:latin typeface="Arial" pitchFamily="34" charset="0"/>
                <a:ea typeface="Arial" pitchFamily="34" charset="-122"/>
                <a:cs typeface="Arial" pitchFamily="34" charset="-120"/>
              </a:rPr>
              <a:t>B</a:t>
            </a:r>
            <a:endParaRPr lang="en-US" sz="1400" dirty="0"/>
          </a:p>
        </p:txBody>
      </p:sp>
      <p:sp>
        <p:nvSpPr>
          <p:cNvPr id="18" name="Text 16"/>
          <p:cNvSpPr/>
          <p:nvPr/>
        </p:nvSpPr>
        <p:spPr>
          <a:xfrm>
            <a:off x="7040880" y="2560320"/>
            <a:ext cx="4297680" cy="502920"/>
          </a:xfrm>
          <a:prstGeom prst="rect">
            <a:avLst/>
          </a:prstGeom>
          <a:noFill/>
          <a:ln/>
        </p:spPr>
        <p:txBody>
          <a:bodyPr wrap="square" rtlCol="0" anchor="ctr"/>
          <a:lstStyle/>
          <a:p>
            <a:pPr marL="0" indent="0">
              <a:lnSpc>
                <a:spcPct val="115000"/>
              </a:lnSpc>
              <a:buNone/>
            </a:pPr>
            <a:r>
              <a:rPr lang="en-US" sz="1150" dirty="0">
                <a:solidFill>
                  <a:srgbClr val="3D3D3D"/>
                </a:solidFill>
                <a:latin typeface="Calibri" pitchFamily="34" charset="0"/>
                <a:ea typeface="Calibri" pitchFamily="34" charset="-122"/>
                <a:cs typeface="Calibri" pitchFamily="34" charset="-120"/>
              </a:rPr>
              <a:t>Same name, different formula → decide which definition wins</a:t>
            </a:r>
            <a:endParaRPr lang="en-US" sz="1150" dirty="0"/>
          </a:p>
        </p:txBody>
      </p:sp>
      <p:sp>
        <p:nvSpPr>
          <p:cNvPr id="19" name="Shape 17"/>
          <p:cNvSpPr/>
          <p:nvPr/>
        </p:nvSpPr>
        <p:spPr>
          <a:xfrm>
            <a:off x="6537960" y="3200400"/>
            <a:ext cx="365760" cy="365760"/>
          </a:xfrm>
          <a:prstGeom prst="roundRect">
            <a:avLst>
              <a:gd name="adj" fmla="val 10000"/>
            </a:avLst>
          </a:prstGeom>
          <a:solidFill>
            <a:srgbClr val="4F2170"/>
          </a:solidFill>
          <a:ln/>
        </p:spPr>
        <p:txBody>
          <a:bodyPr/>
          <a:lstStyle/>
          <a:p>
            <a:endParaRPr lang="en-US"/>
          </a:p>
        </p:txBody>
      </p:sp>
      <p:sp>
        <p:nvSpPr>
          <p:cNvPr id="20" name="Text 18"/>
          <p:cNvSpPr/>
          <p:nvPr/>
        </p:nvSpPr>
        <p:spPr>
          <a:xfrm>
            <a:off x="6537960" y="3200400"/>
            <a:ext cx="365760" cy="365760"/>
          </a:xfrm>
          <a:prstGeom prst="rect">
            <a:avLst/>
          </a:prstGeom>
          <a:noFill/>
          <a:ln/>
        </p:spPr>
        <p:txBody>
          <a:bodyPr wrap="square" rtlCol="0" anchor="ctr"/>
          <a:lstStyle/>
          <a:p>
            <a:pPr marL="0" indent="0" algn="ctr">
              <a:buNone/>
            </a:pPr>
            <a:r>
              <a:rPr lang="en-US" sz="1400" dirty="0">
                <a:solidFill>
                  <a:srgbClr val="FFFFFF"/>
                </a:solidFill>
                <a:latin typeface="Arial" pitchFamily="34" charset="0"/>
                <a:ea typeface="Arial" pitchFamily="34" charset="-122"/>
                <a:cs typeface="Arial" pitchFamily="34" charset="-120"/>
              </a:rPr>
              <a:t>C</a:t>
            </a:r>
            <a:endParaRPr lang="en-US" sz="1400" dirty="0"/>
          </a:p>
        </p:txBody>
      </p:sp>
      <p:sp>
        <p:nvSpPr>
          <p:cNvPr id="21" name="Text 19"/>
          <p:cNvSpPr/>
          <p:nvPr/>
        </p:nvSpPr>
        <p:spPr>
          <a:xfrm>
            <a:off x="7040880" y="3200400"/>
            <a:ext cx="4297680" cy="502920"/>
          </a:xfrm>
          <a:prstGeom prst="rect">
            <a:avLst/>
          </a:prstGeom>
          <a:noFill/>
          <a:ln/>
        </p:spPr>
        <p:txBody>
          <a:bodyPr wrap="square" rtlCol="0" anchor="ctr"/>
          <a:lstStyle/>
          <a:p>
            <a:pPr marL="0" indent="0">
              <a:lnSpc>
                <a:spcPct val="115000"/>
              </a:lnSpc>
              <a:buNone/>
            </a:pPr>
            <a:r>
              <a:rPr lang="en-US" sz="1150" dirty="0">
                <a:solidFill>
                  <a:srgbClr val="3D3D3D"/>
                </a:solidFill>
                <a:latin typeface="Calibri" pitchFamily="34" charset="0"/>
                <a:ea typeface="Calibri" pitchFamily="34" charset="-122"/>
                <a:cs typeface="Calibri" pitchFamily="34" charset="-120"/>
              </a:rPr>
              <a:t>Different name, same intent → confirm canonical name</a:t>
            </a:r>
            <a:endParaRPr lang="en-US" sz="1150" dirty="0"/>
          </a:p>
        </p:txBody>
      </p:sp>
      <p:sp>
        <p:nvSpPr>
          <p:cNvPr id="22" name="Shape 20"/>
          <p:cNvSpPr/>
          <p:nvPr/>
        </p:nvSpPr>
        <p:spPr>
          <a:xfrm>
            <a:off x="6537960" y="3840480"/>
            <a:ext cx="365760" cy="365760"/>
          </a:xfrm>
          <a:prstGeom prst="roundRect">
            <a:avLst>
              <a:gd name="adj" fmla="val 10000"/>
            </a:avLst>
          </a:prstGeom>
          <a:solidFill>
            <a:srgbClr val="4F2170"/>
          </a:solidFill>
          <a:ln/>
        </p:spPr>
        <p:txBody>
          <a:bodyPr/>
          <a:lstStyle/>
          <a:p>
            <a:endParaRPr lang="en-US"/>
          </a:p>
        </p:txBody>
      </p:sp>
      <p:sp>
        <p:nvSpPr>
          <p:cNvPr id="23" name="Text 21"/>
          <p:cNvSpPr/>
          <p:nvPr/>
        </p:nvSpPr>
        <p:spPr>
          <a:xfrm>
            <a:off x="6537960" y="3840480"/>
            <a:ext cx="365760" cy="365760"/>
          </a:xfrm>
          <a:prstGeom prst="rect">
            <a:avLst/>
          </a:prstGeom>
          <a:noFill/>
          <a:ln/>
        </p:spPr>
        <p:txBody>
          <a:bodyPr wrap="square" rtlCol="0" anchor="ctr"/>
          <a:lstStyle/>
          <a:p>
            <a:pPr marL="0" indent="0" algn="ctr">
              <a:buNone/>
            </a:pPr>
            <a:r>
              <a:rPr lang="en-US" sz="1400" dirty="0">
                <a:solidFill>
                  <a:srgbClr val="FFFFFF"/>
                </a:solidFill>
                <a:latin typeface="Arial" pitchFamily="34" charset="0"/>
                <a:ea typeface="Arial" pitchFamily="34" charset="-122"/>
                <a:cs typeface="Arial" pitchFamily="34" charset="-120"/>
              </a:rPr>
              <a:t>D</a:t>
            </a:r>
            <a:endParaRPr lang="en-US" sz="1400" dirty="0"/>
          </a:p>
        </p:txBody>
      </p:sp>
      <p:sp>
        <p:nvSpPr>
          <p:cNvPr id="24" name="Text 22"/>
          <p:cNvSpPr/>
          <p:nvPr/>
        </p:nvSpPr>
        <p:spPr>
          <a:xfrm>
            <a:off x="7040880" y="3840480"/>
            <a:ext cx="4297680" cy="502920"/>
          </a:xfrm>
          <a:prstGeom prst="rect">
            <a:avLst/>
          </a:prstGeom>
          <a:noFill/>
          <a:ln/>
        </p:spPr>
        <p:txBody>
          <a:bodyPr wrap="square" rtlCol="0" anchor="ctr"/>
          <a:lstStyle/>
          <a:p>
            <a:pPr marL="0" indent="0">
              <a:lnSpc>
                <a:spcPct val="115000"/>
              </a:lnSpc>
              <a:buNone/>
            </a:pPr>
            <a:r>
              <a:rPr lang="en-US" sz="1150" dirty="0">
                <a:solidFill>
                  <a:srgbClr val="3D3D3D"/>
                </a:solidFill>
                <a:latin typeface="Calibri" pitchFamily="34" charset="0"/>
                <a:ea typeface="Calibri" pitchFamily="34" charset="-122"/>
                <a:cs typeface="Calibri" pitchFamily="34" charset="-120"/>
              </a:rPr>
              <a:t>Unique to one BU → keep with justification or retire</a:t>
            </a:r>
            <a:endParaRPr lang="en-US" sz="1150" dirty="0"/>
          </a:p>
        </p:txBody>
      </p:sp>
      <p:sp>
        <p:nvSpPr>
          <p:cNvPr id="25" name="Text 23"/>
          <p:cNvSpPr/>
          <p:nvPr/>
        </p:nvSpPr>
        <p:spPr>
          <a:xfrm>
            <a:off x="6537960" y="4572000"/>
            <a:ext cx="4846320" cy="548640"/>
          </a:xfrm>
          <a:prstGeom prst="rect">
            <a:avLst/>
          </a:prstGeom>
          <a:noFill/>
          <a:ln/>
        </p:spPr>
        <p:txBody>
          <a:bodyPr wrap="square" rtlCol="0" anchor="t"/>
          <a:lstStyle/>
          <a:p>
            <a:pPr marL="0" indent="0">
              <a:lnSpc>
                <a:spcPct val="115000"/>
              </a:lnSpc>
              <a:buNone/>
            </a:pPr>
            <a:r>
              <a:rPr lang="en-US" sz="1100" b="1" dirty="0">
                <a:solidFill>
                  <a:srgbClr val="4F2170"/>
                </a:solidFill>
                <a:latin typeface="Arial" pitchFamily="34" charset="0"/>
                <a:ea typeface="Arial" pitchFamily="34" charset="-122"/>
                <a:cs typeface="Arial" pitchFamily="34" charset="-120"/>
              </a:rPr>
              <a:t>Structure &amp; material population:
</a:t>
            </a:r>
            <a:r>
              <a:rPr lang="en-US" sz="1100" dirty="0">
                <a:solidFill>
                  <a:srgbClr val="3D3D3D"/>
                </a:solidFill>
                <a:latin typeface="Calibri" pitchFamily="34" charset="0"/>
                <a:ea typeface="Calibri" pitchFamily="34" charset="-122"/>
                <a:cs typeface="Calibri" pitchFamily="34" charset="-120"/>
              </a:rPr>
              <a:t>Formulas, filters, calculation logic, complete synonym register (legacy names → canonical names per BU)</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4F2170"/>
          </a:solidFill>
          <a:ln/>
        </p:spPr>
        <p:txBody>
          <a:bodyPr/>
          <a:lstStyle/>
          <a:p>
            <a:endParaRPr lang="en-US"/>
          </a:p>
        </p:txBody>
      </p:sp>
      <p:sp>
        <p:nvSpPr>
          <p:cNvPr id="3" name="Text 1"/>
          <p:cNvSpPr/>
          <p:nvPr/>
        </p:nvSpPr>
        <p:spPr>
          <a:xfrm>
            <a:off x="548640" y="137160"/>
            <a:ext cx="10515600" cy="502920"/>
          </a:xfrm>
          <a:prstGeom prst="rect">
            <a:avLst/>
          </a:prstGeom>
          <a:noFill/>
          <a:ln/>
        </p:spPr>
        <p:txBody>
          <a:bodyPr wrap="square" rtlCol="0" anchor="ctr"/>
          <a:lstStyle/>
          <a:p>
            <a:pPr marL="0" indent="0">
              <a:buNone/>
            </a:pPr>
            <a:r>
              <a:rPr lang="en-US" sz="2400" dirty="0">
                <a:solidFill>
                  <a:srgbClr val="FFFFFF"/>
                </a:solidFill>
                <a:latin typeface="Arial" pitchFamily="34" charset="0"/>
                <a:ea typeface="Arial" pitchFamily="34" charset="-122"/>
                <a:cs typeface="Arial" pitchFamily="34" charset="-120"/>
              </a:rPr>
              <a:t>Nov Deliverable 7: CDRB Reviews Register</a:t>
            </a:r>
            <a:endParaRPr lang="en-US" sz="2400" dirty="0"/>
          </a:p>
        </p:txBody>
      </p:sp>
      <p:sp>
        <p:nvSpPr>
          <p:cNvPr id="4" name="Text 2"/>
          <p:cNvSpPr/>
          <p:nvPr/>
        </p:nvSpPr>
        <p:spPr>
          <a:xfrm>
            <a:off x="548640" y="594360"/>
            <a:ext cx="10515600" cy="320040"/>
          </a:xfrm>
          <a:prstGeom prst="rect">
            <a:avLst/>
          </a:prstGeom>
          <a:noFill/>
          <a:ln/>
        </p:spPr>
        <p:txBody>
          <a:bodyPr wrap="square" rtlCol="0" anchor="ctr"/>
          <a:lstStyle/>
          <a:p>
            <a:pPr marL="0" indent="0">
              <a:buNone/>
            </a:pPr>
            <a:r>
              <a:rPr lang="en-US" sz="1300" dirty="0">
                <a:solidFill>
                  <a:srgbClr val="E8DFF0"/>
                </a:solidFill>
                <a:latin typeface="Calibri" pitchFamily="34" charset="0"/>
                <a:ea typeface="Calibri" pitchFamily="34" charset="-122"/>
                <a:cs typeface="Calibri" pitchFamily="34" charset="-120"/>
              </a:rPr>
              <a:t>Sections A01–A05, C01–C05, D01–D08 — All Applicable Cases</a:t>
            </a:r>
            <a:endParaRPr lang="en-US" sz="1300" dirty="0"/>
          </a:p>
        </p:txBody>
      </p:sp>
      <p:sp>
        <p:nvSpPr>
          <p:cNvPr id="5" name="Shape 3"/>
          <p:cNvSpPr/>
          <p:nvPr/>
        </p:nvSpPr>
        <p:spPr>
          <a:xfrm>
            <a:off x="0" y="6492240"/>
            <a:ext cx="12188952" cy="365760"/>
          </a:xfrm>
          <a:prstGeom prst="rect">
            <a:avLst/>
          </a:prstGeom>
          <a:solidFill>
            <a:srgbClr val="3A1854"/>
          </a:solidFill>
          <a:ln/>
        </p:spPr>
        <p:txBody>
          <a:bodyPr/>
          <a:lstStyle/>
          <a:p>
            <a:endParaRPr lang="en-US"/>
          </a:p>
        </p:txBody>
      </p:sp>
      <p:sp>
        <p:nvSpPr>
          <p:cNvPr id="6" name="Text 4"/>
          <p:cNvSpPr/>
          <p:nvPr/>
        </p:nvSpPr>
        <p:spPr>
          <a:xfrm>
            <a:off x="548640" y="6510528"/>
            <a:ext cx="9144000" cy="320040"/>
          </a:xfrm>
          <a:prstGeom prst="rect">
            <a:avLst/>
          </a:prstGeom>
          <a:noFill/>
          <a:ln/>
        </p:spPr>
        <p:txBody>
          <a:bodyPr wrap="square" rtlCol="0" anchor="ctr"/>
          <a:lstStyle/>
          <a:p>
            <a:pPr marL="0" indent="0">
              <a:buNone/>
            </a:pPr>
            <a:r>
              <a:rPr lang="en-US" sz="900" dirty="0">
                <a:solidFill>
                  <a:srgbClr val="E8DFF0"/>
                </a:solidFill>
                <a:latin typeface="Calibri" pitchFamily="34" charset="0"/>
                <a:ea typeface="Calibri" pitchFamily="34" charset="-122"/>
                <a:cs typeface="Calibri" pitchFamily="34" charset="-120"/>
              </a:rPr>
              <a:t>LA OSA 2.0 Blueprint Workshop  |  Day 3 Morning  |  WS-1: Mexico &amp; Wacam</a:t>
            </a:r>
            <a:endParaRPr lang="en-US" sz="900" dirty="0"/>
          </a:p>
        </p:txBody>
      </p:sp>
      <p:sp>
        <p:nvSpPr>
          <p:cNvPr id="7" name="Text 5"/>
          <p:cNvSpPr/>
          <p:nvPr/>
        </p:nvSpPr>
        <p:spPr>
          <a:xfrm>
            <a:off x="10972800" y="6510528"/>
            <a:ext cx="914400" cy="320040"/>
          </a:xfrm>
          <a:prstGeom prst="rect">
            <a:avLst/>
          </a:prstGeom>
          <a:noFill/>
          <a:ln/>
        </p:spPr>
        <p:txBody>
          <a:bodyPr wrap="square" rtlCol="0" anchor="ctr"/>
          <a:lstStyle/>
          <a:p>
            <a:pPr marL="0" indent="0" algn="r">
              <a:buNone/>
            </a:pPr>
            <a:r>
              <a:rPr lang="en-US" sz="900" dirty="0">
                <a:solidFill>
                  <a:srgbClr val="E8DFF0"/>
                </a:solidFill>
                <a:latin typeface="Calibri" pitchFamily="34" charset="0"/>
                <a:ea typeface="Calibri" pitchFamily="34" charset="-122"/>
                <a:cs typeface="Calibri" pitchFamily="34" charset="-120"/>
              </a:rPr>
              <a:t>11 / 20</a:t>
            </a:r>
            <a:endParaRPr lang="en-US" sz="900" dirty="0"/>
          </a:p>
        </p:txBody>
      </p:sp>
      <p:sp>
        <p:nvSpPr>
          <p:cNvPr id="8" name="Text 6"/>
          <p:cNvSpPr/>
          <p:nvPr/>
        </p:nvSpPr>
        <p:spPr>
          <a:xfrm>
            <a:off x="548640" y="1234440"/>
            <a:ext cx="10972800" cy="320040"/>
          </a:xfrm>
          <a:prstGeom prst="rect">
            <a:avLst/>
          </a:prstGeom>
          <a:noFill/>
          <a:ln/>
        </p:spPr>
        <p:txBody>
          <a:bodyPr wrap="square" rtlCol="0" anchor="ctr"/>
          <a:lstStyle/>
          <a:p>
            <a:pPr marL="0" indent="0">
              <a:buNone/>
            </a:pPr>
            <a:r>
              <a:rPr lang="en-US" sz="1300" dirty="0">
                <a:solidFill>
                  <a:srgbClr val="3D3D3D"/>
                </a:solidFill>
                <a:latin typeface="Calibri" pitchFamily="34" charset="0"/>
                <a:ea typeface="Calibri" pitchFamily="34" charset="-122"/>
                <a:cs typeface="Calibri" pitchFamily="34" charset="-120"/>
              </a:rPr>
              <a:t>Show and apply CDRB reviews and actions for all items related to November deliverables</a:t>
            </a:r>
            <a:endParaRPr lang="en-US" sz="1300" dirty="0"/>
          </a:p>
        </p:txBody>
      </p:sp>
      <p:sp>
        <p:nvSpPr>
          <p:cNvPr id="9" name="Shape 7"/>
          <p:cNvSpPr/>
          <p:nvPr/>
        </p:nvSpPr>
        <p:spPr>
          <a:xfrm>
            <a:off x="548640" y="1691640"/>
            <a:ext cx="3520440" cy="3474720"/>
          </a:xfrm>
          <a:prstGeom prst="roundRect">
            <a:avLst>
              <a:gd name="adj" fmla="val 2105"/>
            </a:avLst>
          </a:prstGeom>
          <a:solidFill>
            <a:srgbClr val="E8DFF0"/>
          </a:solidFill>
          <a:ln w="12700">
            <a:solidFill>
              <a:srgbClr val="4F2170"/>
            </a:solidFill>
            <a:prstDash val="solid"/>
          </a:ln>
        </p:spPr>
        <p:txBody>
          <a:bodyPr/>
          <a:lstStyle/>
          <a:p>
            <a:endParaRPr lang="en-US"/>
          </a:p>
        </p:txBody>
      </p:sp>
      <p:sp>
        <p:nvSpPr>
          <p:cNvPr id="10" name="Text 8"/>
          <p:cNvSpPr/>
          <p:nvPr/>
        </p:nvSpPr>
        <p:spPr>
          <a:xfrm>
            <a:off x="685800" y="1783080"/>
            <a:ext cx="3246120" cy="320040"/>
          </a:xfrm>
          <a:prstGeom prst="rect">
            <a:avLst/>
          </a:prstGeom>
          <a:noFill/>
          <a:ln/>
        </p:spPr>
        <p:txBody>
          <a:bodyPr wrap="square" rtlCol="0" anchor="ctr"/>
          <a:lstStyle/>
          <a:p>
            <a:pPr marL="0" indent="0">
              <a:buNone/>
            </a:pPr>
            <a:r>
              <a:rPr lang="en-US" sz="1200" b="1" dirty="0">
                <a:solidFill>
                  <a:srgbClr val="4F2170"/>
                </a:solidFill>
                <a:latin typeface="Arial" pitchFamily="34" charset="0"/>
                <a:ea typeface="Arial" pitchFamily="34" charset="-122"/>
                <a:cs typeface="Arial" pitchFamily="34" charset="-120"/>
              </a:rPr>
              <a:t>Section A: Architecture &amp; Layering</a:t>
            </a:r>
            <a:endParaRPr lang="en-US" sz="1200" dirty="0"/>
          </a:p>
        </p:txBody>
      </p:sp>
      <p:sp>
        <p:nvSpPr>
          <p:cNvPr id="11" name="Text 9"/>
          <p:cNvSpPr/>
          <p:nvPr/>
        </p:nvSpPr>
        <p:spPr>
          <a:xfrm>
            <a:off x="685800" y="2194560"/>
            <a:ext cx="3246120" cy="2834640"/>
          </a:xfrm>
          <a:prstGeom prst="rect">
            <a:avLst/>
          </a:prstGeom>
          <a:noFill/>
          <a:ln/>
        </p:spPr>
        <p:txBody>
          <a:bodyPr wrap="square" rtlCol="0" anchor="t"/>
          <a:lstStyle/>
          <a:p>
            <a:pPr marL="0" indent="0">
              <a:lnSpc>
                <a:spcPct val="150000"/>
              </a:lnSpc>
              <a:buNone/>
            </a:pPr>
            <a:r>
              <a:rPr lang="en-US" sz="1050" dirty="0">
                <a:solidFill>
                  <a:srgbClr val="3D3D3D"/>
                </a:solidFill>
                <a:latin typeface="Calibri" pitchFamily="34" charset="0"/>
                <a:ea typeface="Calibri" pitchFamily="34" charset="-122"/>
                <a:cs typeface="Calibri" pitchFamily="34" charset="-120"/>
              </a:rPr>
              <a:t>☐  A01  Each component does one job
☐  A02  Components are where they belong
☐  A03  Market is a setting, not code
☐  A04  Environment is a setting, not code
☐  A05  One conductor per layer
</a:t>
            </a:r>
            <a:endParaRPr lang="en-US" sz="1050" dirty="0"/>
          </a:p>
        </p:txBody>
      </p:sp>
      <p:sp>
        <p:nvSpPr>
          <p:cNvPr id="12" name="Shape 10"/>
          <p:cNvSpPr/>
          <p:nvPr/>
        </p:nvSpPr>
        <p:spPr>
          <a:xfrm>
            <a:off x="4343400" y="1691640"/>
            <a:ext cx="3520440" cy="3474720"/>
          </a:xfrm>
          <a:prstGeom prst="roundRect">
            <a:avLst>
              <a:gd name="adj" fmla="val 2105"/>
            </a:avLst>
          </a:prstGeom>
          <a:solidFill>
            <a:srgbClr val="FFF3E5"/>
          </a:solidFill>
          <a:ln w="12700">
            <a:solidFill>
              <a:srgbClr val="E18719"/>
            </a:solidFill>
            <a:prstDash val="solid"/>
          </a:ln>
        </p:spPr>
        <p:txBody>
          <a:bodyPr/>
          <a:lstStyle/>
          <a:p>
            <a:endParaRPr lang="en-US"/>
          </a:p>
        </p:txBody>
      </p:sp>
      <p:sp>
        <p:nvSpPr>
          <p:cNvPr id="13" name="Text 11"/>
          <p:cNvSpPr/>
          <p:nvPr/>
        </p:nvSpPr>
        <p:spPr>
          <a:xfrm>
            <a:off x="4480560" y="1783080"/>
            <a:ext cx="3246120" cy="320040"/>
          </a:xfrm>
          <a:prstGeom prst="rect">
            <a:avLst/>
          </a:prstGeom>
          <a:noFill/>
          <a:ln/>
        </p:spPr>
        <p:txBody>
          <a:bodyPr wrap="square" rtlCol="0" anchor="ctr"/>
          <a:lstStyle/>
          <a:p>
            <a:pPr marL="0" indent="0">
              <a:buNone/>
            </a:pPr>
            <a:r>
              <a:rPr lang="en-US" sz="1200" b="1" dirty="0">
                <a:solidFill>
                  <a:srgbClr val="E18719"/>
                </a:solidFill>
                <a:latin typeface="Arial" pitchFamily="34" charset="0"/>
                <a:ea typeface="Arial" pitchFamily="34" charset="-122"/>
                <a:cs typeface="Arial" pitchFamily="34" charset="-120"/>
              </a:rPr>
              <a:t>Section C: Configuration</a:t>
            </a:r>
            <a:endParaRPr lang="en-US" sz="1200" dirty="0"/>
          </a:p>
        </p:txBody>
      </p:sp>
      <p:sp>
        <p:nvSpPr>
          <p:cNvPr id="14" name="Text 12"/>
          <p:cNvSpPr/>
          <p:nvPr/>
        </p:nvSpPr>
        <p:spPr>
          <a:xfrm>
            <a:off x="4480560" y="2194560"/>
            <a:ext cx="3246120" cy="2834640"/>
          </a:xfrm>
          <a:prstGeom prst="rect">
            <a:avLst/>
          </a:prstGeom>
          <a:noFill/>
          <a:ln/>
        </p:spPr>
        <p:txBody>
          <a:bodyPr wrap="square" rtlCol="0" anchor="t"/>
          <a:lstStyle/>
          <a:p>
            <a:pPr marL="0" indent="0">
              <a:lnSpc>
                <a:spcPct val="150000"/>
              </a:lnSpc>
              <a:buNone/>
            </a:pPr>
            <a:r>
              <a:rPr lang="en-US" sz="1050" dirty="0">
                <a:solidFill>
                  <a:srgbClr val="3D3D3D"/>
                </a:solidFill>
                <a:latin typeface="Calibri" pitchFamily="34" charset="0"/>
                <a:ea typeface="Calibri" pitchFamily="34" charset="-122"/>
                <a:cs typeface="Calibri" pitchFamily="34" charset="-120"/>
              </a:rPr>
              <a:t>☐  C01  Rules are rows, not code
☐  C02  No hidden numbers or dates
☐  C03  No copy-paste procedures
☐  C04  One source per reference dataset
☐  C05  Config changes are governed
</a:t>
            </a:r>
            <a:endParaRPr lang="en-US" sz="1050" dirty="0"/>
          </a:p>
        </p:txBody>
      </p:sp>
      <p:sp>
        <p:nvSpPr>
          <p:cNvPr id="15" name="Shape 13"/>
          <p:cNvSpPr/>
          <p:nvPr/>
        </p:nvSpPr>
        <p:spPr>
          <a:xfrm>
            <a:off x="8138160" y="1691640"/>
            <a:ext cx="3520440" cy="3474720"/>
          </a:xfrm>
          <a:prstGeom prst="roundRect">
            <a:avLst>
              <a:gd name="adj" fmla="val 2105"/>
            </a:avLst>
          </a:prstGeom>
          <a:solidFill>
            <a:srgbClr val="E8F5E4"/>
          </a:solidFill>
          <a:ln w="12700">
            <a:solidFill>
              <a:srgbClr val="287819"/>
            </a:solidFill>
            <a:prstDash val="solid"/>
          </a:ln>
        </p:spPr>
        <p:txBody>
          <a:bodyPr/>
          <a:lstStyle/>
          <a:p>
            <a:endParaRPr lang="en-US"/>
          </a:p>
        </p:txBody>
      </p:sp>
      <p:sp>
        <p:nvSpPr>
          <p:cNvPr id="16" name="Text 14"/>
          <p:cNvSpPr/>
          <p:nvPr/>
        </p:nvSpPr>
        <p:spPr>
          <a:xfrm>
            <a:off x="8275320" y="1783080"/>
            <a:ext cx="3246120" cy="320040"/>
          </a:xfrm>
          <a:prstGeom prst="rect">
            <a:avLst/>
          </a:prstGeom>
          <a:noFill/>
          <a:ln/>
        </p:spPr>
        <p:txBody>
          <a:bodyPr wrap="square" rtlCol="0" anchor="ctr"/>
          <a:lstStyle/>
          <a:p>
            <a:pPr marL="0" indent="0">
              <a:buNone/>
            </a:pPr>
            <a:r>
              <a:rPr lang="en-US" sz="1200" b="1" dirty="0">
                <a:solidFill>
                  <a:srgbClr val="287819"/>
                </a:solidFill>
                <a:latin typeface="Arial" pitchFamily="34" charset="0"/>
                <a:ea typeface="Arial" pitchFamily="34" charset="-122"/>
                <a:cs typeface="Arial" pitchFamily="34" charset="-120"/>
              </a:rPr>
              <a:t>Section D: Code Structure</a:t>
            </a:r>
            <a:endParaRPr lang="en-US" sz="1200" dirty="0"/>
          </a:p>
        </p:txBody>
      </p:sp>
      <p:sp>
        <p:nvSpPr>
          <p:cNvPr id="17" name="Text 15"/>
          <p:cNvSpPr/>
          <p:nvPr/>
        </p:nvSpPr>
        <p:spPr>
          <a:xfrm>
            <a:off x="8275320" y="2194560"/>
            <a:ext cx="3246120" cy="2834640"/>
          </a:xfrm>
          <a:prstGeom prst="rect">
            <a:avLst/>
          </a:prstGeom>
          <a:noFill/>
          <a:ln/>
        </p:spPr>
        <p:txBody>
          <a:bodyPr wrap="square" rtlCol="0" anchor="t"/>
          <a:lstStyle/>
          <a:p>
            <a:pPr marL="0" indent="0">
              <a:lnSpc>
                <a:spcPct val="135000"/>
              </a:lnSpc>
              <a:buNone/>
            </a:pPr>
            <a:r>
              <a:rPr lang="en-US" sz="1000" dirty="0">
                <a:solidFill>
                  <a:srgbClr val="3D3D3D"/>
                </a:solidFill>
                <a:latin typeface="Calibri" pitchFamily="34" charset="0"/>
                <a:ea typeface="Calibri" pitchFamily="34" charset="-122"/>
                <a:cs typeface="Calibri" pitchFamily="34" charset="-120"/>
              </a:rPr>
              <a:t>☐  D01  8-block template followed
☐  D02  One logging method
☐  D03  Readable, focused transforms
☐  D04  Explicit missing data handling
☐  D05  Safe calculations
☐  D06  Consistent naming
☐  D07  Strict type checking
☐  D08  No ambiguous column selections
</a:t>
            </a:r>
            <a:endParaRPr lang="en-US" sz="1000" dirty="0"/>
          </a:p>
        </p:txBody>
      </p:sp>
      <p:sp>
        <p:nvSpPr>
          <p:cNvPr id="18" name="Shape 16"/>
          <p:cNvSpPr/>
          <p:nvPr/>
        </p:nvSpPr>
        <p:spPr>
          <a:xfrm>
            <a:off x="548640" y="5394960"/>
            <a:ext cx="11064240" cy="731520"/>
          </a:xfrm>
          <a:prstGeom prst="roundRect">
            <a:avLst>
              <a:gd name="adj" fmla="val 7500"/>
            </a:avLst>
          </a:prstGeom>
          <a:solidFill>
            <a:srgbClr val="FFF3E5"/>
          </a:solidFill>
          <a:ln w="19050">
            <a:solidFill>
              <a:srgbClr val="E18719"/>
            </a:solidFill>
            <a:prstDash val="solid"/>
          </a:ln>
        </p:spPr>
        <p:txBody>
          <a:bodyPr/>
          <a:lstStyle/>
          <a:p>
            <a:endParaRPr lang="en-US"/>
          </a:p>
        </p:txBody>
      </p:sp>
      <p:sp>
        <p:nvSpPr>
          <p:cNvPr id="19" name="Text 17"/>
          <p:cNvSpPr/>
          <p:nvPr/>
        </p:nvSpPr>
        <p:spPr>
          <a:xfrm>
            <a:off x="777240" y="5440680"/>
            <a:ext cx="10607040" cy="640080"/>
          </a:xfrm>
          <a:prstGeom prst="rect">
            <a:avLst/>
          </a:prstGeom>
          <a:noFill/>
          <a:ln/>
        </p:spPr>
        <p:txBody>
          <a:bodyPr wrap="square" rtlCol="0" anchor="ctr"/>
          <a:lstStyle/>
          <a:p>
            <a:pPr marL="0" indent="0">
              <a:lnSpc>
                <a:spcPct val="115000"/>
              </a:lnSpc>
              <a:buNone/>
            </a:pPr>
            <a:r>
              <a:rPr lang="en-US" sz="1100" b="1" dirty="0">
                <a:solidFill>
                  <a:srgbClr val="E18719"/>
                </a:solidFill>
                <a:latin typeface="Arial" pitchFamily="34" charset="0"/>
                <a:ea typeface="Arial" pitchFamily="34" charset="-122"/>
                <a:cs typeface="Arial" pitchFamily="34" charset="-120"/>
              </a:rPr>
              <a:t>CDRB Operating Rhythm:  </a:t>
            </a:r>
            <a:r>
              <a:rPr lang="en-US" sz="1100" dirty="0">
                <a:solidFill>
                  <a:srgbClr val="3D3D3D"/>
                </a:solidFill>
                <a:latin typeface="Calibri" pitchFamily="34" charset="0"/>
                <a:ea typeface="Calibri" pitchFamily="34" charset="-122"/>
                <a:cs typeface="Calibri" pitchFamily="34" charset="-120"/>
              </a:rPr>
              <a:t>Every PR for a TO-BE procedure, configuration table change, or shared function change. Review within 2 business days. Decisions: Approve | Approve with conditions | Redirect with rationale.</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4F2170"/>
          </a:solidFill>
          <a:ln/>
        </p:spPr>
        <p:txBody>
          <a:bodyPr/>
          <a:lstStyle/>
          <a:p>
            <a:endParaRPr lang="en-US"/>
          </a:p>
        </p:txBody>
      </p:sp>
      <p:sp>
        <p:nvSpPr>
          <p:cNvPr id="3" name="Text 1"/>
          <p:cNvSpPr/>
          <p:nvPr/>
        </p:nvSpPr>
        <p:spPr>
          <a:xfrm>
            <a:off x="548640" y="137160"/>
            <a:ext cx="10515600" cy="502920"/>
          </a:xfrm>
          <a:prstGeom prst="rect">
            <a:avLst/>
          </a:prstGeom>
          <a:noFill/>
          <a:ln/>
        </p:spPr>
        <p:txBody>
          <a:bodyPr wrap="square" rtlCol="0" anchor="ctr"/>
          <a:lstStyle/>
          <a:p>
            <a:pPr marL="0" indent="0">
              <a:buNone/>
            </a:pPr>
            <a:r>
              <a:rPr lang="en-US" sz="2400" dirty="0">
                <a:solidFill>
                  <a:srgbClr val="FFFFFF"/>
                </a:solidFill>
                <a:latin typeface="Arial" pitchFamily="34" charset="0"/>
                <a:ea typeface="Arial" pitchFamily="34" charset="-122"/>
                <a:cs typeface="Arial" pitchFamily="34" charset="-120"/>
              </a:rPr>
              <a:t>December Deliverables Overview</a:t>
            </a:r>
            <a:endParaRPr lang="en-US" sz="2400" dirty="0"/>
          </a:p>
        </p:txBody>
      </p:sp>
      <p:sp>
        <p:nvSpPr>
          <p:cNvPr id="4" name="Text 2"/>
          <p:cNvSpPr/>
          <p:nvPr/>
        </p:nvSpPr>
        <p:spPr>
          <a:xfrm>
            <a:off x="548640" y="594360"/>
            <a:ext cx="10515600" cy="320040"/>
          </a:xfrm>
          <a:prstGeom prst="rect">
            <a:avLst/>
          </a:prstGeom>
          <a:noFill/>
          <a:ln/>
        </p:spPr>
        <p:txBody>
          <a:bodyPr wrap="square" rtlCol="0" anchor="ctr"/>
          <a:lstStyle/>
          <a:p>
            <a:pPr marL="0" indent="0">
              <a:buNone/>
            </a:pPr>
            <a:r>
              <a:rPr lang="en-US" sz="1300" dirty="0">
                <a:solidFill>
                  <a:srgbClr val="E8DFF0"/>
                </a:solidFill>
                <a:latin typeface="Calibri" pitchFamily="34" charset="0"/>
                <a:ea typeface="Calibri" pitchFamily="34" charset="-122"/>
                <a:cs typeface="Calibri" pitchFamily="34" charset="-120"/>
              </a:rPr>
              <a:t>WS-1  |  Applicable CDRB: Sections B, E, F, G, H, I, J, K, L</a:t>
            </a:r>
            <a:endParaRPr lang="en-US" sz="1300" dirty="0"/>
          </a:p>
        </p:txBody>
      </p:sp>
      <p:sp>
        <p:nvSpPr>
          <p:cNvPr id="5" name="Shape 3"/>
          <p:cNvSpPr/>
          <p:nvPr/>
        </p:nvSpPr>
        <p:spPr>
          <a:xfrm>
            <a:off x="0" y="6492240"/>
            <a:ext cx="12188952" cy="365760"/>
          </a:xfrm>
          <a:prstGeom prst="rect">
            <a:avLst/>
          </a:prstGeom>
          <a:solidFill>
            <a:srgbClr val="3A1854"/>
          </a:solidFill>
          <a:ln/>
        </p:spPr>
        <p:txBody>
          <a:bodyPr/>
          <a:lstStyle/>
          <a:p>
            <a:endParaRPr lang="en-US"/>
          </a:p>
        </p:txBody>
      </p:sp>
      <p:sp>
        <p:nvSpPr>
          <p:cNvPr id="6" name="Text 4"/>
          <p:cNvSpPr/>
          <p:nvPr/>
        </p:nvSpPr>
        <p:spPr>
          <a:xfrm>
            <a:off x="548640" y="6510528"/>
            <a:ext cx="9144000" cy="320040"/>
          </a:xfrm>
          <a:prstGeom prst="rect">
            <a:avLst/>
          </a:prstGeom>
          <a:noFill/>
          <a:ln/>
        </p:spPr>
        <p:txBody>
          <a:bodyPr wrap="square" rtlCol="0" anchor="ctr"/>
          <a:lstStyle/>
          <a:p>
            <a:pPr marL="0" indent="0">
              <a:buNone/>
            </a:pPr>
            <a:r>
              <a:rPr lang="en-US" sz="900" dirty="0">
                <a:solidFill>
                  <a:srgbClr val="E8DFF0"/>
                </a:solidFill>
                <a:latin typeface="Calibri" pitchFamily="34" charset="0"/>
                <a:ea typeface="Calibri" pitchFamily="34" charset="-122"/>
                <a:cs typeface="Calibri" pitchFamily="34" charset="-120"/>
              </a:rPr>
              <a:t>LA OSA 2.0 Blueprint Workshop  |  Day 3 Morning  |  WS-1: Mexico &amp; Wacam</a:t>
            </a:r>
            <a:endParaRPr lang="en-US" sz="900" dirty="0"/>
          </a:p>
        </p:txBody>
      </p:sp>
      <p:sp>
        <p:nvSpPr>
          <p:cNvPr id="7" name="Text 5"/>
          <p:cNvSpPr/>
          <p:nvPr/>
        </p:nvSpPr>
        <p:spPr>
          <a:xfrm>
            <a:off x="10972800" y="6510528"/>
            <a:ext cx="914400" cy="320040"/>
          </a:xfrm>
          <a:prstGeom prst="rect">
            <a:avLst/>
          </a:prstGeom>
          <a:noFill/>
          <a:ln/>
        </p:spPr>
        <p:txBody>
          <a:bodyPr wrap="square" rtlCol="0" anchor="ctr"/>
          <a:lstStyle/>
          <a:p>
            <a:pPr marL="0" indent="0" algn="r">
              <a:buNone/>
            </a:pPr>
            <a:r>
              <a:rPr lang="en-US" sz="900" dirty="0">
                <a:solidFill>
                  <a:srgbClr val="E8DFF0"/>
                </a:solidFill>
                <a:latin typeface="Calibri" pitchFamily="34" charset="0"/>
                <a:ea typeface="Calibri" pitchFamily="34" charset="-122"/>
                <a:cs typeface="Calibri" pitchFamily="34" charset="-120"/>
              </a:rPr>
              <a:t>12 / 20</a:t>
            </a:r>
            <a:endParaRPr lang="en-US" sz="900" dirty="0"/>
          </a:p>
        </p:txBody>
      </p:sp>
      <p:sp>
        <p:nvSpPr>
          <p:cNvPr id="8" name="Shape 6"/>
          <p:cNvSpPr/>
          <p:nvPr/>
        </p:nvSpPr>
        <p:spPr>
          <a:xfrm>
            <a:off x="548640" y="1280160"/>
            <a:ext cx="11064240" cy="457200"/>
          </a:xfrm>
          <a:prstGeom prst="roundRect">
            <a:avLst>
              <a:gd name="adj" fmla="val 10000"/>
            </a:avLst>
          </a:prstGeom>
          <a:solidFill>
            <a:srgbClr val="4F2170"/>
          </a:solidFill>
          <a:ln/>
        </p:spPr>
        <p:txBody>
          <a:bodyPr/>
          <a:lstStyle/>
          <a:p>
            <a:endParaRPr lang="en-US"/>
          </a:p>
        </p:txBody>
      </p:sp>
      <p:sp>
        <p:nvSpPr>
          <p:cNvPr id="9" name="Text 7"/>
          <p:cNvSpPr/>
          <p:nvPr/>
        </p:nvSpPr>
        <p:spPr>
          <a:xfrm>
            <a:off x="731520" y="1298448"/>
            <a:ext cx="10515600" cy="411480"/>
          </a:xfrm>
          <a:prstGeom prst="rect">
            <a:avLst/>
          </a:prstGeom>
          <a:noFill/>
          <a:ln/>
        </p:spPr>
        <p:txBody>
          <a:bodyPr wrap="square" rtlCol="0" anchor="ctr"/>
          <a:lstStyle/>
          <a:p>
            <a:pPr marL="0" indent="0">
              <a:buNone/>
            </a:pPr>
            <a:r>
              <a:rPr lang="en-US" sz="1400" b="1" dirty="0">
                <a:solidFill>
                  <a:srgbClr val="FFFFFF"/>
                </a:solidFill>
                <a:latin typeface="Arial" pitchFamily="34" charset="0"/>
                <a:ea typeface="Arial" pitchFamily="34" charset="-122"/>
                <a:cs typeface="Arial" pitchFamily="34" charset="-120"/>
              </a:rPr>
              <a:t>8 DELIVERABLES  |  DECEMBER 2026  |  CDRB SECTIONS B · E · F · G · H · I · J · K · L</a:t>
            </a:r>
            <a:endParaRPr lang="en-US" sz="1400" dirty="0"/>
          </a:p>
        </p:txBody>
      </p:sp>
      <p:sp>
        <p:nvSpPr>
          <p:cNvPr id="10" name="Shape 8"/>
          <p:cNvSpPr/>
          <p:nvPr/>
        </p:nvSpPr>
        <p:spPr>
          <a:xfrm>
            <a:off x="548640" y="1920240"/>
            <a:ext cx="384048" cy="384048"/>
          </a:xfrm>
          <a:prstGeom prst="roundRect">
            <a:avLst>
              <a:gd name="adj" fmla="val 11905"/>
            </a:avLst>
          </a:prstGeom>
          <a:solidFill>
            <a:srgbClr val="E18719"/>
          </a:solidFill>
          <a:ln/>
        </p:spPr>
        <p:txBody>
          <a:bodyPr/>
          <a:lstStyle/>
          <a:p>
            <a:endParaRPr lang="en-US"/>
          </a:p>
        </p:txBody>
      </p:sp>
      <p:sp>
        <p:nvSpPr>
          <p:cNvPr id="11" name="Text 9"/>
          <p:cNvSpPr/>
          <p:nvPr/>
        </p:nvSpPr>
        <p:spPr>
          <a:xfrm>
            <a:off x="548640" y="1920240"/>
            <a:ext cx="384048" cy="384048"/>
          </a:xfrm>
          <a:prstGeom prst="rect">
            <a:avLst/>
          </a:prstGeom>
          <a:noFill/>
          <a:ln/>
        </p:spPr>
        <p:txBody>
          <a:bodyPr wrap="square" rtlCol="0" anchor="ctr"/>
          <a:lstStyle/>
          <a:p>
            <a:pPr marL="0" indent="0" algn="ctr">
              <a:buNone/>
            </a:pPr>
            <a:r>
              <a:rPr lang="en-US" sz="1300" dirty="0">
                <a:solidFill>
                  <a:srgbClr val="FFFFFF"/>
                </a:solidFill>
                <a:latin typeface="Arial" pitchFamily="34" charset="0"/>
                <a:ea typeface="Arial" pitchFamily="34" charset="-122"/>
                <a:cs typeface="Arial" pitchFamily="34" charset="-120"/>
              </a:rPr>
              <a:t>1</a:t>
            </a:r>
            <a:endParaRPr lang="en-US" sz="1300" dirty="0"/>
          </a:p>
        </p:txBody>
      </p:sp>
      <p:sp>
        <p:nvSpPr>
          <p:cNvPr id="12" name="Text 10"/>
          <p:cNvSpPr/>
          <p:nvPr/>
        </p:nvSpPr>
        <p:spPr>
          <a:xfrm>
            <a:off x="1097280" y="1920240"/>
            <a:ext cx="10515600" cy="475488"/>
          </a:xfrm>
          <a:prstGeom prst="rect">
            <a:avLst/>
          </a:prstGeom>
          <a:noFill/>
          <a:ln/>
        </p:spPr>
        <p:txBody>
          <a:bodyPr wrap="square" rtlCol="0" anchor="ctr"/>
          <a:lstStyle/>
          <a:p>
            <a:pPr marL="0" indent="0">
              <a:lnSpc>
                <a:spcPct val="105000"/>
              </a:lnSpc>
              <a:buNone/>
            </a:pPr>
            <a:r>
              <a:rPr lang="en-US" sz="1100" dirty="0">
                <a:solidFill>
                  <a:srgbClr val="3D3D3D"/>
                </a:solidFill>
                <a:latin typeface="Calibri" pitchFamily="34" charset="0"/>
                <a:ea typeface="Calibri" pitchFamily="34" charset="-122"/>
                <a:cs typeface="Calibri" pitchFamily="34" charset="-120"/>
              </a:rPr>
              <a:t>Full solution design &amp; sandbox build: base measures, loading/error handling, KPI engine, performance, scalability (H), security (I), testing (J), observability (K), documentation (L)</a:t>
            </a:r>
            <a:endParaRPr lang="en-US" sz="1100" dirty="0"/>
          </a:p>
        </p:txBody>
      </p:sp>
      <p:sp>
        <p:nvSpPr>
          <p:cNvPr id="13" name="Shape 11"/>
          <p:cNvSpPr/>
          <p:nvPr/>
        </p:nvSpPr>
        <p:spPr>
          <a:xfrm>
            <a:off x="548640" y="2487168"/>
            <a:ext cx="384048" cy="384048"/>
          </a:xfrm>
          <a:prstGeom prst="roundRect">
            <a:avLst>
              <a:gd name="adj" fmla="val 11905"/>
            </a:avLst>
          </a:prstGeom>
          <a:solidFill>
            <a:srgbClr val="E18719"/>
          </a:solidFill>
          <a:ln/>
        </p:spPr>
        <p:txBody>
          <a:bodyPr/>
          <a:lstStyle/>
          <a:p>
            <a:endParaRPr lang="en-US"/>
          </a:p>
        </p:txBody>
      </p:sp>
      <p:sp>
        <p:nvSpPr>
          <p:cNvPr id="14" name="Text 12"/>
          <p:cNvSpPr/>
          <p:nvPr/>
        </p:nvSpPr>
        <p:spPr>
          <a:xfrm>
            <a:off x="548640" y="2487168"/>
            <a:ext cx="384048" cy="384048"/>
          </a:xfrm>
          <a:prstGeom prst="rect">
            <a:avLst/>
          </a:prstGeom>
          <a:noFill/>
          <a:ln/>
        </p:spPr>
        <p:txBody>
          <a:bodyPr wrap="square" rtlCol="0" anchor="ctr"/>
          <a:lstStyle/>
          <a:p>
            <a:pPr marL="0" indent="0" algn="ctr">
              <a:buNone/>
            </a:pPr>
            <a:r>
              <a:rPr lang="en-US" sz="1300" dirty="0">
                <a:solidFill>
                  <a:srgbClr val="FFFFFF"/>
                </a:solidFill>
                <a:latin typeface="Arial" pitchFamily="34" charset="0"/>
                <a:ea typeface="Arial" pitchFamily="34" charset="-122"/>
                <a:cs typeface="Arial" pitchFamily="34" charset="-120"/>
              </a:rPr>
              <a:t>2</a:t>
            </a:r>
            <a:endParaRPr lang="en-US" sz="1300" dirty="0"/>
          </a:p>
        </p:txBody>
      </p:sp>
      <p:sp>
        <p:nvSpPr>
          <p:cNvPr id="15" name="Text 13"/>
          <p:cNvSpPr/>
          <p:nvPr/>
        </p:nvSpPr>
        <p:spPr>
          <a:xfrm>
            <a:off x="1097280" y="2487168"/>
            <a:ext cx="10515600" cy="475488"/>
          </a:xfrm>
          <a:prstGeom prst="rect">
            <a:avLst/>
          </a:prstGeom>
          <a:noFill/>
          <a:ln/>
        </p:spPr>
        <p:txBody>
          <a:bodyPr wrap="square" rtlCol="0" anchor="ctr"/>
          <a:lstStyle/>
          <a:p>
            <a:pPr marL="0" indent="0">
              <a:lnSpc>
                <a:spcPct val="105000"/>
              </a:lnSpc>
              <a:buNone/>
            </a:pPr>
            <a:r>
              <a:rPr lang="en-US" sz="1100" dirty="0">
                <a:solidFill>
                  <a:srgbClr val="3D3D3D"/>
                </a:solidFill>
                <a:latin typeface="Calibri" pitchFamily="34" charset="0"/>
                <a:ea typeface="Calibri" pitchFamily="34" charset="-122"/>
                <a:cs typeface="Calibri" pitchFamily="34" charset="-120"/>
              </a:rPr>
              <a:t>Foundations build: config tables, shared functions, utilities, SP template</a:t>
            </a:r>
            <a:endParaRPr lang="en-US" sz="1100" dirty="0"/>
          </a:p>
        </p:txBody>
      </p:sp>
      <p:sp>
        <p:nvSpPr>
          <p:cNvPr id="16" name="Shape 14"/>
          <p:cNvSpPr/>
          <p:nvPr/>
        </p:nvSpPr>
        <p:spPr>
          <a:xfrm>
            <a:off x="548640" y="3054096"/>
            <a:ext cx="384048" cy="384048"/>
          </a:xfrm>
          <a:prstGeom prst="roundRect">
            <a:avLst>
              <a:gd name="adj" fmla="val 11905"/>
            </a:avLst>
          </a:prstGeom>
          <a:solidFill>
            <a:srgbClr val="E18719"/>
          </a:solidFill>
          <a:ln/>
        </p:spPr>
        <p:txBody>
          <a:bodyPr/>
          <a:lstStyle/>
          <a:p>
            <a:endParaRPr lang="en-US"/>
          </a:p>
        </p:txBody>
      </p:sp>
      <p:sp>
        <p:nvSpPr>
          <p:cNvPr id="17" name="Text 15"/>
          <p:cNvSpPr/>
          <p:nvPr/>
        </p:nvSpPr>
        <p:spPr>
          <a:xfrm>
            <a:off x="548640" y="3054096"/>
            <a:ext cx="384048" cy="384048"/>
          </a:xfrm>
          <a:prstGeom prst="rect">
            <a:avLst/>
          </a:prstGeom>
          <a:noFill/>
          <a:ln/>
        </p:spPr>
        <p:txBody>
          <a:bodyPr wrap="square" rtlCol="0" anchor="ctr"/>
          <a:lstStyle/>
          <a:p>
            <a:pPr marL="0" indent="0" algn="ctr">
              <a:buNone/>
            </a:pPr>
            <a:r>
              <a:rPr lang="en-US" sz="1300" dirty="0">
                <a:solidFill>
                  <a:srgbClr val="FFFFFF"/>
                </a:solidFill>
                <a:latin typeface="Arial" pitchFamily="34" charset="0"/>
                <a:ea typeface="Arial" pitchFamily="34" charset="-122"/>
                <a:cs typeface="Arial" pitchFamily="34" charset="-120"/>
              </a:rPr>
              <a:t>3</a:t>
            </a:r>
            <a:endParaRPr lang="en-US" sz="1300" dirty="0"/>
          </a:p>
        </p:txBody>
      </p:sp>
      <p:sp>
        <p:nvSpPr>
          <p:cNvPr id="18" name="Text 16"/>
          <p:cNvSpPr/>
          <p:nvPr/>
        </p:nvSpPr>
        <p:spPr>
          <a:xfrm>
            <a:off x="1097280" y="3054096"/>
            <a:ext cx="10515600" cy="475488"/>
          </a:xfrm>
          <a:prstGeom prst="rect">
            <a:avLst/>
          </a:prstGeom>
          <a:noFill/>
          <a:ln/>
        </p:spPr>
        <p:txBody>
          <a:bodyPr wrap="square" rtlCol="0" anchor="ctr"/>
          <a:lstStyle/>
          <a:p>
            <a:pPr marL="0" indent="0">
              <a:lnSpc>
                <a:spcPct val="105000"/>
              </a:lnSpc>
              <a:buNone/>
            </a:pPr>
            <a:r>
              <a:rPr lang="en-US" sz="1100" dirty="0">
                <a:solidFill>
                  <a:srgbClr val="3D3D3D"/>
                </a:solidFill>
                <a:latin typeface="Calibri" pitchFamily="34" charset="0"/>
                <a:ea typeface="Calibri" pitchFamily="34" charset="-122"/>
                <a:cs typeface="Calibri" pitchFamily="34" charset="-120"/>
              </a:rPr>
              <a:t>Core domains design readiness and build into Databricks exploration zone</a:t>
            </a:r>
            <a:endParaRPr lang="en-US" sz="1100" dirty="0"/>
          </a:p>
        </p:txBody>
      </p:sp>
      <p:sp>
        <p:nvSpPr>
          <p:cNvPr id="19" name="Shape 17"/>
          <p:cNvSpPr/>
          <p:nvPr/>
        </p:nvSpPr>
        <p:spPr>
          <a:xfrm>
            <a:off x="548640" y="3621024"/>
            <a:ext cx="384048" cy="384048"/>
          </a:xfrm>
          <a:prstGeom prst="roundRect">
            <a:avLst>
              <a:gd name="adj" fmla="val 11905"/>
            </a:avLst>
          </a:prstGeom>
          <a:solidFill>
            <a:srgbClr val="E18719"/>
          </a:solidFill>
          <a:ln/>
        </p:spPr>
        <p:txBody>
          <a:bodyPr/>
          <a:lstStyle/>
          <a:p>
            <a:endParaRPr lang="en-US"/>
          </a:p>
        </p:txBody>
      </p:sp>
      <p:sp>
        <p:nvSpPr>
          <p:cNvPr id="20" name="Text 18"/>
          <p:cNvSpPr/>
          <p:nvPr/>
        </p:nvSpPr>
        <p:spPr>
          <a:xfrm>
            <a:off x="548640" y="3621024"/>
            <a:ext cx="384048" cy="384048"/>
          </a:xfrm>
          <a:prstGeom prst="rect">
            <a:avLst/>
          </a:prstGeom>
          <a:noFill/>
          <a:ln/>
        </p:spPr>
        <p:txBody>
          <a:bodyPr wrap="square" rtlCol="0" anchor="ctr"/>
          <a:lstStyle/>
          <a:p>
            <a:pPr marL="0" indent="0" algn="ctr">
              <a:buNone/>
            </a:pPr>
            <a:r>
              <a:rPr lang="en-US" sz="1300" dirty="0">
                <a:solidFill>
                  <a:srgbClr val="FFFFFF"/>
                </a:solidFill>
                <a:latin typeface="Arial" pitchFamily="34" charset="0"/>
                <a:ea typeface="Arial" pitchFamily="34" charset="-122"/>
                <a:cs typeface="Arial" pitchFamily="34" charset="-120"/>
              </a:rPr>
              <a:t>4</a:t>
            </a:r>
            <a:endParaRPr lang="en-US" sz="1300" dirty="0"/>
          </a:p>
        </p:txBody>
      </p:sp>
      <p:sp>
        <p:nvSpPr>
          <p:cNvPr id="21" name="Text 19"/>
          <p:cNvSpPr/>
          <p:nvPr/>
        </p:nvSpPr>
        <p:spPr>
          <a:xfrm>
            <a:off x="1097280" y="3621024"/>
            <a:ext cx="10515600" cy="475488"/>
          </a:xfrm>
          <a:prstGeom prst="rect">
            <a:avLst/>
          </a:prstGeom>
          <a:noFill/>
          <a:ln/>
        </p:spPr>
        <p:txBody>
          <a:bodyPr wrap="square" rtlCol="0" anchor="ctr"/>
          <a:lstStyle/>
          <a:p>
            <a:pPr marL="0" indent="0">
              <a:lnSpc>
                <a:spcPct val="105000"/>
              </a:lnSpc>
              <a:buNone/>
            </a:pPr>
            <a:r>
              <a:rPr lang="en-US" sz="1100" dirty="0">
                <a:solidFill>
                  <a:srgbClr val="3D3D3D"/>
                </a:solidFill>
                <a:latin typeface="Calibri" pitchFamily="34" charset="0"/>
                <a:ea typeface="Calibri" pitchFamily="34" charset="-122"/>
                <a:cs typeface="Calibri" pitchFamily="34" charset="-120"/>
              </a:rPr>
              <a:t>AI-assisted redesign: Market level objects for data preparation as configurable objects — optimization scenarios to avoid multiple steps and costs</a:t>
            </a:r>
            <a:endParaRPr lang="en-US" sz="1100" dirty="0"/>
          </a:p>
        </p:txBody>
      </p:sp>
      <p:sp>
        <p:nvSpPr>
          <p:cNvPr id="22" name="Shape 20"/>
          <p:cNvSpPr/>
          <p:nvPr/>
        </p:nvSpPr>
        <p:spPr>
          <a:xfrm>
            <a:off x="548640" y="4187952"/>
            <a:ext cx="384048" cy="384048"/>
          </a:xfrm>
          <a:prstGeom prst="roundRect">
            <a:avLst>
              <a:gd name="adj" fmla="val 11905"/>
            </a:avLst>
          </a:prstGeom>
          <a:solidFill>
            <a:srgbClr val="E18719"/>
          </a:solidFill>
          <a:ln/>
        </p:spPr>
        <p:txBody>
          <a:bodyPr/>
          <a:lstStyle/>
          <a:p>
            <a:endParaRPr lang="en-US"/>
          </a:p>
        </p:txBody>
      </p:sp>
      <p:sp>
        <p:nvSpPr>
          <p:cNvPr id="23" name="Text 21"/>
          <p:cNvSpPr/>
          <p:nvPr/>
        </p:nvSpPr>
        <p:spPr>
          <a:xfrm>
            <a:off x="548640" y="4187952"/>
            <a:ext cx="384048" cy="384048"/>
          </a:xfrm>
          <a:prstGeom prst="rect">
            <a:avLst/>
          </a:prstGeom>
          <a:noFill/>
          <a:ln/>
        </p:spPr>
        <p:txBody>
          <a:bodyPr wrap="square" rtlCol="0" anchor="ctr"/>
          <a:lstStyle/>
          <a:p>
            <a:pPr marL="0" indent="0" algn="ctr">
              <a:buNone/>
            </a:pPr>
            <a:r>
              <a:rPr lang="en-US" sz="1300" dirty="0">
                <a:solidFill>
                  <a:srgbClr val="FFFFFF"/>
                </a:solidFill>
                <a:latin typeface="Arial" pitchFamily="34" charset="0"/>
                <a:ea typeface="Arial" pitchFamily="34" charset="-122"/>
                <a:cs typeface="Arial" pitchFamily="34" charset="-120"/>
              </a:rPr>
              <a:t>5</a:t>
            </a:r>
            <a:endParaRPr lang="en-US" sz="1300" dirty="0"/>
          </a:p>
        </p:txBody>
      </p:sp>
      <p:sp>
        <p:nvSpPr>
          <p:cNvPr id="24" name="Text 22"/>
          <p:cNvSpPr/>
          <p:nvPr/>
        </p:nvSpPr>
        <p:spPr>
          <a:xfrm>
            <a:off x="1097280" y="4187952"/>
            <a:ext cx="10515600" cy="475488"/>
          </a:xfrm>
          <a:prstGeom prst="rect">
            <a:avLst/>
          </a:prstGeom>
          <a:noFill/>
          <a:ln/>
        </p:spPr>
        <p:txBody>
          <a:bodyPr wrap="square" rtlCol="0" anchor="ctr"/>
          <a:lstStyle/>
          <a:p>
            <a:pPr marL="0" indent="0">
              <a:lnSpc>
                <a:spcPct val="105000"/>
              </a:lnSpc>
              <a:buNone/>
            </a:pPr>
            <a:r>
              <a:rPr lang="en-US" sz="1100" dirty="0">
                <a:solidFill>
                  <a:srgbClr val="3D3D3D"/>
                </a:solidFill>
                <a:latin typeface="Calibri" pitchFamily="34" charset="0"/>
                <a:ea typeface="Calibri" pitchFamily="34" charset="-122"/>
                <a:cs typeface="Calibri" pitchFamily="34" charset="-120"/>
              </a:rPr>
              <a:t>AI-assisted redesign: Pre-calculated KPIs and data preparation — configurable objects for each step for future markets rollout</a:t>
            </a:r>
            <a:endParaRPr lang="en-US" sz="1100" dirty="0"/>
          </a:p>
        </p:txBody>
      </p:sp>
      <p:sp>
        <p:nvSpPr>
          <p:cNvPr id="25" name="Shape 23"/>
          <p:cNvSpPr/>
          <p:nvPr/>
        </p:nvSpPr>
        <p:spPr>
          <a:xfrm>
            <a:off x="548640" y="4754880"/>
            <a:ext cx="384048" cy="384048"/>
          </a:xfrm>
          <a:prstGeom prst="roundRect">
            <a:avLst>
              <a:gd name="adj" fmla="val 11905"/>
            </a:avLst>
          </a:prstGeom>
          <a:solidFill>
            <a:srgbClr val="E18719"/>
          </a:solidFill>
          <a:ln/>
        </p:spPr>
        <p:txBody>
          <a:bodyPr/>
          <a:lstStyle/>
          <a:p>
            <a:endParaRPr lang="en-US"/>
          </a:p>
        </p:txBody>
      </p:sp>
      <p:sp>
        <p:nvSpPr>
          <p:cNvPr id="26" name="Text 24"/>
          <p:cNvSpPr/>
          <p:nvPr/>
        </p:nvSpPr>
        <p:spPr>
          <a:xfrm>
            <a:off x="548640" y="4754880"/>
            <a:ext cx="384048" cy="384048"/>
          </a:xfrm>
          <a:prstGeom prst="rect">
            <a:avLst/>
          </a:prstGeom>
          <a:noFill/>
          <a:ln/>
        </p:spPr>
        <p:txBody>
          <a:bodyPr wrap="square" rtlCol="0" anchor="ctr"/>
          <a:lstStyle/>
          <a:p>
            <a:pPr marL="0" indent="0" algn="ctr">
              <a:buNone/>
            </a:pPr>
            <a:r>
              <a:rPr lang="en-US" sz="1300" dirty="0">
                <a:solidFill>
                  <a:srgbClr val="FFFFFF"/>
                </a:solidFill>
                <a:latin typeface="Arial" pitchFamily="34" charset="0"/>
                <a:ea typeface="Arial" pitchFamily="34" charset="-122"/>
                <a:cs typeface="Arial" pitchFamily="34" charset="-120"/>
              </a:rPr>
              <a:t>6</a:t>
            </a:r>
            <a:endParaRPr lang="en-US" sz="1300" dirty="0"/>
          </a:p>
        </p:txBody>
      </p:sp>
      <p:sp>
        <p:nvSpPr>
          <p:cNvPr id="27" name="Text 25"/>
          <p:cNvSpPr/>
          <p:nvPr/>
        </p:nvSpPr>
        <p:spPr>
          <a:xfrm>
            <a:off x="1097280" y="4754880"/>
            <a:ext cx="10515600" cy="475488"/>
          </a:xfrm>
          <a:prstGeom prst="rect">
            <a:avLst/>
          </a:prstGeom>
          <a:noFill/>
          <a:ln/>
        </p:spPr>
        <p:txBody>
          <a:bodyPr wrap="square" rtlCol="0" anchor="ctr"/>
          <a:lstStyle/>
          <a:p>
            <a:pPr marL="0" indent="0">
              <a:lnSpc>
                <a:spcPct val="105000"/>
              </a:lnSpc>
              <a:buNone/>
            </a:pPr>
            <a:r>
              <a:rPr lang="en-US" sz="1100" dirty="0">
                <a:solidFill>
                  <a:srgbClr val="3D3D3D"/>
                </a:solidFill>
                <a:latin typeface="Calibri" pitchFamily="34" charset="0"/>
                <a:ea typeface="Calibri" pitchFamily="34" charset="-122"/>
                <a:cs typeface="Calibri" pitchFamily="34" charset="-120"/>
              </a:rPr>
              <a:t>KPI domain E2E build for Wacam &amp; Mexico: common design, pipelines, and configurable steps (8-step template)</a:t>
            </a:r>
            <a:endParaRPr lang="en-US" sz="1100" dirty="0"/>
          </a:p>
        </p:txBody>
      </p:sp>
      <p:sp>
        <p:nvSpPr>
          <p:cNvPr id="28" name="Shape 26"/>
          <p:cNvSpPr/>
          <p:nvPr/>
        </p:nvSpPr>
        <p:spPr>
          <a:xfrm>
            <a:off x="548640" y="5321808"/>
            <a:ext cx="384048" cy="384048"/>
          </a:xfrm>
          <a:prstGeom prst="roundRect">
            <a:avLst>
              <a:gd name="adj" fmla="val 11905"/>
            </a:avLst>
          </a:prstGeom>
          <a:solidFill>
            <a:srgbClr val="E18719"/>
          </a:solidFill>
          <a:ln/>
        </p:spPr>
        <p:txBody>
          <a:bodyPr/>
          <a:lstStyle/>
          <a:p>
            <a:endParaRPr lang="en-US"/>
          </a:p>
        </p:txBody>
      </p:sp>
      <p:sp>
        <p:nvSpPr>
          <p:cNvPr id="29" name="Text 27"/>
          <p:cNvSpPr/>
          <p:nvPr/>
        </p:nvSpPr>
        <p:spPr>
          <a:xfrm>
            <a:off x="548640" y="5321808"/>
            <a:ext cx="384048" cy="384048"/>
          </a:xfrm>
          <a:prstGeom prst="rect">
            <a:avLst/>
          </a:prstGeom>
          <a:noFill/>
          <a:ln/>
        </p:spPr>
        <p:txBody>
          <a:bodyPr wrap="square" rtlCol="0" anchor="ctr"/>
          <a:lstStyle/>
          <a:p>
            <a:pPr marL="0" indent="0" algn="ctr">
              <a:buNone/>
            </a:pPr>
            <a:r>
              <a:rPr lang="en-US" sz="1300" dirty="0">
                <a:solidFill>
                  <a:srgbClr val="FFFFFF"/>
                </a:solidFill>
                <a:latin typeface="Arial" pitchFamily="34" charset="0"/>
                <a:ea typeface="Arial" pitchFamily="34" charset="-122"/>
                <a:cs typeface="Arial" pitchFamily="34" charset="-120"/>
              </a:rPr>
              <a:t>7</a:t>
            </a:r>
            <a:endParaRPr lang="en-US" sz="1300" dirty="0"/>
          </a:p>
        </p:txBody>
      </p:sp>
      <p:sp>
        <p:nvSpPr>
          <p:cNvPr id="30" name="Text 28"/>
          <p:cNvSpPr/>
          <p:nvPr/>
        </p:nvSpPr>
        <p:spPr>
          <a:xfrm>
            <a:off x="1097280" y="5321808"/>
            <a:ext cx="10515600" cy="475488"/>
          </a:xfrm>
          <a:prstGeom prst="rect">
            <a:avLst/>
          </a:prstGeom>
          <a:noFill/>
          <a:ln/>
        </p:spPr>
        <p:txBody>
          <a:bodyPr wrap="square" rtlCol="0" anchor="ctr"/>
          <a:lstStyle/>
          <a:p>
            <a:pPr marL="0" indent="0">
              <a:lnSpc>
                <a:spcPct val="105000"/>
              </a:lnSpc>
              <a:buNone/>
            </a:pPr>
            <a:r>
              <a:rPr lang="en-US" sz="1100" dirty="0">
                <a:solidFill>
                  <a:srgbClr val="3D3D3D"/>
                </a:solidFill>
                <a:latin typeface="Calibri" pitchFamily="34" charset="0"/>
                <a:ea typeface="Calibri" pitchFamily="34" charset="-122"/>
                <a:cs typeface="Calibri" pitchFamily="34" charset="-120"/>
              </a:rPr>
              <a:t>Data Quality, Data Governance and Documentation end-to-end</a:t>
            </a:r>
            <a:endParaRPr lang="en-US" sz="1100" dirty="0"/>
          </a:p>
        </p:txBody>
      </p:sp>
      <p:sp>
        <p:nvSpPr>
          <p:cNvPr id="31" name="Shape 29"/>
          <p:cNvSpPr/>
          <p:nvPr/>
        </p:nvSpPr>
        <p:spPr>
          <a:xfrm>
            <a:off x="548640" y="5888736"/>
            <a:ext cx="384048" cy="384048"/>
          </a:xfrm>
          <a:prstGeom prst="roundRect">
            <a:avLst>
              <a:gd name="adj" fmla="val 11905"/>
            </a:avLst>
          </a:prstGeom>
          <a:solidFill>
            <a:srgbClr val="E18719"/>
          </a:solidFill>
          <a:ln/>
        </p:spPr>
        <p:txBody>
          <a:bodyPr/>
          <a:lstStyle/>
          <a:p>
            <a:endParaRPr lang="en-US"/>
          </a:p>
        </p:txBody>
      </p:sp>
      <p:sp>
        <p:nvSpPr>
          <p:cNvPr id="32" name="Text 30"/>
          <p:cNvSpPr/>
          <p:nvPr/>
        </p:nvSpPr>
        <p:spPr>
          <a:xfrm>
            <a:off x="548640" y="5888736"/>
            <a:ext cx="384048" cy="384048"/>
          </a:xfrm>
          <a:prstGeom prst="rect">
            <a:avLst/>
          </a:prstGeom>
          <a:noFill/>
          <a:ln/>
        </p:spPr>
        <p:txBody>
          <a:bodyPr wrap="square" rtlCol="0" anchor="ctr"/>
          <a:lstStyle/>
          <a:p>
            <a:pPr marL="0" indent="0" algn="ctr">
              <a:buNone/>
            </a:pPr>
            <a:r>
              <a:rPr lang="en-US" sz="1300" dirty="0">
                <a:solidFill>
                  <a:srgbClr val="FFFFFF"/>
                </a:solidFill>
                <a:latin typeface="Arial" pitchFamily="34" charset="0"/>
                <a:ea typeface="Arial" pitchFamily="34" charset="-122"/>
                <a:cs typeface="Arial" pitchFamily="34" charset="-120"/>
              </a:rPr>
              <a:t>8</a:t>
            </a:r>
            <a:endParaRPr lang="en-US" sz="1300" dirty="0"/>
          </a:p>
        </p:txBody>
      </p:sp>
      <p:sp>
        <p:nvSpPr>
          <p:cNvPr id="33" name="Text 31"/>
          <p:cNvSpPr/>
          <p:nvPr/>
        </p:nvSpPr>
        <p:spPr>
          <a:xfrm>
            <a:off x="1097280" y="5888736"/>
            <a:ext cx="10515600" cy="475488"/>
          </a:xfrm>
          <a:prstGeom prst="rect">
            <a:avLst/>
          </a:prstGeom>
          <a:noFill/>
          <a:ln/>
        </p:spPr>
        <p:txBody>
          <a:bodyPr wrap="square" rtlCol="0" anchor="ctr"/>
          <a:lstStyle/>
          <a:p>
            <a:pPr marL="0" indent="0">
              <a:lnSpc>
                <a:spcPct val="105000"/>
              </a:lnSpc>
              <a:buNone/>
            </a:pPr>
            <a:r>
              <a:rPr lang="en-US" sz="1100" dirty="0">
                <a:solidFill>
                  <a:srgbClr val="3D3D3D"/>
                </a:solidFill>
                <a:latin typeface="Calibri" pitchFamily="34" charset="0"/>
                <a:ea typeface="Calibri" pitchFamily="34" charset="-122"/>
                <a:cs typeface="Calibri" pitchFamily="34" charset="-120"/>
              </a:rPr>
              <a:t>CDRB reviews register: Sections B, E, F, G, H, I, J, K, L — all applicable cases listed with planned actions</a:t>
            </a:r>
            <a:endParaRPr lang="en-US" sz="1100" dirty="0"/>
          </a:p>
        </p:txBody>
      </p:sp>
      <p:sp>
        <p:nvSpPr>
          <p:cNvPr id="34" name="Text 32"/>
          <p:cNvSpPr/>
          <p:nvPr/>
        </p:nvSpPr>
        <p:spPr>
          <a:xfrm>
            <a:off x="548640" y="5943600"/>
            <a:ext cx="10972800" cy="320040"/>
          </a:xfrm>
          <a:prstGeom prst="rect">
            <a:avLst/>
          </a:prstGeom>
          <a:noFill/>
          <a:ln/>
        </p:spPr>
        <p:txBody>
          <a:bodyPr wrap="square" rtlCol="0" anchor="ctr"/>
          <a:lstStyle/>
          <a:p>
            <a:pPr marL="0" indent="0">
              <a:buNone/>
            </a:pPr>
            <a:r>
              <a:rPr lang="en-US" sz="1100" i="1" dirty="0">
                <a:solidFill>
                  <a:srgbClr val="4F2170"/>
                </a:solidFill>
                <a:latin typeface="Calibri" pitchFamily="34" charset="0"/>
                <a:ea typeface="Calibri" pitchFamily="34" charset="-122"/>
                <a:cs typeface="Calibri" pitchFamily="34" charset="-120"/>
              </a:rPr>
              <a:t>December is the heaviest build month — solution design, foundations, core domains, KPI engine, and full quality governance.</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4F2170"/>
          </a:solidFill>
          <a:ln/>
        </p:spPr>
        <p:txBody>
          <a:bodyPr/>
          <a:lstStyle/>
          <a:p>
            <a:endParaRPr lang="en-US"/>
          </a:p>
        </p:txBody>
      </p:sp>
      <p:sp>
        <p:nvSpPr>
          <p:cNvPr id="3" name="Text 1"/>
          <p:cNvSpPr/>
          <p:nvPr/>
        </p:nvSpPr>
        <p:spPr>
          <a:xfrm>
            <a:off x="548640" y="137160"/>
            <a:ext cx="10515600" cy="502920"/>
          </a:xfrm>
          <a:prstGeom prst="rect">
            <a:avLst/>
          </a:prstGeom>
          <a:noFill/>
          <a:ln/>
        </p:spPr>
        <p:txBody>
          <a:bodyPr wrap="square" rtlCol="0" anchor="ctr"/>
          <a:lstStyle/>
          <a:p>
            <a:pPr marL="0" indent="0">
              <a:buNone/>
            </a:pPr>
            <a:r>
              <a:rPr lang="en-US" sz="2400" dirty="0">
                <a:solidFill>
                  <a:srgbClr val="FFFFFF"/>
                </a:solidFill>
                <a:latin typeface="Arial" pitchFamily="34" charset="0"/>
                <a:ea typeface="Arial" pitchFamily="34" charset="-122"/>
                <a:cs typeface="Arial" pitchFamily="34" charset="-120"/>
              </a:rPr>
              <a:t>Dec Deliverable 1: Full Solution Design &amp; Sandbox Build</a:t>
            </a:r>
            <a:endParaRPr lang="en-US" sz="2400" dirty="0"/>
          </a:p>
        </p:txBody>
      </p:sp>
      <p:sp>
        <p:nvSpPr>
          <p:cNvPr id="4" name="Text 2"/>
          <p:cNvSpPr/>
          <p:nvPr/>
        </p:nvSpPr>
        <p:spPr>
          <a:xfrm>
            <a:off x="548640" y="594360"/>
            <a:ext cx="10515600" cy="320040"/>
          </a:xfrm>
          <a:prstGeom prst="rect">
            <a:avLst/>
          </a:prstGeom>
          <a:noFill/>
          <a:ln/>
        </p:spPr>
        <p:txBody>
          <a:bodyPr wrap="square" rtlCol="0" anchor="ctr"/>
          <a:lstStyle/>
          <a:p>
            <a:pPr marL="0" indent="0">
              <a:buNone/>
            </a:pPr>
            <a:r>
              <a:rPr lang="en-US" sz="1300" dirty="0">
                <a:solidFill>
                  <a:srgbClr val="E8DFF0"/>
                </a:solidFill>
                <a:latin typeface="Calibri" pitchFamily="34" charset="0"/>
                <a:ea typeface="Calibri" pitchFamily="34" charset="-122"/>
                <a:cs typeface="Calibri" pitchFamily="34" charset="-120"/>
              </a:rPr>
              <a:t>CDRB Sections B, E, F, G, H, I, J, K, L</a:t>
            </a:r>
            <a:endParaRPr lang="en-US" sz="1300" dirty="0"/>
          </a:p>
        </p:txBody>
      </p:sp>
      <p:sp>
        <p:nvSpPr>
          <p:cNvPr id="5" name="Shape 3"/>
          <p:cNvSpPr/>
          <p:nvPr/>
        </p:nvSpPr>
        <p:spPr>
          <a:xfrm>
            <a:off x="0" y="6492240"/>
            <a:ext cx="12188952" cy="365760"/>
          </a:xfrm>
          <a:prstGeom prst="rect">
            <a:avLst/>
          </a:prstGeom>
          <a:solidFill>
            <a:srgbClr val="3A1854"/>
          </a:solidFill>
          <a:ln/>
        </p:spPr>
        <p:txBody>
          <a:bodyPr/>
          <a:lstStyle/>
          <a:p>
            <a:endParaRPr lang="en-US"/>
          </a:p>
        </p:txBody>
      </p:sp>
      <p:sp>
        <p:nvSpPr>
          <p:cNvPr id="6" name="Text 4"/>
          <p:cNvSpPr/>
          <p:nvPr/>
        </p:nvSpPr>
        <p:spPr>
          <a:xfrm>
            <a:off x="548640" y="6510528"/>
            <a:ext cx="9144000" cy="320040"/>
          </a:xfrm>
          <a:prstGeom prst="rect">
            <a:avLst/>
          </a:prstGeom>
          <a:noFill/>
          <a:ln/>
        </p:spPr>
        <p:txBody>
          <a:bodyPr wrap="square" rtlCol="0" anchor="ctr"/>
          <a:lstStyle/>
          <a:p>
            <a:pPr marL="0" indent="0">
              <a:buNone/>
            </a:pPr>
            <a:r>
              <a:rPr lang="en-US" sz="900" dirty="0">
                <a:solidFill>
                  <a:srgbClr val="E8DFF0"/>
                </a:solidFill>
                <a:latin typeface="Calibri" pitchFamily="34" charset="0"/>
                <a:ea typeface="Calibri" pitchFamily="34" charset="-122"/>
                <a:cs typeface="Calibri" pitchFamily="34" charset="-120"/>
              </a:rPr>
              <a:t>LA OSA 2.0 Blueprint Workshop  |  Day 3 Morning  |  WS-1: Mexico &amp; Wacam</a:t>
            </a:r>
            <a:endParaRPr lang="en-US" sz="900" dirty="0"/>
          </a:p>
        </p:txBody>
      </p:sp>
      <p:sp>
        <p:nvSpPr>
          <p:cNvPr id="7" name="Text 5"/>
          <p:cNvSpPr/>
          <p:nvPr/>
        </p:nvSpPr>
        <p:spPr>
          <a:xfrm>
            <a:off x="10972800" y="6510528"/>
            <a:ext cx="914400" cy="320040"/>
          </a:xfrm>
          <a:prstGeom prst="rect">
            <a:avLst/>
          </a:prstGeom>
          <a:noFill/>
          <a:ln/>
        </p:spPr>
        <p:txBody>
          <a:bodyPr wrap="square" rtlCol="0" anchor="ctr"/>
          <a:lstStyle/>
          <a:p>
            <a:pPr marL="0" indent="0" algn="r">
              <a:buNone/>
            </a:pPr>
            <a:r>
              <a:rPr lang="en-US" sz="900" dirty="0">
                <a:solidFill>
                  <a:srgbClr val="E8DFF0"/>
                </a:solidFill>
                <a:latin typeface="Calibri" pitchFamily="34" charset="0"/>
                <a:ea typeface="Calibri" pitchFamily="34" charset="-122"/>
                <a:cs typeface="Calibri" pitchFamily="34" charset="-120"/>
              </a:rPr>
              <a:t>13 / 20</a:t>
            </a:r>
            <a:endParaRPr lang="en-US" sz="900" dirty="0"/>
          </a:p>
        </p:txBody>
      </p:sp>
      <p:sp>
        <p:nvSpPr>
          <p:cNvPr id="8" name="Text 6"/>
          <p:cNvSpPr/>
          <p:nvPr/>
        </p:nvSpPr>
        <p:spPr>
          <a:xfrm>
            <a:off x="548640" y="1280160"/>
            <a:ext cx="10972800" cy="320040"/>
          </a:xfrm>
          <a:prstGeom prst="rect">
            <a:avLst/>
          </a:prstGeom>
          <a:noFill/>
          <a:ln/>
        </p:spPr>
        <p:txBody>
          <a:bodyPr wrap="square" rtlCol="0" anchor="ctr"/>
          <a:lstStyle/>
          <a:p>
            <a:pPr marL="0" indent="0">
              <a:buNone/>
            </a:pPr>
            <a:r>
              <a:rPr lang="en-US" sz="1300" dirty="0">
                <a:solidFill>
                  <a:srgbClr val="3D3D3D"/>
                </a:solidFill>
                <a:latin typeface="Calibri" pitchFamily="34" charset="0"/>
                <a:ea typeface="Calibri" pitchFamily="34" charset="-122"/>
                <a:cs typeface="Calibri" pitchFamily="34" charset="-120"/>
              </a:rPr>
              <a:t>Full solution design finalization covering every engineering dimension:</a:t>
            </a:r>
            <a:endParaRPr lang="en-US" sz="1300" dirty="0"/>
          </a:p>
        </p:txBody>
      </p:sp>
      <p:sp>
        <p:nvSpPr>
          <p:cNvPr id="9" name="Shape 7"/>
          <p:cNvSpPr/>
          <p:nvPr/>
        </p:nvSpPr>
        <p:spPr>
          <a:xfrm>
            <a:off x="548640" y="1783080"/>
            <a:ext cx="3474720" cy="1234440"/>
          </a:xfrm>
          <a:prstGeom prst="roundRect">
            <a:avLst>
              <a:gd name="adj" fmla="val 4444"/>
            </a:avLst>
          </a:prstGeom>
          <a:solidFill>
            <a:srgbClr val="FFFFFF"/>
          </a:solidFill>
          <a:ln w="15240">
            <a:solidFill>
              <a:srgbClr val="4F2170"/>
            </a:solidFill>
            <a:prstDash val="solid"/>
          </a:ln>
          <a:effectLst>
            <a:outerShdw blurRad="38100" dist="19050" dir="16200000" algn="bl" rotWithShape="0">
              <a:srgbClr val="000000">
                <a:alpha val="10000"/>
              </a:srgbClr>
            </a:outerShdw>
          </a:effectLst>
        </p:spPr>
        <p:txBody>
          <a:bodyPr/>
          <a:lstStyle/>
          <a:p>
            <a:endParaRPr lang="en-US"/>
          </a:p>
        </p:txBody>
      </p:sp>
      <p:sp>
        <p:nvSpPr>
          <p:cNvPr id="10" name="Text 8"/>
          <p:cNvSpPr/>
          <p:nvPr/>
        </p:nvSpPr>
        <p:spPr>
          <a:xfrm>
            <a:off x="685800" y="1856232"/>
            <a:ext cx="3200400" cy="274320"/>
          </a:xfrm>
          <a:prstGeom prst="rect">
            <a:avLst/>
          </a:prstGeom>
          <a:noFill/>
          <a:ln/>
        </p:spPr>
        <p:txBody>
          <a:bodyPr wrap="square" rtlCol="0" anchor="ctr"/>
          <a:lstStyle/>
          <a:p>
            <a:pPr marL="0" indent="0">
              <a:buNone/>
            </a:pPr>
            <a:r>
              <a:rPr lang="en-US" sz="1200" b="1" dirty="0">
                <a:solidFill>
                  <a:srgbClr val="4F2170"/>
                </a:solidFill>
                <a:latin typeface="Arial" pitchFamily="34" charset="0"/>
                <a:ea typeface="Arial" pitchFamily="34" charset="-122"/>
                <a:cs typeface="Arial" pitchFamily="34" charset="-120"/>
              </a:rPr>
              <a:t>Base Measures  </a:t>
            </a:r>
            <a:r>
              <a:rPr lang="en-US" sz="1000" dirty="0">
                <a:solidFill>
                  <a:srgbClr val="4F2170"/>
                </a:solidFill>
                <a:latin typeface="Calibri" pitchFamily="34" charset="0"/>
                <a:ea typeface="Calibri" pitchFamily="34" charset="-122"/>
                <a:cs typeface="Calibri" pitchFamily="34" charset="-120"/>
              </a:rPr>
              <a:t>(F)</a:t>
            </a:r>
            <a:endParaRPr lang="en-US" sz="1200" dirty="0"/>
          </a:p>
        </p:txBody>
      </p:sp>
      <p:sp>
        <p:nvSpPr>
          <p:cNvPr id="11" name="Text 9"/>
          <p:cNvSpPr/>
          <p:nvPr/>
        </p:nvSpPr>
        <p:spPr>
          <a:xfrm>
            <a:off x="685800" y="2167128"/>
            <a:ext cx="3200400" cy="731520"/>
          </a:xfrm>
          <a:prstGeom prst="rect">
            <a:avLst/>
          </a:prstGeom>
          <a:noFill/>
          <a:ln/>
        </p:spPr>
        <p:txBody>
          <a:bodyPr wrap="square" rtlCol="0" anchor="t"/>
          <a:lstStyle/>
          <a:p>
            <a:pPr marL="0" indent="0">
              <a:lnSpc>
                <a:spcPct val="115000"/>
              </a:lnSpc>
              <a:buNone/>
            </a:pPr>
            <a:r>
              <a:rPr lang="en-US" sz="1050" dirty="0">
                <a:solidFill>
                  <a:srgbClr val="3D3D3D"/>
                </a:solidFill>
                <a:latin typeface="Calibri" pitchFamily="34" charset="0"/>
                <a:ea typeface="Calibri" pitchFamily="34" charset="-122"/>
                <a:cs typeface="Calibri" pitchFamily="34" charset="-120"/>
              </a:rPr>
              <a:t>Calculate in base units (kg, local currency) only — publish layer handles expansion</a:t>
            </a:r>
            <a:endParaRPr lang="en-US" sz="1050" dirty="0"/>
          </a:p>
        </p:txBody>
      </p:sp>
      <p:sp>
        <p:nvSpPr>
          <p:cNvPr id="12" name="Shape 10"/>
          <p:cNvSpPr/>
          <p:nvPr/>
        </p:nvSpPr>
        <p:spPr>
          <a:xfrm>
            <a:off x="4297680" y="1783080"/>
            <a:ext cx="3474720" cy="1234440"/>
          </a:xfrm>
          <a:prstGeom prst="roundRect">
            <a:avLst>
              <a:gd name="adj" fmla="val 4444"/>
            </a:avLst>
          </a:prstGeom>
          <a:solidFill>
            <a:srgbClr val="FFFFFF"/>
          </a:solidFill>
          <a:ln w="15240">
            <a:solidFill>
              <a:srgbClr val="E18719"/>
            </a:solidFill>
            <a:prstDash val="solid"/>
          </a:ln>
          <a:effectLst>
            <a:outerShdw blurRad="38100" dist="19050" dir="16200000" algn="bl" rotWithShape="0">
              <a:srgbClr val="000000">
                <a:alpha val="10000"/>
              </a:srgbClr>
            </a:outerShdw>
          </a:effectLst>
        </p:spPr>
        <p:txBody>
          <a:bodyPr/>
          <a:lstStyle/>
          <a:p>
            <a:endParaRPr lang="en-US"/>
          </a:p>
        </p:txBody>
      </p:sp>
      <p:sp>
        <p:nvSpPr>
          <p:cNvPr id="13" name="Text 11"/>
          <p:cNvSpPr/>
          <p:nvPr/>
        </p:nvSpPr>
        <p:spPr>
          <a:xfrm>
            <a:off x="4434840" y="1856232"/>
            <a:ext cx="3200400" cy="274320"/>
          </a:xfrm>
          <a:prstGeom prst="rect">
            <a:avLst/>
          </a:prstGeom>
          <a:noFill/>
          <a:ln/>
        </p:spPr>
        <p:txBody>
          <a:bodyPr wrap="square" rtlCol="0" anchor="ctr"/>
          <a:lstStyle/>
          <a:p>
            <a:pPr marL="0" indent="0">
              <a:buNone/>
            </a:pPr>
            <a:r>
              <a:rPr lang="en-US" sz="1200" b="1" dirty="0">
                <a:solidFill>
                  <a:srgbClr val="E18719"/>
                </a:solidFill>
                <a:latin typeface="Arial" pitchFamily="34" charset="0"/>
                <a:ea typeface="Arial" pitchFamily="34" charset="-122"/>
                <a:cs typeface="Arial" pitchFamily="34" charset="-120"/>
              </a:rPr>
              <a:t>Loading / Error Handling  </a:t>
            </a:r>
            <a:r>
              <a:rPr lang="en-US" sz="1000" dirty="0">
                <a:solidFill>
                  <a:srgbClr val="E18719"/>
                </a:solidFill>
                <a:latin typeface="Calibri" pitchFamily="34" charset="0"/>
                <a:ea typeface="Calibri" pitchFamily="34" charset="-122"/>
                <a:cs typeface="Calibri" pitchFamily="34" charset="-120"/>
              </a:rPr>
              <a:t>(E)</a:t>
            </a:r>
            <a:endParaRPr lang="en-US" sz="1200" dirty="0"/>
          </a:p>
        </p:txBody>
      </p:sp>
      <p:sp>
        <p:nvSpPr>
          <p:cNvPr id="14" name="Text 12"/>
          <p:cNvSpPr/>
          <p:nvPr/>
        </p:nvSpPr>
        <p:spPr>
          <a:xfrm>
            <a:off x="4434840" y="2167128"/>
            <a:ext cx="3200400" cy="731520"/>
          </a:xfrm>
          <a:prstGeom prst="rect">
            <a:avLst/>
          </a:prstGeom>
          <a:noFill/>
          <a:ln/>
        </p:spPr>
        <p:txBody>
          <a:bodyPr wrap="square" rtlCol="0" anchor="t"/>
          <a:lstStyle/>
          <a:p>
            <a:pPr marL="0" indent="0">
              <a:lnSpc>
                <a:spcPct val="115000"/>
              </a:lnSpc>
              <a:buNone/>
            </a:pPr>
            <a:r>
              <a:rPr lang="en-US" sz="1050" dirty="0">
                <a:solidFill>
                  <a:srgbClr val="3D3D3D"/>
                </a:solidFill>
                <a:latin typeface="Calibri" pitchFamily="34" charset="0"/>
                <a:ea typeface="Calibri" pitchFamily="34" charset="-122"/>
                <a:cs typeface="Calibri" pitchFamily="34" charset="-120"/>
              </a:rPr>
              <a:t>Merge-based loads, quality gates before persistence, all-or-nothing patterns</a:t>
            </a:r>
            <a:endParaRPr lang="en-US" sz="1050" dirty="0"/>
          </a:p>
        </p:txBody>
      </p:sp>
      <p:sp>
        <p:nvSpPr>
          <p:cNvPr id="15" name="Shape 13"/>
          <p:cNvSpPr/>
          <p:nvPr/>
        </p:nvSpPr>
        <p:spPr>
          <a:xfrm>
            <a:off x="8046720" y="1783080"/>
            <a:ext cx="3474720" cy="1234440"/>
          </a:xfrm>
          <a:prstGeom prst="roundRect">
            <a:avLst>
              <a:gd name="adj" fmla="val 4444"/>
            </a:avLst>
          </a:prstGeom>
          <a:solidFill>
            <a:srgbClr val="FFFFFF"/>
          </a:solidFill>
          <a:ln w="15240">
            <a:solidFill>
              <a:srgbClr val="4F2170"/>
            </a:solidFill>
            <a:prstDash val="solid"/>
          </a:ln>
          <a:effectLst>
            <a:outerShdw blurRad="38100" dist="19050" dir="16200000" algn="bl" rotWithShape="0">
              <a:srgbClr val="000000">
                <a:alpha val="10000"/>
              </a:srgbClr>
            </a:outerShdw>
          </a:effectLst>
        </p:spPr>
        <p:txBody>
          <a:bodyPr/>
          <a:lstStyle/>
          <a:p>
            <a:endParaRPr lang="en-US"/>
          </a:p>
        </p:txBody>
      </p:sp>
      <p:sp>
        <p:nvSpPr>
          <p:cNvPr id="16" name="Text 14"/>
          <p:cNvSpPr/>
          <p:nvPr/>
        </p:nvSpPr>
        <p:spPr>
          <a:xfrm>
            <a:off x="8183880" y="1856232"/>
            <a:ext cx="3200400" cy="274320"/>
          </a:xfrm>
          <a:prstGeom prst="rect">
            <a:avLst/>
          </a:prstGeom>
          <a:noFill/>
          <a:ln/>
        </p:spPr>
        <p:txBody>
          <a:bodyPr wrap="square" rtlCol="0" anchor="ctr"/>
          <a:lstStyle/>
          <a:p>
            <a:pPr marL="0" indent="0">
              <a:buNone/>
            </a:pPr>
            <a:r>
              <a:rPr lang="en-US" sz="1200" b="1" dirty="0">
                <a:solidFill>
                  <a:srgbClr val="4F2170"/>
                </a:solidFill>
                <a:latin typeface="Arial" pitchFamily="34" charset="0"/>
                <a:ea typeface="Arial" pitchFamily="34" charset="-122"/>
                <a:cs typeface="Arial" pitchFamily="34" charset="-120"/>
              </a:rPr>
              <a:t>KPI Engine  </a:t>
            </a:r>
            <a:r>
              <a:rPr lang="en-US" sz="1000" dirty="0">
                <a:solidFill>
                  <a:srgbClr val="4F2170"/>
                </a:solidFill>
                <a:latin typeface="Calibri" pitchFamily="34" charset="0"/>
                <a:ea typeface="Calibri" pitchFamily="34" charset="-122"/>
                <a:cs typeface="Calibri" pitchFamily="34" charset="-120"/>
              </a:rPr>
              <a:t>(F)</a:t>
            </a:r>
            <a:endParaRPr lang="en-US" sz="1200" dirty="0"/>
          </a:p>
        </p:txBody>
      </p:sp>
      <p:sp>
        <p:nvSpPr>
          <p:cNvPr id="17" name="Text 15"/>
          <p:cNvSpPr/>
          <p:nvPr/>
        </p:nvSpPr>
        <p:spPr>
          <a:xfrm>
            <a:off x="8183880" y="2167128"/>
            <a:ext cx="3200400" cy="731520"/>
          </a:xfrm>
          <a:prstGeom prst="rect">
            <a:avLst/>
          </a:prstGeom>
          <a:noFill/>
          <a:ln/>
        </p:spPr>
        <p:txBody>
          <a:bodyPr wrap="square" rtlCol="0" anchor="t"/>
          <a:lstStyle/>
          <a:p>
            <a:pPr marL="0" indent="0">
              <a:lnSpc>
                <a:spcPct val="115000"/>
              </a:lnSpc>
              <a:buNone/>
            </a:pPr>
            <a:r>
              <a:rPr lang="en-US" sz="1050" dirty="0">
                <a:solidFill>
                  <a:srgbClr val="3D3D3D"/>
                </a:solidFill>
                <a:latin typeface="Calibri" pitchFamily="34" charset="0"/>
                <a:ea typeface="Calibri" pitchFamily="34" charset="-122"/>
                <a:cs typeface="Calibri" pitchFamily="34" charset="-120"/>
              </a:rPr>
              <a:t>Parameterized calculation per domain, registry-driven composites, SISO rules engine</a:t>
            </a:r>
            <a:endParaRPr lang="en-US" sz="1050" dirty="0"/>
          </a:p>
        </p:txBody>
      </p:sp>
      <p:sp>
        <p:nvSpPr>
          <p:cNvPr id="18" name="Shape 16"/>
          <p:cNvSpPr/>
          <p:nvPr/>
        </p:nvSpPr>
        <p:spPr>
          <a:xfrm>
            <a:off x="548640" y="3200400"/>
            <a:ext cx="3474720" cy="1234440"/>
          </a:xfrm>
          <a:prstGeom prst="roundRect">
            <a:avLst>
              <a:gd name="adj" fmla="val 4444"/>
            </a:avLst>
          </a:prstGeom>
          <a:solidFill>
            <a:srgbClr val="FFFFFF"/>
          </a:solidFill>
          <a:ln w="15240">
            <a:solidFill>
              <a:srgbClr val="E18719"/>
            </a:solidFill>
            <a:prstDash val="solid"/>
          </a:ln>
          <a:effectLst>
            <a:outerShdw blurRad="38100" dist="19050" dir="16200000" algn="bl" rotWithShape="0">
              <a:srgbClr val="000000">
                <a:alpha val="10000"/>
              </a:srgbClr>
            </a:outerShdw>
          </a:effectLst>
        </p:spPr>
        <p:txBody>
          <a:bodyPr/>
          <a:lstStyle/>
          <a:p>
            <a:endParaRPr lang="en-US"/>
          </a:p>
        </p:txBody>
      </p:sp>
      <p:sp>
        <p:nvSpPr>
          <p:cNvPr id="19" name="Text 17"/>
          <p:cNvSpPr/>
          <p:nvPr/>
        </p:nvSpPr>
        <p:spPr>
          <a:xfrm>
            <a:off x="685800" y="3273552"/>
            <a:ext cx="3200400" cy="274320"/>
          </a:xfrm>
          <a:prstGeom prst="rect">
            <a:avLst/>
          </a:prstGeom>
          <a:noFill/>
          <a:ln/>
        </p:spPr>
        <p:txBody>
          <a:bodyPr wrap="square" rtlCol="0" anchor="ctr"/>
          <a:lstStyle/>
          <a:p>
            <a:pPr marL="0" indent="0">
              <a:buNone/>
            </a:pPr>
            <a:r>
              <a:rPr lang="en-US" sz="1200" b="1" dirty="0">
                <a:solidFill>
                  <a:srgbClr val="E18719"/>
                </a:solidFill>
                <a:latin typeface="Arial" pitchFamily="34" charset="0"/>
                <a:ea typeface="Arial" pitchFamily="34" charset="-122"/>
                <a:cs typeface="Arial" pitchFamily="34" charset="-120"/>
              </a:rPr>
              <a:t>Performance  </a:t>
            </a:r>
            <a:r>
              <a:rPr lang="en-US" sz="1000" dirty="0">
                <a:solidFill>
                  <a:srgbClr val="E18719"/>
                </a:solidFill>
                <a:latin typeface="Calibri" pitchFamily="34" charset="0"/>
                <a:ea typeface="Calibri" pitchFamily="34" charset="-122"/>
                <a:cs typeface="Calibri" pitchFamily="34" charset="-120"/>
              </a:rPr>
              <a:t>(G)</a:t>
            </a:r>
            <a:endParaRPr lang="en-US" sz="1200" dirty="0"/>
          </a:p>
        </p:txBody>
      </p:sp>
      <p:sp>
        <p:nvSpPr>
          <p:cNvPr id="20" name="Text 18"/>
          <p:cNvSpPr/>
          <p:nvPr/>
        </p:nvSpPr>
        <p:spPr>
          <a:xfrm>
            <a:off x="685800" y="3584448"/>
            <a:ext cx="3200400" cy="731520"/>
          </a:xfrm>
          <a:prstGeom prst="rect">
            <a:avLst/>
          </a:prstGeom>
          <a:noFill/>
          <a:ln/>
        </p:spPr>
        <p:txBody>
          <a:bodyPr wrap="square" rtlCol="0" anchor="t"/>
          <a:lstStyle/>
          <a:p>
            <a:pPr marL="0" indent="0">
              <a:lnSpc>
                <a:spcPct val="115000"/>
              </a:lnSpc>
              <a:buNone/>
            </a:pPr>
            <a:r>
              <a:rPr lang="en-US" sz="1050" dirty="0">
                <a:solidFill>
                  <a:srgbClr val="3D3D3D"/>
                </a:solidFill>
                <a:latin typeface="Calibri" pitchFamily="34" charset="0"/>
                <a:ea typeface="Calibri" pitchFamily="34" charset="-122"/>
                <a:cs typeface="Calibri" pitchFamily="34" charset="-120"/>
              </a:rPr>
              <a:t>Runtime budgets: ≤15 min per procedure, ≤2 hours full chain. Partitioning by market + date</a:t>
            </a:r>
            <a:endParaRPr lang="en-US" sz="1050" dirty="0"/>
          </a:p>
        </p:txBody>
      </p:sp>
      <p:sp>
        <p:nvSpPr>
          <p:cNvPr id="21" name="Shape 19"/>
          <p:cNvSpPr/>
          <p:nvPr/>
        </p:nvSpPr>
        <p:spPr>
          <a:xfrm>
            <a:off x="4297680" y="3200400"/>
            <a:ext cx="3474720" cy="1234440"/>
          </a:xfrm>
          <a:prstGeom prst="roundRect">
            <a:avLst>
              <a:gd name="adj" fmla="val 4444"/>
            </a:avLst>
          </a:prstGeom>
          <a:solidFill>
            <a:srgbClr val="FFFFFF"/>
          </a:solidFill>
          <a:ln w="15240">
            <a:solidFill>
              <a:srgbClr val="287819"/>
            </a:solidFill>
            <a:prstDash val="solid"/>
          </a:ln>
          <a:effectLst>
            <a:outerShdw blurRad="38100" dist="19050" dir="16200000" algn="bl" rotWithShape="0">
              <a:srgbClr val="000000">
                <a:alpha val="10000"/>
              </a:srgbClr>
            </a:outerShdw>
          </a:effectLst>
        </p:spPr>
        <p:txBody>
          <a:bodyPr/>
          <a:lstStyle/>
          <a:p>
            <a:endParaRPr lang="en-US"/>
          </a:p>
        </p:txBody>
      </p:sp>
      <p:sp>
        <p:nvSpPr>
          <p:cNvPr id="22" name="Text 20"/>
          <p:cNvSpPr/>
          <p:nvPr/>
        </p:nvSpPr>
        <p:spPr>
          <a:xfrm>
            <a:off x="4434840" y="3273552"/>
            <a:ext cx="3200400" cy="274320"/>
          </a:xfrm>
          <a:prstGeom prst="rect">
            <a:avLst/>
          </a:prstGeom>
          <a:noFill/>
          <a:ln/>
        </p:spPr>
        <p:txBody>
          <a:bodyPr wrap="square" rtlCol="0" anchor="ctr"/>
          <a:lstStyle/>
          <a:p>
            <a:pPr marL="0" indent="0">
              <a:buNone/>
            </a:pPr>
            <a:r>
              <a:rPr lang="en-US" sz="1200" b="1" dirty="0">
                <a:solidFill>
                  <a:srgbClr val="287819"/>
                </a:solidFill>
                <a:latin typeface="Arial" pitchFamily="34" charset="0"/>
                <a:ea typeface="Arial" pitchFamily="34" charset="-122"/>
                <a:cs typeface="Arial" pitchFamily="34" charset="-120"/>
              </a:rPr>
              <a:t>Scalability  </a:t>
            </a:r>
            <a:r>
              <a:rPr lang="en-US" sz="1000" dirty="0">
                <a:solidFill>
                  <a:srgbClr val="287819"/>
                </a:solidFill>
                <a:latin typeface="Calibri" pitchFamily="34" charset="0"/>
                <a:ea typeface="Calibri" pitchFamily="34" charset="-122"/>
                <a:cs typeface="Calibri" pitchFamily="34" charset="-120"/>
              </a:rPr>
              <a:t>(H)</a:t>
            </a:r>
            <a:endParaRPr lang="en-US" sz="1200" dirty="0"/>
          </a:p>
        </p:txBody>
      </p:sp>
      <p:sp>
        <p:nvSpPr>
          <p:cNvPr id="23" name="Text 21"/>
          <p:cNvSpPr/>
          <p:nvPr/>
        </p:nvSpPr>
        <p:spPr>
          <a:xfrm>
            <a:off x="4434840" y="3584448"/>
            <a:ext cx="3200400" cy="731520"/>
          </a:xfrm>
          <a:prstGeom prst="rect">
            <a:avLst/>
          </a:prstGeom>
          <a:noFill/>
          <a:ln/>
        </p:spPr>
        <p:txBody>
          <a:bodyPr wrap="square" rtlCol="0" anchor="t"/>
          <a:lstStyle/>
          <a:p>
            <a:pPr marL="0" indent="0">
              <a:lnSpc>
                <a:spcPct val="115000"/>
              </a:lnSpc>
              <a:buNone/>
            </a:pPr>
            <a:r>
              <a:rPr lang="en-US" sz="1050" dirty="0">
                <a:solidFill>
                  <a:srgbClr val="3D3D3D"/>
                </a:solidFill>
                <a:latin typeface="Calibri" pitchFamily="34" charset="0"/>
                <a:ea typeface="Calibri" pitchFamily="34" charset="-122"/>
                <a:cs typeface="Calibri" pitchFamily="34" charset="-120"/>
              </a:rPr>
              <a:t>Section H synthetic market test: fictional "ZZ" market added via config only — zero code changes</a:t>
            </a:r>
            <a:endParaRPr lang="en-US" sz="1050" dirty="0"/>
          </a:p>
        </p:txBody>
      </p:sp>
      <p:sp>
        <p:nvSpPr>
          <p:cNvPr id="24" name="Shape 22"/>
          <p:cNvSpPr/>
          <p:nvPr/>
        </p:nvSpPr>
        <p:spPr>
          <a:xfrm>
            <a:off x="8046720" y="3200400"/>
            <a:ext cx="3474720" cy="1234440"/>
          </a:xfrm>
          <a:prstGeom prst="roundRect">
            <a:avLst>
              <a:gd name="adj" fmla="val 4444"/>
            </a:avLst>
          </a:prstGeom>
          <a:solidFill>
            <a:srgbClr val="FFFFFF"/>
          </a:solidFill>
          <a:ln w="15240">
            <a:solidFill>
              <a:srgbClr val="4F2170"/>
            </a:solidFill>
            <a:prstDash val="solid"/>
          </a:ln>
          <a:effectLst>
            <a:outerShdw blurRad="38100" dist="19050" dir="16200000" algn="bl" rotWithShape="0">
              <a:srgbClr val="000000">
                <a:alpha val="10000"/>
              </a:srgbClr>
            </a:outerShdw>
          </a:effectLst>
        </p:spPr>
        <p:txBody>
          <a:bodyPr/>
          <a:lstStyle/>
          <a:p>
            <a:endParaRPr lang="en-US"/>
          </a:p>
        </p:txBody>
      </p:sp>
      <p:sp>
        <p:nvSpPr>
          <p:cNvPr id="25" name="Text 23"/>
          <p:cNvSpPr/>
          <p:nvPr/>
        </p:nvSpPr>
        <p:spPr>
          <a:xfrm>
            <a:off x="8183880" y="3273552"/>
            <a:ext cx="3200400" cy="274320"/>
          </a:xfrm>
          <a:prstGeom prst="rect">
            <a:avLst/>
          </a:prstGeom>
          <a:noFill/>
          <a:ln/>
        </p:spPr>
        <p:txBody>
          <a:bodyPr wrap="square" rtlCol="0" anchor="ctr"/>
          <a:lstStyle/>
          <a:p>
            <a:pPr marL="0" indent="0">
              <a:buNone/>
            </a:pPr>
            <a:r>
              <a:rPr lang="en-US" sz="1200" b="1" dirty="0">
                <a:solidFill>
                  <a:srgbClr val="4F2170"/>
                </a:solidFill>
                <a:latin typeface="Arial" pitchFamily="34" charset="0"/>
                <a:ea typeface="Arial" pitchFamily="34" charset="-122"/>
                <a:cs typeface="Arial" pitchFamily="34" charset="-120"/>
              </a:rPr>
              <a:t>Security  </a:t>
            </a:r>
            <a:r>
              <a:rPr lang="en-US" sz="1000" dirty="0">
                <a:solidFill>
                  <a:srgbClr val="4F2170"/>
                </a:solidFill>
                <a:latin typeface="Calibri" pitchFamily="34" charset="0"/>
                <a:ea typeface="Calibri" pitchFamily="34" charset="-122"/>
                <a:cs typeface="Calibri" pitchFamily="34" charset="-120"/>
              </a:rPr>
              <a:t>(I)</a:t>
            </a:r>
            <a:endParaRPr lang="en-US" sz="1200" dirty="0"/>
          </a:p>
        </p:txBody>
      </p:sp>
      <p:sp>
        <p:nvSpPr>
          <p:cNvPr id="26" name="Text 24"/>
          <p:cNvSpPr/>
          <p:nvPr/>
        </p:nvSpPr>
        <p:spPr>
          <a:xfrm>
            <a:off x="8183880" y="3584448"/>
            <a:ext cx="3200400" cy="731520"/>
          </a:xfrm>
          <a:prstGeom prst="rect">
            <a:avLst/>
          </a:prstGeom>
          <a:noFill/>
          <a:ln/>
        </p:spPr>
        <p:txBody>
          <a:bodyPr wrap="square" rtlCol="0" anchor="t"/>
          <a:lstStyle/>
          <a:p>
            <a:pPr marL="0" indent="0">
              <a:lnSpc>
                <a:spcPct val="115000"/>
              </a:lnSpc>
              <a:buNone/>
            </a:pPr>
            <a:r>
              <a:rPr lang="en-US" sz="1050" dirty="0">
                <a:solidFill>
                  <a:srgbClr val="3D3D3D"/>
                </a:solidFill>
                <a:latin typeface="Calibri" pitchFamily="34" charset="0"/>
                <a:ea typeface="Calibri" pitchFamily="34" charset="-122"/>
                <a:cs typeface="Calibri" pitchFamily="34" charset="-120"/>
              </a:rPr>
              <a:t>Least-privilege access, no credentials in code, RLS, audit columns on all tables</a:t>
            </a:r>
            <a:endParaRPr lang="en-US" sz="1050" dirty="0"/>
          </a:p>
        </p:txBody>
      </p:sp>
      <p:sp>
        <p:nvSpPr>
          <p:cNvPr id="27" name="Shape 25"/>
          <p:cNvSpPr/>
          <p:nvPr/>
        </p:nvSpPr>
        <p:spPr>
          <a:xfrm>
            <a:off x="548640" y="4617720"/>
            <a:ext cx="3474720" cy="1234440"/>
          </a:xfrm>
          <a:prstGeom prst="roundRect">
            <a:avLst>
              <a:gd name="adj" fmla="val 4444"/>
            </a:avLst>
          </a:prstGeom>
          <a:solidFill>
            <a:srgbClr val="FFFFFF"/>
          </a:solidFill>
          <a:ln w="15240">
            <a:solidFill>
              <a:srgbClr val="E18719"/>
            </a:solidFill>
            <a:prstDash val="solid"/>
          </a:ln>
          <a:effectLst>
            <a:outerShdw blurRad="38100" dist="19050" dir="16200000" algn="bl" rotWithShape="0">
              <a:srgbClr val="000000">
                <a:alpha val="10000"/>
              </a:srgbClr>
            </a:outerShdw>
          </a:effectLst>
        </p:spPr>
        <p:txBody>
          <a:bodyPr/>
          <a:lstStyle/>
          <a:p>
            <a:endParaRPr lang="en-US"/>
          </a:p>
        </p:txBody>
      </p:sp>
      <p:sp>
        <p:nvSpPr>
          <p:cNvPr id="28" name="Text 26"/>
          <p:cNvSpPr/>
          <p:nvPr/>
        </p:nvSpPr>
        <p:spPr>
          <a:xfrm>
            <a:off x="685800" y="4690872"/>
            <a:ext cx="3200400" cy="274320"/>
          </a:xfrm>
          <a:prstGeom prst="rect">
            <a:avLst/>
          </a:prstGeom>
          <a:noFill/>
          <a:ln/>
        </p:spPr>
        <p:txBody>
          <a:bodyPr wrap="square" rtlCol="0" anchor="ctr"/>
          <a:lstStyle/>
          <a:p>
            <a:pPr marL="0" indent="0">
              <a:buNone/>
            </a:pPr>
            <a:r>
              <a:rPr lang="en-US" sz="1200" b="1" dirty="0">
                <a:solidFill>
                  <a:srgbClr val="E18719"/>
                </a:solidFill>
                <a:latin typeface="Arial" pitchFamily="34" charset="0"/>
                <a:ea typeface="Arial" pitchFamily="34" charset="-122"/>
                <a:cs typeface="Arial" pitchFamily="34" charset="-120"/>
              </a:rPr>
              <a:t>Testing Framework  </a:t>
            </a:r>
            <a:r>
              <a:rPr lang="en-US" sz="1000" dirty="0">
                <a:solidFill>
                  <a:srgbClr val="E18719"/>
                </a:solidFill>
                <a:latin typeface="Calibri" pitchFamily="34" charset="0"/>
                <a:ea typeface="Calibri" pitchFamily="34" charset="-122"/>
                <a:cs typeface="Calibri" pitchFamily="34" charset="-120"/>
              </a:rPr>
              <a:t>(J)</a:t>
            </a:r>
            <a:endParaRPr lang="en-US" sz="1200" dirty="0"/>
          </a:p>
        </p:txBody>
      </p:sp>
      <p:sp>
        <p:nvSpPr>
          <p:cNvPr id="29" name="Text 27"/>
          <p:cNvSpPr/>
          <p:nvPr/>
        </p:nvSpPr>
        <p:spPr>
          <a:xfrm>
            <a:off x="685800" y="5001768"/>
            <a:ext cx="3200400" cy="731520"/>
          </a:xfrm>
          <a:prstGeom prst="rect">
            <a:avLst/>
          </a:prstGeom>
          <a:noFill/>
          <a:ln/>
        </p:spPr>
        <p:txBody>
          <a:bodyPr wrap="square" rtlCol="0" anchor="t"/>
          <a:lstStyle/>
          <a:p>
            <a:pPr marL="0" indent="0">
              <a:lnSpc>
                <a:spcPct val="115000"/>
              </a:lnSpc>
              <a:buNone/>
            </a:pPr>
            <a:r>
              <a:rPr lang="en-US" sz="1050" dirty="0">
                <a:solidFill>
                  <a:srgbClr val="3D3D3D"/>
                </a:solidFill>
                <a:latin typeface="Calibri" pitchFamily="34" charset="0"/>
                <a:ea typeface="Calibri" pitchFamily="34" charset="-122"/>
                <a:cs typeface="Calibri" pitchFamily="34" charset="-120"/>
              </a:rPr>
              <a:t>Unit tests for shared functions, golden-data tests, parallel-run reconciliation</a:t>
            </a:r>
            <a:endParaRPr lang="en-US" sz="1050" dirty="0"/>
          </a:p>
        </p:txBody>
      </p:sp>
      <p:sp>
        <p:nvSpPr>
          <p:cNvPr id="30" name="Shape 28"/>
          <p:cNvSpPr/>
          <p:nvPr/>
        </p:nvSpPr>
        <p:spPr>
          <a:xfrm>
            <a:off x="4297680" y="4617720"/>
            <a:ext cx="3474720" cy="1234440"/>
          </a:xfrm>
          <a:prstGeom prst="roundRect">
            <a:avLst>
              <a:gd name="adj" fmla="val 4444"/>
            </a:avLst>
          </a:prstGeom>
          <a:solidFill>
            <a:srgbClr val="FFFFFF"/>
          </a:solidFill>
          <a:ln w="15240">
            <a:solidFill>
              <a:srgbClr val="287819"/>
            </a:solidFill>
            <a:prstDash val="solid"/>
          </a:ln>
          <a:effectLst>
            <a:outerShdw blurRad="38100" dist="19050" dir="16200000" algn="bl" rotWithShape="0">
              <a:srgbClr val="000000">
                <a:alpha val="10000"/>
              </a:srgbClr>
            </a:outerShdw>
          </a:effectLst>
        </p:spPr>
        <p:txBody>
          <a:bodyPr/>
          <a:lstStyle/>
          <a:p>
            <a:endParaRPr lang="en-US"/>
          </a:p>
        </p:txBody>
      </p:sp>
      <p:sp>
        <p:nvSpPr>
          <p:cNvPr id="31" name="Text 29"/>
          <p:cNvSpPr/>
          <p:nvPr/>
        </p:nvSpPr>
        <p:spPr>
          <a:xfrm>
            <a:off x="4434840" y="4690872"/>
            <a:ext cx="3200400" cy="274320"/>
          </a:xfrm>
          <a:prstGeom prst="rect">
            <a:avLst/>
          </a:prstGeom>
          <a:noFill/>
          <a:ln/>
        </p:spPr>
        <p:txBody>
          <a:bodyPr wrap="square" rtlCol="0" anchor="ctr"/>
          <a:lstStyle/>
          <a:p>
            <a:pPr marL="0" indent="0">
              <a:buNone/>
            </a:pPr>
            <a:r>
              <a:rPr lang="en-US" sz="1200" b="1" dirty="0">
                <a:solidFill>
                  <a:srgbClr val="287819"/>
                </a:solidFill>
                <a:latin typeface="Arial" pitchFamily="34" charset="0"/>
                <a:ea typeface="Arial" pitchFamily="34" charset="-122"/>
                <a:cs typeface="Arial" pitchFamily="34" charset="-120"/>
              </a:rPr>
              <a:t>Observability  </a:t>
            </a:r>
            <a:r>
              <a:rPr lang="en-US" sz="1000" dirty="0">
                <a:solidFill>
                  <a:srgbClr val="287819"/>
                </a:solidFill>
                <a:latin typeface="Calibri" pitchFamily="34" charset="0"/>
                <a:ea typeface="Calibri" pitchFamily="34" charset="-122"/>
                <a:cs typeface="Calibri" pitchFamily="34" charset="-120"/>
              </a:rPr>
              <a:t>(K)</a:t>
            </a:r>
            <a:endParaRPr lang="en-US" sz="1200" dirty="0"/>
          </a:p>
        </p:txBody>
      </p:sp>
      <p:sp>
        <p:nvSpPr>
          <p:cNvPr id="32" name="Text 30"/>
          <p:cNvSpPr/>
          <p:nvPr/>
        </p:nvSpPr>
        <p:spPr>
          <a:xfrm>
            <a:off x="4434840" y="5001768"/>
            <a:ext cx="3200400" cy="731520"/>
          </a:xfrm>
          <a:prstGeom prst="rect">
            <a:avLst/>
          </a:prstGeom>
          <a:noFill/>
          <a:ln/>
        </p:spPr>
        <p:txBody>
          <a:bodyPr wrap="square" rtlCol="0" anchor="t"/>
          <a:lstStyle/>
          <a:p>
            <a:pPr marL="0" indent="0">
              <a:lnSpc>
                <a:spcPct val="115000"/>
              </a:lnSpc>
              <a:buNone/>
            </a:pPr>
            <a:r>
              <a:rPr lang="en-US" sz="1050" dirty="0">
                <a:solidFill>
                  <a:srgbClr val="3D3D3D"/>
                </a:solidFill>
                <a:latin typeface="Calibri" pitchFamily="34" charset="0"/>
                <a:ea typeface="Calibri" pitchFamily="34" charset="-122"/>
                <a:cs typeface="Calibri" pitchFamily="34" charset="-120"/>
              </a:rPr>
              <a:t>Complete run logs, automated alerts, operational runbooks, visible data lineage</a:t>
            </a:r>
            <a:endParaRPr lang="en-US" sz="1050" dirty="0"/>
          </a:p>
        </p:txBody>
      </p:sp>
      <p:sp>
        <p:nvSpPr>
          <p:cNvPr id="33" name="Shape 31"/>
          <p:cNvSpPr/>
          <p:nvPr/>
        </p:nvSpPr>
        <p:spPr>
          <a:xfrm>
            <a:off x="8046720" y="4617720"/>
            <a:ext cx="3474720" cy="1234440"/>
          </a:xfrm>
          <a:prstGeom prst="roundRect">
            <a:avLst>
              <a:gd name="adj" fmla="val 4444"/>
            </a:avLst>
          </a:prstGeom>
          <a:solidFill>
            <a:srgbClr val="FFFFFF"/>
          </a:solidFill>
          <a:ln w="15240">
            <a:solidFill>
              <a:srgbClr val="4F2170"/>
            </a:solidFill>
            <a:prstDash val="solid"/>
          </a:ln>
          <a:effectLst>
            <a:outerShdw blurRad="38100" dist="19050" dir="16200000" algn="bl" rotWithShape="0">
              <a:srgbClr val="000000">
                <a:alpha val="10000"/>
              </a:srgbClr>
            </a:outerShdw>
          </a:effectLst>
        </p:spPr>
        <p:txBody>
          <a:bodyPr/>
          <a:lstStyle/>
          <a:p>
            <a:endParaRPr lang="en-US"/>
          </a:p>
        </p:txBody>
      </p:sp>
      <p:sp>
        <p:nvSpPr>
          <p:cNvPr id="34" name="Text 32"/>
          <p:cNvSpPr/>
          <p:nvPr/>
        </p:nvSpPr>
        <p:spPr>
          <a:xfrm>
            <a:off x="8183880" y="4690872"/>
            <a:ext cx="3200400" cy="274320"/>
          </a:xfrm>
          <a:prstGeom prst="rect">
            <a:avLst/>
          </a:prstGeom>
          <a:noFill/>
          <a:ln/>
        </p:spPr>
        <p:txBody>
          <a:bodyPr wrap="square" rtlCol="0" anchor="ctr"/>
          <a:lstStyle/>
          <a:p>
            <a:pPr marL="0" indent="0">
              <a:buNone/>
            </a:pPr>
            <a:r>
              <a:rPr lang="en-US" sz="1200" b="1" dirty="0">
                <a:solidFill>
                  <a:srgbClr val="4F2170"/>
                </a:solidFill>
                <a:latin typeface="Arial" pitchFamily="34" charset="0"/>
                <a:ea typeface="Arial" pitchFamily="34" charset="-122"/>
                <a:cs typeface="Arial" pitchFamily="34" charset="-120"/>
              </a:rPr>
              <a:t>Documentation  </a:t>
            </a:r>
            <a:r>
              <a:rPr lang="en-US" sz="1000" dirty="0">
                <a:solidFill>
                  <a:srgbClr val="4F2170"/>
                </a:solidFill>
                <a:latin typeface="Calibri" pitchFamily="34" charset="0"/>
                <a:ea typeface="Calibri" pitchFamily="34" charset="-122"/>
                <a:cs typeface="Calibri" pitchFamily="34" charset="-120"/>
              </a:rPr>
              <a:t>(L)</a:t>
            </a:r>
            <a:endParaRPr lang="en-US" sz="1200" dirty="0"/>
          </a:p>
        </p:txBody>
      </p:sp>
      <p:sp>
        <p:nvSpPr>
          <p:cNvPr id="35" name="Text 33"/>
          <p:cNvSpPr/>
          <p:nvPr/>
        </p:nvSpPr>
        <p:spPr>
          <a:xfrm>
            <a:off x="8183880" y="5001768"/>
            <a:ext cx="3200400" cy="731520"/>
          </a:xfrm>
          <a:prstGeom prst="rect">
            <a:avLst/>
          </a:prstGeom>
          <a:noFill/>
          <a:ln/>
        </p:spPr>
        <p:txBody>
          <a:bodyPr wrap="square" rtlCol="0" anchor="t"/>
          <a:lstStyle/>
          <a:p>
            <a:pPr marL="0" indent="0">
              <a:lnSpc>
                <a:spcPct val="115000"/>
              </a:lnSpc>
              <a:buNone/>
            </a:pPr>
            <a:r>
              <a:rPr lang="en-US" sz="1050" dirty="0">
                <a:solidFill>
                  <a:srgbClr val="3D3D3D"/>
                </a:solidFill>
                <a:latin typeface="Calibri" pitchFamily="34" charset="0"/>
                <a:ea typeface="Calibri" pitchFamily="34" charset="-122"/>
                <a:cs typeface="Calibri" pitchFamily="34" charset="-120"/>
              </a:rPr>
              <a:t>Design note before build, time-bound waivers, registry-dictionary sync, legacy mapping</a:t>
            </a:r>
            <a:endParaRPr lang="en-US" sz="1050" dirty="0"/>
          </a:p>
        </p:txBody>
      </p:sp>
      <p:sp>
        <p:nvSpPr>
          <p:cNvPr id="36" name="Text 34"/>
          <p:cNvSpPr/>
          <p:nvPr/>
        </p:nvSpPr>
        <p:spPr>
          <a:xfrm>
            <a:off x="548640" y="6126480"/>
            <a:ext cx="10972800" cy="274320"/>
          </a:xfrm>
          <a:prstGeom prst="rect">
            <a:avLst/>
          </a:prstGeom>
          <a:noFill/>
          <a:ln/>
        </p:spPr>
        <p:txBody>
          <a:bodyPr wrap="square" rtlCol="0" anchor="ctr"/>
          <a:lstStyle/>
          <a:p>
            <a:pPr marL="0" indent="0">
              <a:buNone/>
            </a:pPr>
            <a:r>
              <a:rPr lang="en-US" sz="1100" i="1" dirty="0">
                <a:solidFill>
                  <a:srgbClr val="4F2170"/>
                </a:solidFill>
                <a:latin typeface="Calibri" pitchFamily="34" charset="0"/>
                <a:ea typeface="Calibri" pitchFamily="34" charset="-122"/>
                <a:cs typeface="Calibri" pitchFamily="34" charset="-120"/>
              </a:rPr>
              <a:t>This comprehensive design enables the January 2027 prototype as a fixed-price SOW commitment.</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4F2170"/>
          </a:solidFill>
          <a:ln/>
        </p:spPr>
        <p:txBody>
          <a:bodyPr/>
          <a:lstStyle/>
          <a:p>
            <a:endParaRPr lang="en-US"/>
          </a:p>
        </p:txBody>
      </p:sp>
      <p:sp>
        <p:nvSpPr>
          <p:cNvPr id="3" name="Text 1"/>
          <p:cNvSpPr/>
          <p:nvPr/>
        </p:nvSpPr>
        <p:spPr>
          <a:xfrm>
            <a:off x="548640" y="137160"/>
            <a:ext cx="10515600" cy="502920"/>
          </a:xfrm>
          <a:prstGeom prst="rect">
            <a:avLst/>
          </a:prstGeom>
          <a:noFill/>
          <a:ln/>
        </p:spPr>
        <p:txBody>
          <a:bodyPr wrap="square" rtlCol="0" anchor="ctr"/>
          <a:lstStyle/>
          <a:p>
            <a:pPr marL="0" indent="0">
              <a:buNone/>
            </a:pPr>
            <a:r>
              <a:rPr lang="en-US" sz="2400" dirty="0">
                <a:solidFill>
                  <a:srgbClr val="FFFFFF"/>
                </a:solidFill>
                <a:latin typeface="Arial" pitchFamily="34" charset="0"/>
                <a:ea typeface="Arial" pitchFamily="34" charset="-122"/>
                <a:cs typeface="Arial" pitchFamily="34" charset="-120"/>
              </a:rPr>
              <a:t>Dec Deliverables 2 &amp; 3: Foundations &amp; Core Domains Build</a:t>
            </a:r>
            <a:endParaRPr lang="en-US" sz="2400" dirty="0"/>
          </a:p>
        </p:txBody>
      </p:sp>
      <p:sp>
        <p:nvSpPr>
          <p:cNvPr id="4" name="Text 2"/>
          <p:cNvSpPr/>
          <p:nvPr/>
        </p:nvSpPr>
        <p:spPr>
          <a:xfrm>
            <a:off x="548640" y="594360"/>
            <a:ext cx="10515600" cy="320040"/>
          </a:xfrm>
          <a:prstGeom prst="rect">
            <a:avLst/>
          </a:prstGeom>
          <a:noFill/>
          <a:ln/>
        </p:spPr>
        <p:txBody>
          <a:bodyPr wrap="square" rtlCol="0" anchor="ctr"/>
          <a:lstStyle/>
          <a:p>
            <a:pPr marL="0" indent="0">
              <a:buNone/>
            </a:pPr>
            <a:r>
              <a:rPr lang="en-US" sz="1300" dirty="0">
                <a:solidFill>
                  <a:srgbClr val="E8DFF0"/>
                </a:solidFill>
                <a:latin typeface="Calibri" pitchFamily="34" charset="0"/>
                <a:ea typeface="Calibri" pitchFamily="34" charset="-122"/>
                <a:cs typeface="Calibri" pitchFamily="34" charset="-120"/>
              </a:rPr>
              <a:t>CDRB Sections B &amp; E — Phase 1 &amp; Phase 2 of the Build Sequence</a:t>
            </a:r>
            <a:endParaRPr lang="en-US" sz="1300" dirty="0"/>
          </a:p>
        </p:txBody>
      </p:sp>
      <p:sp>
        <p:nvSpPr>
          <p:cNvPr id="5" name="Shape 3"/>
          <p:cNvSpPr/>
          <p:nvPr/>
        </p:nvSpPr>
        <p:spPr>
          <a:xfrm>
            <a:off x="0" y="6492240"/>
            <a:ext cx="12188952" cy="365760"/>
          </a:xfrm>
          <a:prstGeom prst="rect">
            <a:avLst/>
          </a:prstGeom>
          <a:solidFill>
            <a:srgbClr val="3A1854"/>
          </a:solidFill>
          <a:ln/>
        </p:spPr>
        <p:txBody>
          <a:bodyPr/>
          <a:lstStyle/>
          <a:p>
            <a:endParaRPr lang="en-US"/>
          </a:p>
        </p:txBody>
      </p:sp>
      <p:sp>
        <p:nvSpPr>
          <p:cNvPr id="6" name="Text 4"/>
          <p:cNvSpPr/>
          <p:nvPr/>
        </p:nvSpPr>
        <p:spPr>
          <a:xfrm>
            <a:off x="548640" y="6510528"/>
            <a:ext cx="9144000" cy="320040"/>
          </a:xfrm>
          <a:prstGeom prst="rect">
            <a:avLst/>
          </a:prstGeom>
          <a:noFill/>
          <a:ln/>
        </p:spPr>
        <p:txBody>
          <a:bodyPr wrap="square" rtlCol="0" anchor="ctr"/>
          <a:lstStyle/>
          <a:p>
            <a:pPr marL="0" indent="0">
              <a:buNone/>
            </a:pPr>
            <a:r>
              <a:rPr lang="en-US" sz="900" dirty="0">
                <a:solidFill>
                  <a:srgbClr val="E8DFF0"/>
                </a:solidFill>
                <a:latin typeface="Calibri" pitchFamily="34" charset="0"/>
                <a:ea typeface="Calibri" pitchFamily="34" charset="-122"/>
                <a:cs typeface="Calibri" pitchFamily="34" charset="-120"/>
              </a:rPr>
              <a:t>LA OSA 2.0 Blueprint Workshop  |  Day 3 Morning  |  WS-1: Mexico &amp; Wacam</a:t>
            </a:r>
            <a:endParaRPr lang="en-US" sz="900" dirty="0"/>
          </a:p>
        </p:txBody>
      </p:sp>
      <p:sp>
        <p:nvSpPr>
          <p:cNvPr id="7" name="Text 5"/>
          <p:cNvSpPr/>
          <p:nvPr/>
        </p:nvSpPr>
        <p:spPr>
          <a:xfrm>
            <a:off x="10972800" y="6510528"/>
            <a:ext cx="914400" cy="320040"/>
          </a:xfrm>
          <a:prstGeom prst="rect">
            <a:avLst/>
          </a:prstGeom>
          <a:noFill/>
          <a:ln/>
        </p:spPr>
        <p:txBody>
          <a:bodyPr wrap="square" rtlCol="0" anchor="ctr"/>
          <a:lstStyle/>
          <a:p>
            <a:pPr marL="0" indent="0" algn="r">
              <a:buNone/>
            </a:pPr>
            <a:r>
              <a:rPr lang="en-US" sz="900" dirty="0">
                <a:solidFill>
                  <a:srgbClr val="E8DFF0"/>
                </a:solidFill>
                <a:latin typeface="Calibri" pitchFamily="34" charset="0"/>
                <a:ea typeface="Calibri" pitchFamily="34" charset="-122"/>
                <a:cs typeface="Calibri" pitchFamily="34" charset="-120"/>
              </a:rPr>
              <a:t>14 / 20</a:t>
            </a:r>
            <a:endParaRPr lang="en-US" sz="900" dirty="0"/>
          </a:p>
        </p:txBody>
      </p:sp>
      <p:sp>
        <p:nvSpPr>
          <p:cNvPr id="8" name="Shape 6"/>
          <p:cNvSpPr/>
          <p:nvPr/>
        </p:nvSpPr>
        <p:spPr>
          <a:xfrm>
            <a:off x="548640" y="1325880"/>
            <a:ext cx="5303520" cy="4114800"/>
          </a:xfrm>
          <a:prstGeom prst="roundRect">
            <a:avLst>
              <a:gd name="adj" fmla="val 1778"/>
            </a:avLst>
          </a:prstGeom>
          <a:solidFill>
            <a:srgbClr val="E8DFF0"/>
          </a:solidFill>
          <a:ln w="19050">
            <a:solidFill>
              <a:srgbClr val="4F2170"/>
            </a:solidFill>
            <a:prstDash val="solid"/>
          </a:ln>
        </p:spPr>
        <p:txBody>
          <a:bodyPr/>
          <a:lstStyle/>
          <a:p>
            <a:endParaRPr lang="en-US"/>
          </a:p>
        </p:txBody>
      </p:sp>
      <p:sp>
        <p:nvSpPr>
          <p:cNvPr id="9" name="Shape 7"/>
          <p:cNvSpPr/>
          <p:nvPr/>
        </p:nvSpPr>
        <p:spPr>
          <a:xfrm>
            <a:off x="548640" y="1325880"/>
            <a:ext cx="5303520" cy="457200"/>
          </a:xfrm>
          <a:prstGeom prst="rect">
            <a:avLst/>
          </a:prstGeom>
          <a:solidFill>
            <a:srgbClr val="4F2170"/>
          </a:solidFill>
          <a:ln/>
        </p:spPr>
        <p:txBody>
          <a:bodyPr/>
          <a:lstStyle/>
          <a:p>
            <a:endParaRPr lang="en-US"/>
          </a:p>
        </p:txBody>
      </p:sp>
      <p:sp>
        <p:nvSpPr>
          <p:cNvPr id="10" name="Text 8"/>
          <p:cNvSpPr/>
          <p:nvPr/>
        </p:nvSpPr>
        <p:spPr>
          <a:xfrm>
            <a:off x="731520" y="1344168"/>
            <a:ext cx="4937760" cy="411480"/>
          </a:xfrm>
          <a:prstGeom prst="rect">
            <a:avLst/>
          </a:prstGeom>
          <a:noFill/>
          <a:ln/>
        </p:spPr>
        <p:txBody>
          <a:bodyPr wrap="square" rtlCol="0" anchor="ctr"/>
          <a:lstStyle/>
          <a:p>
            <a:pPr marL="0" indent="0">
              <a:buNone/>
            </a:pPr>
            <a:r>
              <a:rPr lang="en-US" sz="1400" b="1" dirty="0">
                <a:solidFill>
                  <a:srgbClr val="FFFFFF"/>
                </a:solidFill>
                <a:latin typeface="Arial" pitchFamily="34" charset="0"/>
                <a:ea typeface="Arial" pitchFamily="34" charset="-122"/>
                <a:cs typeface="Arial" pitchFamily="34" charset="-120"/>
              </a:rPr>
              <a:t>②  Foundations Build (Phase 1)</a:t>
            </a:r>
            <a:endParaRPr lang="en-US" sz="1400" dirty="0"/>
          </a:p>
        </p:txBody>
      </p:sp>
      <p:sp>
        <p:nvSpPr>
          <p:cNvPr id="11" name="Text 9"/>
          <p:cNvSpPr/>
          <p:nvPr/>
        </p:nvSpPr>
        <p:spPr>
          <a:xfrm>
            <a:off x="777240" y="1920240"/>
            <a:ext cx="4846320" cy="3291840"/>
          </a:xfrm>
          <a:prstGeom prst="rect">
            <a:avLst/>
          </a:prstGeom>
          <a:noFill/>
          <a:ln/>
        </p:spPr>
        <p:txBody>
          <a:bodyPr wrap="square" rtlCol="0" anchor="t"/>
          <a:lstStyle/>
          <a:p>
            <a:pPr marL="342900" indent="-342900">
              <a:lnSpc>
                <a:spcPct val="130000"/>
              </a:lnSpc>
              <a:buSzPct val="100000"/>
              <a:buChar char="•"/>
            </a:pPr>
            <a:r>
              <a:rPr lang="en-US" sz="1200" dirty="0">
                <a:solidFill>
                  <a:srgbClr val="3D3D3D"/>
                </a:solidFill>
                <a:latin typeface="Calibri" pitchFamily="34" charset="0"/>
                <a:ea typeface="Calibri" pitchFamily="34" charset="-122"/>
                <a:cs typeface="Calibri" pitchFamily="34" charset="-120"/>
              </a:rPr>
              <a:t>Configuration tables &amp; shared utility functions
</a:t>
            </a:r>
            <a:endParaRPr lang="en-US" sz="1200" dirty="0"/>
          </a:p>
          <a:p>
            <a:pPr marL="254000" indent="-254000">
              <a:lnSpc>
                <a:spcPct val="130000"/>
              </a:lnSpc>
              <a:buSzPct val="100000"/>
              <a:buChar char="•"/>
            </a:pPr>
            <a:r>
              <a:rPr lang="en-US" sz="1100" dirty="0">
                <a:solidFill>
                  <a:srgbClr val="3D3D3D"/>
                </a:solidFill>
                <a:latin typeface="Calibri" pitchFamily="34" charset="0"/>
                <a:ea typeface="Calibri" pitchFamily="34" charset="-122"/>
                <a:cs typeface="Calibri" pitchFamily="34" charset="-120"/>
              </a:rPr>
              <a:t>10 versioned market-keyed config tables
</a:t>
            </a:r>
            <a:endParaRPr lang="en-US" sz="1200" dirty="0"/>
          </a:p>
          <a:p>
            <a:pPr marL="254000" indent="-254000">
              <a:lnSpc>
                <a:spcPct val="130000"/>
              </a:lnSpc>
              <a:buSzPct val="100000"/>
              <a:buChar char="•"/>
            </a:pPr>
            <a:r>
              <a:rPr lang="en-US" sz="1100" dirty="0">
                <a:solidFill>
                  <a:srgbClr val="3D3D3D"/>
                </a:solidFill>
                <a:latin typeface="Calibri" pitchFamily="34" charset="0"/>
                <a:ea typeface="Calibri" pitchFamily="34" charset="-122"/>
                <a:cs typeface="Calibri" pitchFamily="34" charset="-120"/>
              </a:rPr>
              <a:t>8 pure shared functions with unit tests
</a:t>
            </a:r>
            <a:endParaRPr lang="en-US" sz="1200" dirty="0"/>
          </a:p>
          <a:p>
            <a:pPr marL="342900" indent="-342900">
              <a:lnSpc>
                <a:spcPct val="130000"/>
              </a:lnSpc>
              <a:buSzPct val="100000"/>
              <a:buChar char="•"/>
            </a:pPr>
            <a:r>
              <a:rPr lang="en-US" sz="1200" dirty="0">
                <a:solidFill>
                  <a:srgbClr val="3D3D3D"/>
                </a:solidFill>
                <a:latin typeface="Calibri" pitchFamily="34" charset="0"/>
                <a:ea typeface="Calibri" pitchFamily="34" charset="-122"/>
                <a:cs typeface="Calibri" pitchFamily="34" charset="-120"/>
              </a:rPr>
              <a:t>Stored-procedure template + unit test harness
</a:t>
            </a:r>
            <a:endParaRPr lang="en-US" sz="1200" dirty="0"/>
          </a:p>
          <a:p>
            <a:pPr marL="254000" indent="-254000">
              <a:lnSpc>
                <a:spcPct val="130000"/>
              </a:lnSpc>
              <a:buSzPct val="100000"/>
              <a:buChar char="•"/>
            </a:pPr>
            <a:r>
              <a:rPr lang="en-US" sz="1100" dirty="0">
                <a:solidFill>
                  <a:srgbClr val="3D3D3D"/>
                </a:solidFill>
                <a:latin typeface="Calibri" pitchFamily="34" charset="0"/>
                <a:ea typeface="Calibri" pitchFamily="34" charset="-122"/>
                <a:cs typeface="Calibri" pitchFamily="34" charset="-120"/>
              </a:rPr>
              <a:t>8-block template: Contract → Context → Config → Extract → Transform → Quality Gate → Load → Log
</a:t>
            </a:r>
            <a:endParaRPr lang="en-US" sz="1200" dirty="0"/>
          </a:p>
          <a:p>
            <a:pPr marL="342900" indent="-342900">
              <a:lnSpc>
                <a:spcPct val="130000"/>
              </a:lnSpc>
              <a:buSzPct val="100000"/>
              <a:buChar char="•"/>
            </a:pPr>
            <a:r>
              <a:rPr lang="en-US" sz="1200" dirty="0">
                <a:solidFill>
                  <a:srgbClr val="3D3D3D"/>
                </a:solidFill>
                <a:latin typeface="Calibri" pitchFamily="34" charset="0"/>
                <a:ea typeface="Calibri" pitchFamily="34" charset="-122"/>
                <a:cs typeface="Calibri" pitchFamily="34" charset="-120"/>
              </a:rPr>
              <a:t>Unity Catalog structure confirmed in current Databricks sandbox</a:t>
            </a:r>
            <a:endParaRPr lang="en-US" sz="1200" dirty="0"/>
          </a:p>
        </p:txBody>
      </p:sp>
      <p:sp>
        <p:nvSpPr>
          <p:cNvPr id="12" name="Shape 10"/>
          <p:cNvSpPr/>
          <p:nvPr/>
        </p:nvSpPr>
        <p:spPr>
          <a:xfrm>
            <a:off x="6309360" y="1325880"/>
            <a:ext cx="5303520" cy="4114800"/>
          </a:xfrm>
          <a:prstGeom prst="roundRect">
            <a:avLst>
              <a:gd name="adj" fmla="val 1778"/>
            </a:avLst>
          </a:prstGeom>
          <a:solidFill>
            <a:srgbClr val="E8F5E4"/>
          </a:solidFill>
          <a:ln w="19050">
            <a:solidFill>
              <a:srgbClr val="287819"/>
            </a:solidFill>
            <a:prstDash val="solid"/>
          </a:ln>
        </p:spPr>
        <p:txBody>
          <a:bodyPr/>
          <a:lstStyle/>
          <a:p>
            <a:endParaRPr lang="en-US"/>
          </a:p>
        </p:txBody>
      </p:sp>
      <p:sp>
        <p:nvSpPr>
          <p:cNvPr id="13" name="Shape 11"/>
          <p:cNvSpPr/>
          <p:nvPr/>
        </p:nvSpPr>
        <p:spPr>
          <a:xfrm>
            <a:off x="6309360" y="1325880"/>
            <a:ext cx="5303520" cy="457200"/>
          </a:xfrm>
          <a:prstGeom prst="rect">
            <a:avLst/>
          </a:prstGeom>
          <a:solidFill>
            <a:srgbClr val="287819"/>
          </a:solidFill>
          <a:ln/>
        </p:spPr>
        <p:txBody>
          <a:bodyPr/>
          <a:lstStyle/>
          <a:p>
            <a:endParaRPr lang="en-US"/>
          </a:p>
        </p:txBody>
      </p:sp>
      <p:sp>
        <p:nvSpPr>
          <p:cNvPr id="14" name="Text 12"/>
          <p:cNvSpPr/>
          <p:nvPr/>
        </p:nvSpPr>
        <p:spPr>
          <a:xfrm>
            <a:off x="6492240" y="1344168"/>
            <a:ext cx="4937760" cy="411480"/>
          </a:xfrm>
          <a:prstGeom prst="rect">
            <a:avLst/>
          </a:prstGeom>
          <a:noFill/>
          <a:ln/>
        </p:spPr>
        <p:txBody>
          <a:bodyPr wrap="square" rtlCol="0" anchor="ctr"/>
          <a:lstStyle/>
          <a:p>
            <a:pPr marL="0" indent="0">
              <a:buNone/>
            </a:pPr>
            <a:r>
              <a:rPr lang="en-US" sz="1400" b="1" dirty="0">
                <a:solidFill>
                  <a:srgbClr val="FFFFFF"/>
                </a:solidFill>
                <a:latin typeface="Arial" pitchFamily="34" charset="0"/>
                <a:ea typeface="Arial" pitchFamily="34" charset="-122"/>
                <a:cs typeface="Arial" pitchFamily="34" charset="-120"/>
              </a:rPr>
              <a:t>③  Core Domains Build (Phase 2)</a:t>
            </a:r>
            <a:endParaRPr lang="en-US" sz="1400" dirty="0"/>
          </a:p>
        </p:txBody>
      </p:sp>
      <p:sp>
        <p:nvSpPr>
          <p:cNvPr id="15" name="Text 13"/>
          <p:cNvSpPr/>
          <p:nvPr/>
        </p:nvSpPr>
        <p:spPr>
          <a:xfrm>
            <a:off x="6537960" y="1920240"/>
            <a:ext cx="4846320" cy="3291840"/>
          </a:xfrm>
          <a:prstGeom prst="rect">
            <a:avLst/>
          </a:prstGeom>
          <a:noFill/>
          <a:ln/>
        </p:spPr>
        <p:txBody>
          <a:bodyPr wrap="square" rtlCol="0" anchor="t"/>
          <a:lstStyle/>
          <a:p>
            <a:pPr marL="0" indent="0">
              <a:lnSpc>
                <a:spcPct val="120000"/>
              </a:lnSpc>
              <a:buNone/>
            </a:pPr>
            <a:r>
              <a:rPr lang="en-US" sz="1200" dirty="0">
                <a:solidFill>
                  <a:srgbClr val="3D3D3D"/>
                </a:solidFill>
                <a:latin typeface="Calibri" pitchFamily="34" charset="0"/>
                <a:ea typeface="Calibri" pitchFamily="34" charset="-122"/>
                <a:cs typeface="Calibri" pitchFamily="34" charset="-120"/>
              </a:rPr>
              <a:t>6 canonical domain entities built with the 8-block pipeline template:
</a:t>
            </a:r>
            <a:r>
              <a:rPr lang="en-US" sz="1100" b="1" dirty="0">
                <a:solidFill>
                  <a:srgbClr val="E18719"/>
                </a:solidFill>
                <a:latin typeface="Calibri" pitchFamily="34" charset="0"/>
                <a:ea typeface="Calibri" pitchFamily="34" charset="-122"/>
                <a:cs typeface="Calibri" pitchFamily="34" charset="-120"/>
              </a:rPr>
              <a:t>
  D1 — Sales Orders
  D2 — Invoices
  D3 — Deliveries
  D4 — Order Schedule &amp; Status
  D5 — Order–Invoice Detail
  D6 — Order–Delivery Detail
</a:t>
            </a:r>
            <a:r>
              <a:rPr lang="en-US" sz="1100" dirty="0">
                <a:solidFill>
                  <a:srgbClr val="287819"/>
                </a:solidFill>
                <a:latin typeface="Calibri" pitchFamily="34" charset="0"/>
                <a:ea typeface="Calibri" pitchFamily="34" charset="-122"/>
                <a:cs typeface="Calibri" pitchFamily="34" charset="-120"/>
              </a:rPr>
              <a:t>✔ Quality gates passed
✔ CDRB Sections B &amp; E reviewed and approved
✔ MX &amp; WC ingestion running E2E in sandbox</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4F2170"/>
          </a:solidFill>
          <a:ln/>
        </p:spPr>
        <p:txBody>
          <a:bodyPr/>
          <a:lstStyle/>
          <a:p>
            <a:endParaRPr lang="en-US"/>
          </a:p>
        </p:txBody>
      </p:sp>
      <p:sp>
        <p:nvSpPr>
          <p:cNvPr id="3" name="Text 1"/>
          <p:cNvSpPr/>
          <p:nvPr/>
        </p:nvSpPr>
        <p:spPr>
          <a:xfrm>
            <a:off x="548640" y="137160"/>
            <a:ext cx="10515600" cy="502920"/>
          </a:xfrm>
          <a:prstGeom prst="rect">
            <a:avLst/>
          </a:prstGeom>
          <a:noFill/>
          <a:ln/>
        </p:spPr>
        <p:txBody>
          <a:bodyPr wrap="square" rtlCol="0" anchor="ctr"/>
          <a:lstStyle/>
          <a:p>
            <a:pPr marL="0" indent="0">
              <a:buNone/>
            </a:pPr>
            <a:r>
              <a:rPr lang="en-US" sz="2400" dirty="0">
                <a:solidFill>
                  <a:srgbClr val="FFFFFF"/>
                </a:solidFill>
                <a:latin typeface="Arial" pitchFamily="34" charset="0"/>
                <a:ea typeface="Arial" pitchFamily="34" charset="-122"/>
                <a:cs typeface="Arial" pitchFamily="34" charset="-120"/>
              </a:rPr>
              <a:t>Dec Deliverables 4 &amp; 5: AI-Assisted Redesign</a:t>
            </a:r>
            <a:endParaRPr lang="en-US" sz="2400" dirty="0"/>
          </a:p>
        </p:txBody>
      </p:sp>
      <p:sp>
        <p:nvSpPr>
          <p:cNvPr id="4" name="Text 2"/>
          <p:cNvSpPr/>
          <p:nvPr/>
        </p:nvSpPr>
        <p:spPr>
          <a:xfrm>
            <a:off x="548640" y="594360"/>
            <a:ext cx="10515600" cy="320040"/>
          </a:xfrm>
          <a:prstGeom prst="rect">
            <a:avLst/>
          </a:prstGeom>
          <a:noFill/>
          <a:ln/>
        </p:spPr>
        <p:txBody>
          <a:bodyPr wrap="square" rtlCol="0" anchor="ctr"/>
          <a:lstStyle/>
          <a:p>
            <a:pPr marL="0" indent="0">
              <a:buNone/>
            </a:pPr>
            <a:r>
              <a:rPr lang="en-US" sz="1300" dirty="0">
                <a:solidFill>
                  <a:srgbClr val="E8DFF0"/>
                </a:solidFill>
                <a:latin typeface="Calibri" pitchFamily="34" charset="0"/>
                <a:ea typeface="Calibri" pitchFamily="34" charset="-122"/>
                <a:cs typeface="Calibri" pitchFamily="34" charset="-120"/>
              </a:rPr>
              <a:t>CDRB Sections C &amp; D — Configuration-Driven Data Preparation</a:t>
            </a:r>
            <a:endParaRPr lang="en-US" sz="1300" dirty="0"/>
          </a:p>
        </p:txBody>
      </p:sp>
      <p:sp>
        <p:nvSpPr>
          <p:cNvPr id="5" name="Shape 3"/>
          <p:cNvSpPr/>
          <p:nvPr/>
        </p:nvSpPr>
        <p:spPr>
          <a:xfrm>
            <a:off x="0" y="6492240"/>
            <a:ext cx="12188952" cy="365760"/>
          </a:xfrm>
          <a:prstGeom prst="rect">
            <a:avLst/>
          </a:prstGeom>
          <a:solidFill>
            <a:srgbClr val="3A1854"/>
          </a:solidFill>
          <a:ln/>
        </p:spPr>
        <p:txBody>
          <a:bodyPr/>
          <a:lstStyle/>
          <a:p>
            <a:endParaRPr lang="en-US"/>
          </a:p>
        </p:txBody>
      </p:sp>
      <p:sp>
        <p:nvSpPr>
          <p:cNvPr id="6" name="Text 4"/>
          <p:cNvSpPr/>
          <p:nvPr/>
        </p:nvSpPr>
        <p:spPr>
          <a:xfrm>
            <a:off x="548640" y="6510528"/>
            <a:ext cx="9144000" cy="320040"/>
          </a:xfrm>
          <a:prstGeom prst="rect">
            <a:avLst/>
          </a:prstGeom>
          <a:noFill/>
          <a:ln/>
        </p:spPr>
        <p:txBody>
          <a:bodyPr wrap="square" rtlCol="0" anchor="ctr"/>
          <a:lstStyle/>
          <a:p>
            <a:pPr marL="0" indent="0">
              <a:buNone/>
            </a:pPr>
            <a:r>
              <a:rPr lang="en-US" sz="900" dirty="0">
                <a:solidFill>
                  <a:srgbClr val="E8DFF0"/>
                </a:solidFill>
                <a:latin typeface="Calibri" pitchFamily="34" charset="0"/>
                <a:ea typeface="Calibri" pitchFamily="34" charset="-122"/>
                <a:cs typeface="Calibri" pitchFamily="34" charset="-120"/>
              </a:rPr>
              <a:t>LA OSA 2.0 Blueprint Workshop  |  Day 3 Morning  |  WS-1: Mexico &amp; Wacam</a:t>
            </a:r>
            <a:endParaRPr lang="en-US" sz="900" dirty="0"/>
          </a:p>
        </p:txBody>
      </p:sp>
      <p:sp>
        <p:nvSpPr>
          <p:cNvPr id="7" name="Text 5"/>
          <p:cNvSpPr/>
          <p:nvPr/>
        </p:nvSpPr>
        <p:spPr>
          <a:xfrm>
            <a:off x="10972800" y="6510528"/>
            <a:ext cx="914400" cy="320040"/>
          </a:xfrm>
          <a:prstGeom prst="rect">
            <a:avLst/>
          </a:prstGeom>
          <a:noFill/>
          <a:ln/>
        </p:spPr>
        <p:txBody>
          <a:bodyPr wrap="square" rtlCol="0" anchor="ctr"/>
          <a:lstStyle/>
          <a:p>
            <a:pPr marL="0" indent="0" algn="r">
              <a:buNone/>
            </a:pPr>
            <a:r>
              <a:rPr lang="en-US" sz="900" dirty="0">
                <a:solidFill>
                  <a:srgbClr val="E8DFF0"/>
                </a:solidFill>
                <a:latin typeface="Calibri" pitchFamily="34" charset="0"/>
                <a:ea typeface="Calibri" pitchFamily="34" charset="-122"/>
                <a:cs typeface="Calibri" pitchFamily="34" charset="-120"/>
              </a:rPr>
              <a:t>15 / 20</a:t>
            </a:r>
            <a:endParaRPr lang="en-US" sz="900" dirty="0"/>
          </a:p>
        </p:txBody>
      </p:sp>
      <p:sp>
        <p:nvSpPr>
          <p:cNvPr id="8" name="Shape 6"/>
          <p:cNvSpPr/>
          <p:nvPr/>
        </p:nvSpPr>
        <p:spPr>
          <a:xfrm>
            <a:off x="548640" y="1325880"/>
            <a:ext cx="5303520" cy="3840480"/>
          </a:xfrm>
          <a:prstGeom prst="roundRect">
            <a:avLst>
              <a:gd name="adj" fmla="val 1905"/>
            </a:avLst>
          </a:prstGeom>
          <a:solidFill>
            <a:srgbClr val="FFF3E5"/>
          </a:solidFill>
          <a:ln w="19050">
            <a:solidFill>
              <a:srgbClr val="E18719"/>
            </a:solidFill>
            <a:prstDash val="solid"/>
          </a:ln>
        </p:spPr>
        <p:txBody>
          <a:bodyPr/>
          <a:lstStyle/>
          <a:p>
            <a:endParaRPr lang="en-US"/>
          </a:p>
        </p:txBody>
      </p:sp>
      <p:sp>
        <p:nvSpPr>
          <p:cNvPr id="9" name="Text 7"/>
          <p:cNvSpPr/>
          <p:nvPr/>
        </p:nvSpPr>
        <p:spPr>
          <a:xfrm>
            <a:off x="777240" y="1417320"/>
            <a:ext cx="4846320" cy="320040"/>
          </a:xfrm>
          <a:prstGeom prst="rect">
            <a:avLst/>
          </a:prstGeom>
          <a:noFill/>
          <a:ln/>
        </p:spPr>
        <p:txBody>
          <a:bodyPr wrap="square" rtlCol="0" anchor="ctr"/>
          <a:lstStyle/>
          <a:p>
            <a:pPr marL="0" indent="0">
              <a:buNone/>
            </a:pPr>
            <a:r>
              <a:rPr lang="en-US" sz="1400" b="1" dirty="0">
                <a:solidFill>
                  <a:srgbClr val="E18719"/>
                </a:solidFill>
                <a:latin typeface="Arial" pitchFamily="34" charset="0"/>
                <a:ea typeface="Arial" pitchFamily="34" charset="-122"/>
                <a:cs typeface="Arial" pitchFamily="34" charset="-120"/>
              </a:rPr>
              <a:t>④  Market-Level Objects Redesign</a:t>
            </a:r>
            <a:endParaRPr lang="en-US" sz="1400" dirty="0"/>
          </a:p>
        </p:txBody>
      </p:sp>
      <p:sp>
        <p:nvSpPr>
          <p:cNvPr id="10" name="Text 8"/>
          <p:cNvSpPr/>
          <p:nvPr/>
        </p:nvSpPr>
        <p:spPr>
          <a:xfrm>
            <a:off x="777240" y="1828800"/>
            <a:ext cx="4846320" cy="3200400"/>
          </a:xfrm>
          <a:prstGeom prst="rect">
            <a:avLst/>
          </a:prstGeom>
          <a:noFill/>
          <a:ln/>
        </p:spPr>
        <p:txBody>
          <a:bodyPr wrap="square" rtlCol="0" anchor="t"/>
          <a:lstStyle/>
          <a:p>
            <a:pPr marL="0" indent="0">
              <a:lnSpc>
                <a:spcPct val="125000"/>
              </a:lnSpc>
              <a:buNone/>
            </a:pPr>
            <a:r>
              <a:rPr lang="en-US" sz="1200" dirty="0">
                <a:solidFill>
                  <a:srgbClr val="3D3D3D"/>
                </a:solidFill>
                <a:latin typeface="Calibri" pitchFamily="34" charset="0"/>
                <a:ea typeface="Calibri" pitchFamily="34" charset="-122"/>
                <a:cs typeface="Calibri" pitchFamily="34" charset="-120"/>
              </a:rPr>
              <a:t>AI-assisted redesign of market-level objects for data preparation as configurable objects:
</a:t>
            </a:r>
            <a:r>
              <a:rPr lang="en-US" sz="1150" dirty="0">
                <a:solidFill>
                  <a:srgbClr val="3D3D3D"/>
                </a:solidFill>
                <a:latin typeface="Calibri" pitchFamily="34" charset="0"/>
                <a:ea typeface="Calibri" pitchFamily="34" charset="-122"/>
                <a:cs typeface="Calibri" pitchFamily="34" charset="-120"/>
              </a:rPr>
              <a:t>• AI reads existing GCP code and proposes configurable alternatives
• Provide optimization scenarios to avoid multiple steps and costs
• Market-specific transformations become configuration rows
• Every configuration object documented and version-controlled
</a:t>
            </a:r>
            <a:r>
              <a:rPr lang="en-US" sz="1150" i="1" dirty="0">
                <a:solidFill>
                  <a:srgbClr val="4F2170"/>
                </a:solidFill>
                <a:latin typeface="Calibri" pitchFamily="34" charset="0"/>
                <a:ea typeface="Calibri" pitchFamily="34" charset="-122"/>
                <a:cs typeface="Calibri" pitchFamily="34" charset="-120"/>
              </a:rPr>
              <a:t>Enables: Zero code forks — every market difference resolved through configuration rows.</a:t>
            </a:r>
            <a:endParaRPr lang="en-US" sz="1200" dirty="0"/>
          </a:p>
        </p:txBody>
      </p:sp>
      <p:sp>
        <p:nvSpPr>
          <p:cNvPr id="11" name="Shape 9"/>
          <p:cNvSpPr/>
          <p:nvPr/>
        </p:nvSpPr>
        <p:spPr>
          <a:xfrm>
            <a:off x="6309360" y="1325880"/>
            <a:ext cx="5303520" cy="3840480"/>
          </a:xfrm>
          <a:prstGeom prst="roundRect">
            <a:avLst>
              <a:gd name="adj" fmla="val 1905"/>
            </a:avLst>
          </a:prstGeom>
          <a:solidFill>
            <a:srgbClr val="E8DFF0"/>
          </a:solidFill>
          <a:ln w="19050">
            <a:solidFill>
              <a:srgbClr val="4F2170"/>
            </a:solidFill>
            <a:prstDash val="solid"/>
          </a:ln>
        </p:spPr>
        <p:txBody>
          <a:bodyPr/>
          <a:lstStyle/>
          <a:p>
            <a:endParaRPr lang="en-US"/>
          </a:p>
        </p:txBody>
      </p:sp>
      <p:sp>
        <p:nvSpPr>
          <p:cNvPr id="12" name="Text 10"/>
          <p:cNvSpPr/>
          <p:nvPr/>
        </p:nvSpPr>
        <p:spPr>
          <a:xfrm>
            <a:off x="6537960" y="1417320"/>
            <a:ext cx="4846320" cy="320040"/>
          </a:xfrm>
          <a:prstGeom prst="rect">
            <a:avLst/>
          </a:prstGeom>
          <a:noFill/>
          <a:ln/>
        </p:spPr>
        <p:txBody>
          <a:bodyPr wrap="square" rtlCol="0" anchor="ctr"/>
          <a:lstStyle/>
          <a:p>
            <a:pPr marL="0" indent="0">
              <a:buNone/>
            </a:pPr>
            <a:r>
              <a:rPr lang="en-US" sz="1400" b="1" dirty="0">
                <a:solidFill>
                  <a:srgbClr val="4F2170"/>
                </a:solidFill>
                <a:latin typeface="Arial" pitchFamily="34" charset="0"/>
                <a:ea typeface="Arial" pitchFamily="34" charset="-122"/>
                <a:cs typeface="Arial" pitchFamily="34" charset="-120"/>
              </a:rPr>
              <a:t>⑤  Pre-Calculated KPIs Redesign</a:t>
            </a:r>
            <a:endParaRPr lang="en-US" sz="1400" dirty="0"/>
          </a:p>
        </p:txBody>
      </p:sp>
      <p:sp>
        <p:nvSpPr>
          <p:cNvPr id="13" name="Text 11"/>
          <p:cNvSpPr/>
          <p:nvPr/>
        </p:nvSpPr>
        <p:spPr>
          <a:xfrm>
            <a:off x="6537960" y="1828800"/>
            <a:ext cx="4846320" cy="3200400"/>
          </a:xfrm>
          <a:prstGeom prst="rect">
            <a:avLst/>
          </a:prstGeom>
          <a:noFill/>
          <a:ln/>
        </p:spPr>
        <p:txBody>
          <a:bodyPr wrap="square" rtlCol="0" anchor="t"/>
          <a:lstStyle/>
          <a:p>
            <a:pPr marL="0" indent="0">
              <a:lnSpc>
                <a:spcPct val="125000"/>
              </a:lnSpc>
              <a:buNone/>
            </a:pPr>
            <a:r>
              <a:rPr lang="en-US" sz="1200" dirty="0">
                <a:solidFill>
                  <a:srgbClr val="3D3D3D"/>
                </a:solidFill>
                <a:latin typeface="Calibri" pitchFamily="34" charset="0"/>
                <a:ea typeface="Calibri" pitchFamily="34" charset="-122"/>
                <a:cs typeface="Calibri" pitchFamily="34" charset="-120"/>
              </a:rPr>
              <a:t>AI-assisted redesign leveraging pre-calculated KPIs and data preparation:
</a:t>
            </a:r>
            <a:r>
              <a:rPr lang="en-US" sz="1150" dirty="0">
                <a:solidFill>
                  <a:srgbClr val="3D3D3D"/>
                </a:solidFill>
                <a:latin typeface="Calibri" pitchFamily="34" charset="0"/>
                <a:ea typeface="Calibri" pitchFamily="34" charset="-122"/>
                <a:cs typeface="Calibri" pitchFamily="34" charset="-120"/>
              </a:rPr>
              <a:t>• Ensure configurable objects for each step
• Future markets rollout readiness
• Steps decomposed into testable, reusable units
• Configuration-driven pipeline per KPI domain
</a:t>
            </a:r>
            <a:r>
              <a:rPr lang="en-US" sz="1150" i="1" dirty="0">
                <a:solidFill>
                  <a:srgbClr val="4F2170"/>
                </a:solidFill>
                <a:latin typeface="Calibri" pitchFamily="34" charset="0"/>
                <a:ea typeface="Calibri" pitchFamily="34" charset="-122"/>
                <a:cs typeface="Calibri" pitchFamily="34" charset="-120"/>
              </a:rPr>
              <a:t>Enables: Adding a new market means adding configuration rows, not copying and rewriting the entire pipeline.</a:t>
            </a:r>
            <a:endParaRPr lang="en-US" sz="1200" dirty="0"/>
          </a:p>
        </p:txBody>
      </p:sp>
      <p:sp>
        <p:nvSpPr>
          <p:cNvPr id="14" name="Shape 12"/>
          <p:cNvSpPr/>
          <p:nvPr/>
        </p:nvSpPr>
        <p:spPr>
          <a:xfrm>
            <a:off x="548640" y="5394960"/>
            <a:ext cx="11064240" cy="640080"/>
          </a:xfrm>
          <a:prstGeom prst="roundRect">
            <a:avLst>
              <a:gd name="adj" fmla="val 8571"/>
            </a:avLst>
          </a:prstGeom>
          <a:solidFill>
            <a:srgbClr val="E8F5E4"/>
          </a:solidFill>
          <a:ln w="12700">
            <a:solidFill>
              <a:srgbClr val="287819"/>
            </a:solidFill>
            <a:prstDash val="solid"/>
          </a:ln>
        </p:spPr>
        <p:txBody>
          <a:bodyPr/>
          <a:lstStyle/>
          <a:p>
            <a:endParaRPr lang="en-US"/>
          </a:p>
        </p:txBody>
      </p:sp>
      <p:sp>
        <p:nvSpPr>
          <p:cNvPr id="15" name="Text 13"/>
          <p:cNvSpPr/>
          <p:nvPr/>
        </p:nvSpPr>
        <p:spPr>
          <a:xfrm>
            <a:off x="777240" y="5440680"/>
            <a:ext cx="10607040" cy="548640"/>
          </a:xfrm>
          <a:prstGeom prst="rect">
            <a:avLst/>
          </a:prstGeom>
          <a:noFill/>
          <a:ln/>
        </p:spPr>
        <p:txBody>
          <a:bodyPr wrap="square" rtlCol="0" anchor="ctr"/>
          <a:lstStyle/>
          <a:p>
            <a:pPr marL="0" indent="0">
              <a:lnSpc>
                <a:spcPct val="110000"/>
              </a:lnSpc>
              <a:buNone/>
            </a:pPr>
            <a:r>
              <a:rPr lang="en-US" sz="1150" b="1" dirty="0">
                <a:solidFill>
                  <a:srgbClr val="287819"/>
                </a:solidFill>
                <a:latin typeface="Arial" pitchFamily="34" charset="0"/>
                <a:ea typeface="Arial" pitchFamily="34" charset="-122"/>
                <a:cs typeface="Arial" pitchFamily="34" charset="-120"/>
              </a:rPr>
              <a:t>✔  Engineering Excellence:  </a:t>
            </a:r>
            <a:r>
              <a:rPr lang="en-US" sz="1100" dirty="0">
                <a:solidFill>
                  <a:srgbClr val="3D3D3D"/>
                </a:solidFill>
                <a:latin typeface="Calibri" pitchFamily="34" charset="0"/>
                <a:ea typeface="Calibri" pitchFamily="34" charset="-122"/>
                <a:cs typeface="Calibri" pitchFamily="34" charset="-120"/>
              </a:rPr>
              <a:t>Pattern-first build discipline — one reference pipeline, one reference domain, one reference KPI — peer-reviewed and published as the mandated template before any variation is built. Variation handled by configuration: zero code forks.</a:t>
            </a:r>
            <a:endParaRPr lang="en-US" sz="11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4F2170"/>
          </a:solidFill>
          <a:ln/>
        </p:spPr>
        <p:txBody>
          <a:bodyPr/>
          <a:lstStyle/>
          <a:p>
            <a:endParaRPr lang="en-US"/>
          </a:p>
        </p:txBody>
      </p:sp>
      <p:sp>
        <p:nvSpPr>
          <p:cNvPr id="3" name="Text 1"/>
          <p:cNvSpPr/>
          <p:nvPr/>
        </p:nvSpPr>
        <p:spPr>
          <a:xfrm>
            <a:off x="548640" y="137160"/>
            <a:ext cx="10515600" cy="502920"/>
          </a:xfrm>
          <a:prstGeom prst="rect">
            <a:avLst/>
          </a:prstGeom>
          <a:noFill/>
          <a:ln/>
        </p:spPr>
        <p:txBody>
          <a:bodyPr wrap="square" rtlCol="0" anchor="ctr"/>
          <a:lstStyle/>
          <a:p>
            <a:pPr marL="0" indent="0">
              <a:buNone/>
            </a:pPr>
            <a:r>
              <a:rPr lang="en-US" sz="2400" dirty="0">
                <a:solidFill>
                  <a:srgbClr val="FFFFFF"/>
                </a:solidFill>
                <a:latin typeface="Arial" pitchFamily="34" charset="0"/>
                <a:ea typeface="Arial" pitchFamily="34" charset="-122"/>
                <a:cs typeface="Arial" pitchFamily="34" charset="-120"/>
              </a:rPr>
              <a:t>Dec Deliverable 6: KPI Domain Build E2E</a:t>
            </a:r>
            <a:endParaRPr lang="en-US" sz="2400" dirty="0"/>
          </a:p>
        </p:txBody>
      </p:sp>
      <p:sp>
        <p:nvSpPr>
          <p:cNvPr id="4" name="Text 2"/>
          <p:cNvSpPr/>
          <p:nvPr/>
        </p:nvSpPr>
        <p:spPr>
          <a:xfrm>
            <a:off x="548640" y="594360"/>
            <a:ext cx="10515600" cy="320040"/>
          </a:xfrm>
          <a:prstGeom prst="rect">
            <a:avLst/>
          </a:prstGeom>
          <a:noFill/>
          <a:ln/>
        </p:spPr>
        <p:txBody>
          <a:bodyPr wrap="square" rtlCol="0" anchor="ctr"/>
          <a:lstStyle/>
          <a:p>
            <a:pPr marL="0" indent="0">
              <a:buNone/>
            </a:pPr>
            <a:r>
              <a:rPr lang="en-US" sz="1300" dirty="0">
                <a:solidFill>
                  <a:srgbClr val="E8DFF0"/>
                </a:solidFill>
                <a:latin typeface="Calibri" pitchFamily="34" charset="0"/>
                <a:ea typeface="Calibri" pitchFamily="34" charset="-122"/>
                <a:cs typeface="Calibri" pitchFamily="34" charset="-120"/>
              </a:rPr>
              <a:t>Wacam &amp; Mexico as a Common Design  |  CDRB Section F</a:t>
            </a:r>
            <a:endParaRPr lang="en-US" sz="1300" dirty="0"/>
          </a:p>
        </p:txBody>
      </p:sp>
      <p:sp>
        <p:nvSpPr>
          <p:cNvPr id="5" name="Shape 3"/>
          <p:cNvSpPr/>
          <p:nvPr/>
        </p:nvSpPr>
        <p:spPr>
          <a:xfrm>
            <a:off x="0" y="6492240"/>
            <a:ext cx="12188952" cy="365760"/>
          </a:xfrm>
          <a:prstGeom prst="rect">
            <a:avLst/>
          </a:prstGeom>
          <a:solidFill>
            <a:srgbClr val="3A1854"/>
          </a:solidFill>
          <a:ln/>
        </p:spPr>
        <p:txBody>
          <a:bodyPr/>
          <a:lstStyle/>
          <a:p>
            <a:endParaRPr lang="en-US"/>
          </a:p>
        </p:txBody>
      </p:sp>
      <p:sp>
        <p:nvSpPr>
          <p:cNvPr id="6" name="Text 4"/>
          <p:cNvSpPr/>
          <p:nvPr/>
        </p:nvSpPr>
        <p:spPr>
          <a:xfrm>
            <a:off x="548640" y="6510528"/>
            <a:ext cx="9144000" cy="320040"/>
          </a:xfrm>
          <a:prstGeom prst="rect">
            <a:avLst/>
          </a:prstGeom>
          <a:noFill/>
          <a:ln/>
        </p:spPr>
        <p:txBody>
          <a:bodyPr wrap="square" rtlCol="0" anchor="ctr"/>
          <a:lstStyle/>
          <a:p>
            <a:pPr marL="0" indent="0">
              <a:buNone/>
            </a:pPr>
            <a:r>
              <a:rPr lang="en-US" sz="900" dirty="0">
                <a:solidFill>
                  <a:srgbClr val="E8DFF0"/>
                </a:solidFill>
                <a:latin typeface="Calibri" pitchFamily="34" charset="0"/>
                <a:ea typeface="Calibri" pitchFamily="34" charset="-122"/>
                <a:cs typeface="Calibri" pitchFamily="34" charset="-120"/>
              </a:rPr>
              <a:t>LA OSA 2.0 Blueprint Workshop  |  Day 3 Morning  |  WS-1: Mexico &amp; Wacam</a:t>
            </a:r>
            <a:endParaRPr lang="en-US" sz="900" dirty="0"/>
          </a:p>
        </p:txBody>
      </p:sp>
      <p:sp>
        <p:nvSpPr>
          <p:cNvPr id="7" name="Text 5"/>
          <p:cNvSpPr/>
          <p:nvPr/>
        </p:nvSpPr>
        <p:spPr>
          <a:xfrm>
            <a:off x="10972800" y="6510528"/>
            <a:ext cx="914400" cy="320040"/>
          </a:xfrm>
          <a:prstGeom prst="rect">
            <a:avLst/>
          </a:prstGeom>
          <a:noFill/>
          <a:ln/>
        </p:spPr>
        <p:txBody>
          <a:bodyPr wrap="square" rtlCol="0" anchor="ctr"/>
          <a:lstStyle/>
          <a:p>
            <a:pPr marL="0" indent="0" algn="r">
              <a:buNone/>
            </a:pPr>
            <a:r>
              <a:rPr lang="en-US" sz="900" dirty="0">
                <a:solidFill>
                  <a:srgbClr val="E8DFF0"/>
                </a:solidFill>
                <a:latin typeface="Calibri" pitchFamily="34" charset="0"/>
                <a:ea typeface="Calibri" pitchFamily="34" charset="-122"/>
                <a:cs typeface="Calibri" pitchFamily="34" charset="-120"/>
              </a:rPr>
              <a:t>16 / 20</a:t>
            </a:r>
            <a:endParaRPr lang="en-US" sz="900" dirty="0"/>
          </a:p>
        </p:txBody>
      </p:sp>
      <p:sp>
        <p:nvSpPr>
          <p:cNvPr id="8" name="Text 6"/>
          <p:cNvSpPr/>
          <p:nvPr/>
        </p:nvSpPr>
        <p:spPr>
          <a:xfrm>
            <a:off x="548640" y="1280160"/>
            <a:ext cx="10972800" cy="320040"/>
          </a:xfrm>
          <a:prstGeom prst="rect">
            <a:avLst/>
          </a:prstGeom>
          <a:noFill/>
          <a:ln/>
        </p:spPr>
        <p:txBody>
          <a:bodyPr wrap="square" rtlCol="0" anchor="ctr"/>
          <a:lstStyle/>
          <a:p>
            <a:pPr marL="0" indent="0">
              <a:buNone/>
            </a:pPr>
            <a:r>
              <a:rPr lang="en-US" sz="1300" dirty="0">
                <a:solidFill>
                  <a:srgbClr val="3D3D3D"/>
                </a:solidFill>
                <a:latin typeface="Calibri" pitchFamily="34" charset="0"/>
                <a:ea typeface="Calibri" pitchFamily="34" charset="-122"/>
                <a:cs typeface="Calibri" pitchFamily="34" charset="-120"/>
              </a:rPr>
              <a:t>KPI domain design readiness and build end-to-end following the repeatable 8-step template:</a:t>
            </a:r>
            <a:endParaRPr lang="en-US" sz="1300" dirty="0"/>
          </a:p>
        </p:txBody>
      </p:sp>
      <p:sp>
        <p:nvSpPr>
          <p:cNvPr id="9" name="Shape 7"/>
          <p:cNvSpPr/>
          <p:nvPr/>
        </p:nvSpPr>
        <p:spPr>
          <a:xfrm>
            <a:off x="548640" y="1828800"/>
            <a:ext cx="1234440" cy="822960"/>
          </a:xfrm>
          <a:prstGeom prst="roundRect">
            <a:avLst>
              <a:gd name="adj" fmla="val 6667"/>
            </a:avLst>
          </a:prstGeom>
          <a:solidFill>
            <a:srgbClr val="4F2170"/>
          </a:solidFill>
          <a:ln/>
        </p:spPr>
        <p:txBody>
          <a:bodyPr/>
          <a:lstStyle/>
          <a:p>
            <a:endParaRPr lang="en-US"/>
          </a:p>
        </p:txBody>
      </p:sp>
      <p:sp>
        <p:nvSpPr>
          <p:cNvPr id="10" name="Text 8"/>
          <p:cNvSpPr/>
          <p:nvPr/>
        </p:nvSpPr>
        <p:spPr>
          <a:xfrm>
            <a:off x="548640" y="1828800"/>
            <a:ext cx="1234440" cy="822960"/>
          </a:xfrm>
          <a:prstGeom prst="rect">
            <a:avLst/>
          </a:prstGeom>
          <a:noFill/>
          <a:ln/>
        </p:spPr>
        <p:txBody>
          <a:bodyPr wrap="square"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Register</a:t>
            </a:r>
            <a:endParaRPr lang="en-US" sz="1100" dirty="0"/>
          </a:p>
        </p:txBody>
      </p:sp>
      <p:sp>
        <p:nvSpPr>
          <p:cNvPr id="11" name="Text 9"/>
          <p:cNvSpPr/>
          <p:nvPr/>
        </p:nvSpPr>
        <p:spPr>
          <a:xfrm>
            <a:off x="987552" y="2651760"/>
            <a:ext cx="365760" cy="274320"/>
          </a:xfrm>
          <a:prstGeom prst="rect">
            <a:avLst/>
          </a:prstGeom>
          <a:noFill/>
          <a:ln/>
        </p:spPr>
        <p:txBody>
          <a:bodyPr wrap="square" rtlCol="0" anchor="ctr"/>
          <a:lstStyle/>
          <a:p>
            <a:pPr marL="0" indent="0" algn="ctr">
              <a:buNone/>
            </a:pPr>
            <a:r>
              <a:rPr lang="en-US" sz="1000" dirty="0">
                <a:solidFill>
                  <a:srgbClr val="4F2170"/>
                </a:solidFill>
                <a:latin typeface="Arial" pitchFamily="34" charset="0"/>
                <a:ea typeface="Arial" pitchFamily="34" charset="-122"/>
                <a:cs typeface="Arial" pitchFamily="34" charset="-120"/>
              </a:rPr>
              <a:t>1</a:t>
            </a:r>
            <a:endParaRPr lang="en-US" sz="1000" dirty="0"/>
          </a:p>
        </p:txBody>
      </p:sp>
      <p:sp>
        <p:nvSpPr>
          <p:cNvPr id="12" name="Text 10"/>
          <p:cNvSpPr/>
          <p:nvPr/>
        </p:nvSpPr>
        <p:spPr>
          <a:xfrm>
            <a:off x="1737360" y="2057400"/>
            <a:ext cx="274320" cy="365760"/>
          </a:xfrm>
          <a:prstGeom prst="rect">
            <a:avLst/>
          </a:prstGeom>
          <a:noFill/>
          <a:ln/>
        </p:spPr>
        <p:txBody>
          <a:bodyPr wrap="square" rtlCol="0" anchor="ctr"/>
          <a:lstStyle/>
          <a:p>
            <a:pPr marL="0" indent="0" algn="ctr">
              <a:buNone/>
            </a:pPr>
            <a:r>
              <a:rPr lang="en-US" sz="1400" dirty="0">
                <a:solidFill>
                  <a:srgbClr val="CCCCCC"/>
                </a:solidFill>
              </a:rPr>
              <a:t>▶</a:t>
            </a:r>
            <a:endParaRPr lang="en-US" sz="1400" dirty="0"/>
          </a:p>
        </p:txBody>
      </p:sp>
      <p:sp>
        <p:nvSpPr>
          <p:cNvPr id="13" name="Shape 11"/>
          <p:cNvSpPr/>
          <p:nvPr/>
        </p:nvSpPr>
        <p:spPr>
          <a:xfrm>
            <a:off x="1965960" y="1828800"/>
            <a:ext cx="1234440" cy="822960"/>
          </a:xfrm>
          <a:prstGeom prst="roundRect">
            <a:avLst>
              <a:gd name="adj" fmla="val 6667"/>
            </a:avLst>
          </a:prstGeom>
          <a:solidFill>
            <a:srgbClr val="4F2170"/>
          </a:solidFill>
          <a:ln/>
        </p:spPr>
        <p:txBody>
          <a:bodyPr/>
          <a:lstStyle/>
          <a:p>
            <a:endParaRPr lang="en-US"/>
          </a:p>
        </p:txBody>
      </p:sp>
      <p:sp>
        <p:nvSpPr>
          <p:cNvPr id="14" name="Text 12"/>
          <p:cNvSpPr/>
          <p:nvPr/>
        </p:nvSpPr>
        <p:spPr>
          <a:xfrm>
            <a:off x="1965960" y="1828800"/>
            <a:ext cx="1234440" cy="822960"/>
          </a:xfrm>
          <a:prstGeom prst="rect">
            <a:avLst/>
          </a:prstGeom>
          <a:noFill/>
          <a:ln/>
        </p:spPr>
        <p:txBody>
          <a:bodyPr wrap="square"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Configure</a:t>
            </a:r>
            <a:endParaRPr lang="en-US" sz="1100" dirty="0"/>
          </a:p>
        </p:txBody>
      </p:sp>
      <p:sp>
        <p:nvSpPr>
          <p:cNvPr id="15" name="Text 13"/>
          <p:cNvSpPr/>
          <p:nvPr/>
        </p:nvSpPr>
        <p:spPr>
          <a:xfrm>
            <a:off x="2404872" y="2651760"/>
            <a:ext cx="365760" cy="274320"/>
          </a:xfrm>
          <a:prstGeom prst="rect">
            <a:avLst/>
          </a:prstGeom>
          <a:noFill/>
          <a:ln/>
        </p:spPr>
        <p:txBody>
          <a:bodyPr wrap="square" rtlCol="0" anchor="ctr"/>
          <a:lstStyle/>
          <a:p>
            <a:pPr marL="0" indent="0" algn="ctr">
              <a:buNone/>
            </a:pPr>
            <a:r>
              <a:rPr lang="en-US" sz="1000" dirty="0">
                <a:solidFill>
                  <a:srgbClr val="4F2170"/>
                </a:solidFill>
                <a:latin typeface="Arial" pitchFamily="34" charset="0"/>
                <a:ea typeface="Arial" pitchFamily="34" charset="-122"/>
                <a:cs typeface="Arial" pitchFamily="34" charset="-120"/>
              </a:rPr>
              <a:t>2</a:t>
            </a:r>
            <a:endParaRPr lang="en-US" sz="1000" dirty="0"/>
          </a:p>
        </p:txBody>
      </p:sp>
      <p:sp>
        <p:nvSpPr>
          <p:cNvPr id="16" name="Text 14"/>
          <p:cNvSpPr/>
          <p:nvPr/>
        </p:nvSpPr>
        <p:spPr>
          <a:xfrm>
            <a:off x="3154680" y="2057400"/>
            <a:ext cx="274320" cy="365760"/>
          </a:xfrm>
          <a:prstGeom prst="rect">
            <a:avLst/>
          </a:prstGeom>
          <a:noFill/>
          <a:ln/>
        </p:spPr>
        <p:txBody>
          <a:bodyPr wrap="square" rtlCol="0" anchor="ctr"/>
          <a:lstStyle/>
          <a:p>
            <a:pPr marL="0" indent="0" algn="ctr">
              <a:buNone/>
            </a:pPr>
            <a:r>
              <a:rPr lang="en-US" sz="1400" dirty="0">
                <a:solidFill>
                  <a:srgbClr val="CCCCCC"/>
                </a:solidFill>
              </a:rPr>
              <a:t>▶</a:t>
            </a:r>
            <a:endParaRPr lang="en-US" sz="1400" dirty="0"/>
          </a:p>
        </p:txBody>
      </p:sp>
      <p:sp>
        <p:nvSpPr>
          <p:cNvPr id="17" name="Shape 15"/>
          <p:cNvSpPr/>
          <p:nvPr/>
        </p:nvSpPr>
        <p:spPr>
          <a:xfrm>
            <a:off x="3383280" y="1828800"/>
            <a:ext cx="1234440" cy="822960"/>
          </a:xfrm>
          <a:prstGeom prst="roundRect">
            <a:avLst>
              <a:gd name="adj" fmla="val 6667"/>
            </a:avLst>
          </a:prstGeom>
          <a:solidFill>
            <a:srgbClr val="E18719"/>
          </a:solidFill>
          <a:ln/>
        </p:spPr>
        <p:txBody>
          <a:bodyPr/>
          <a:lstStyle/>
          <a:p>
            <a:endParaRPr lang="en-US"/>
          </a:p>
        </p:txBody>
      </p:sp>
      <p:sp>
        <p:nvSpPr>
          <p:cNvPr id="18" name="Text 16"/>
          <p:cNvSpPr/>
          <p:nvPr/>
        </p:nvSpPr>
        <p:spPr>
          <a:xfrm>
            <a:off x="3383280" y="1828800"/>
            <a:ext cx="1234440" cy="822960"/>
          </a:xfrm>
          <a:prstGeom prst="rect">
            <a:avLst/>
          </a:prstGeom>
          <a:noFill/>
          <a:ln/>
        </p:spPr>
        <p:txBody>
          <a:bodyPr wrap="square"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Build</a:t>
            </a:r>
            <a:endParaRPr lang="en-US" sz="1100" dirty="0"/>
          </a:p>
        </p:txBody>
      </p:sp>
      <p:sp>
        <p:nvSpPr>
          <p:cNvPr id="19" name="Text 17"/>
          <p:cNvSpPr/>
          <p:nvPr/>
        </p:nvSpPr>
        <p:spPr>
          <a:xfrm>
            <a:off x="3822192" y="2651760"/>
            <a:ext cx="365760" cy="274320"/>
          </a:xfrm>
          <a:prstGeom prst="rect">
            <a:avLst/>
          </a:prstGeom>
          <a:noFill/>
          <a:ln/>
        </p:spPr>
        <p:txBody>
          <a:bodyPr wrap="square" rtlCol="0" anchor="ctr"/>
          <a:lstStyle/>
          <a:p>
            <a:pPr marL="0" indent="0" algn="ctr">
              <a:buNone/>
            </a:pPr>
            <a:r>
              <a:rPr lang="en-US" sz="1000" dirty="0">
                <a:solidFill>
                  <a:srgbClr val="E18719"/>
                </a:solidFill>
                <a:latin typeface="Arial" pitchFamily="34" charset="0"/>
                <a:ea typeface="Arial" pitchFamily="34" charset="-122"/>
                <a:cs typeface="Arial" pitchFamily="34" charset="-120"/>
              </a:rPr>
              <a:t>3</a:t>
            </a:r>
            <a:endParaRPr lang="en-US" sz="1000" dirty="0"/>
          </a:p>
        </p:txBody>
      </p:sp>
      <p:sp>
        <p:nvSpPr>
          <p:cNvPr id="20" name="Text 18"/>
          <p:cNvSpPr/>
          <p:nvPr/>
        </p:nvSpPr>
        <p:spPr>
          <a:xfrm>
            <a:off x="4572000" y="2057400"/>
            <a:ext cx="274320" cy="365760"/>
          </a:xfrm>
          <a:prstGeom prst="rect">
            <a:avLst/>
          </a:prstGeom>
          <a:noFill/>
          <a:ln/>
        </p:spPr>
        <p:txBody>
          <a:bodyPr wrap="square" rtlCol="0" anchor="ctr"/>
          <a:lstStyle/>
          <a:p>
            <a:pPr marL="0" indent="0" algn="ctr">
              <a:buNone/>
            </a:pPr>
            <a:r>
              <a:rPr lang="en-US" sz="1400" dirty="0">
                <a:solidFill>
                  <a:srgbClr val="CCCCCC"/>
                </a:solidFill>
              </a:rPr>
              <a:t>▶</a:t>
            </a:r>
            <a:endParaRPr lang="en-US" sz="1400" dirty="0"/>
          </a:p>
        </p:txBody>
      </p:sp>
      <p:sp>
        <p:nvSpPr>
          <p:cNvPr id="21" name="Shape 19"/>
          <p:cNvSpPr/>
          <p:nvPr/>
        </p:nvSpPr>
        <p:spPr>
          <a:xfrm>
            <a:off x="4800600" y="1828800"/>
            <a:ext cx="1234440" cy="822960"/>
          </a:xfrm>
          <a:prstGeom prst="roundRect">
            <a:avLst>
              <a:gd name="adj" fmla="val 6667"/>
            </a:avLst>
          </a:prstGeom>
          <a:solidFill>
            <a:srgbClr val="E18719"/>
          </a:solidFill>
          <a:ln/>
        </p:spPr>
        <p:txBody>
          <a:bodyPr/>
          <a:lstStyle/>
          <a:p>
            <a:endParaRPr lang="en-US"/>
          </a:p>
        </p:txBody>
      </p:sp>
      <p:sp>
        <p:nvSpPr>
          <p:cNvPr id="22" name="Text 20"/>
          <p:cNvSpPr/>
          <p:nvPr/>
        </p:nvSpPr>
        <p:spPr>
          <a:xfrm>
            <a:off x="4800600" y="1828800"/>
            <a:ext cx="1234440" cy="822960"/>
          </a:xfrm>
          <a:prstGeom prst="rect">
            <a:avLst/>
          </a:prstGeom>
          <a:noFill/>
          <a:ln/>
        </p:spPr>
        <p:txBody>
          <a:bodyPr wrap="square"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Publish</a:t>
            </a:r>
            <a:endParaRPr lang="en-US" sz="1100" dirty="0"/>
          </a:p>
        </p:txBody>
      </p:sp>
      <p:sp>
        <p:nvSpPr>
          <p:cNvPr id="23" name="Text 21"/>
          <p:cNvSpPr/>
          <p:nvPr/>
        </p:nvSpPr>
        <p:spPr>
          <a:xfrm>
            <a:off x="5239512" y="2651760"/>
            <a:ext cx="365760" cy="274320"/>
          </a:xfrm>
          <a:prstGeom prst="rect">
            <a:avLst/>
          </a:prstGeom>
          <a:noFill/>
          <a:ln/>
        </p:spPr>
        <p:txBody>
          <a:bodyPr wrap="square" rtlCol="0" anchor="ctr"/>
          <a:lstStyle/>
          <a:p>
            <a:pPr marL="0" indent="0" algn="ctr">
              <a:buNone/>
            </a:pPr>
            <a:r>
              <a:rPr lang="en-US" sz="1000" dirty="0">
                <a:solidFill>
                  <a:srgbClr val="E18719"/>
                </a:solidFill>
                <a:latin typeface="Arial" pitchFamily="34" charset="0"/>
                <a:ea typeface="Arial" pitchFamily="34" charset="-122"/>
                <a:cs typeface="Arial" pitchFamily="34" charset="-120"/>
              </a:rPr>
              <a:t>4</a:t>
            </a:r>
            <a:endParaRPr lang="en-US" sz="1000" dirty="0"/>
          </a:p>
        </p:txBody>
      </p:sp>
      <p:sp>
        <p:nvSpPr>
          <p:cNvPr id="24" name="Text 22"/>
          <p:cNvSpPr/>
          <p:nvPr/>
        </p:nvSpPr>
        <p:spPr>
          <a:xfrm>
            <a:off x="5989320" y="2057400"/>
            <a:ext cx="274320" cy="365760"/>
          </a:xfrm>
          <a:prstGeom prst="rect">
            <a:avLst/>
          </a:prstGeom>
          <a:noFill/>
          <a:ln/>
        </p:spPr>
        <p:txBody>
          <a:bodyPr wrap="square" rtlCol="0" anchor="ctr"/>
          <a:lstStyle/>
          <a:p>
            <a:pPr marL="0" indent="0" algn="ctr">
              <a:buNone/>
            </a:pPr>
            <a:r>
              <a:rPr lang="en-US" sz="1400" dirty="0">
                <a:solidFill>
                  <a:srgbClr val="CCCCCC"/>
                </a:solidFill>
              </a:rPr>
              <a:t>▶</a:t>
            </a:r>
            <a:endParaRPr lang="en-US" sz="1400" dirty="0"/>
          </a:p>
        </p:txBody>
      </p:sp>
      <p:sp>
        <p:nvSpPr>
          <p:cNvPr id="25" name="Shape 23"/>
          <p:cNvSpPr/>
          <p:nvPr/>
        </p:nvSpPr>
        <p:spPr>
          <a:xfrm>
            <a:off x="6217920" y="1828800"/>
            <a:ext cx="1234440" cy="822960"/>
          </a:xfrm>
          <a:prstGeom prst="roundRect">
            <a:avLst>
              <a:gd name="adj" fmla="val 6667"/>
            </a:avLst>
          </a:prstGeom>
          <a:solidFill>
            <a:srgbClr val="E18719"/>
          </a:solidFill>
          <a:ln/>
        </p:spPr>
        <p:txBody>
          <a:bodyPr/>
          <a:lstStyle/>
          <a:p>
            <a:endParaRPr lang="en-US"/>
          </a:p>
        </p:txBody>
      </p:sp>
      <p:sp>
        <p:nvSpPr>
          <p:cNvPr id="26" name="Text 24"/>
          <p:cNvSpPr/>
          <p:nvPr/>
        </p:nvSpPr>
        <p:spPr>
          <a:xfrm>
            <a:off x="6217920" y="1828800"/>
            <a:ext cx="1234440" cy="822960"/>
          </a:xfrm>
          <a:prstGeom prst="rect">
            <a:avLst/>
          </a:prstGeom>
          <a:noFill/>
          <a:ln/>
        </p:spPr>
        <p:txBody>
          <a:bodyPr wrap="square"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Parallel</a:t>
            </a:r>
            <a:endParaRPr lang="en-US" sz="1100" dirty="0"/>
          </a:p>
          <a:p>
            <a:pPr marL="0" indent="0" algn="ctr">
              <a:buNone/>
            </a:pPr>
            <a:r>
              <a:rPr lang="en-US" sz="1100" b="1" dirty="0">
                <a:solidFill>
                  <a:srgbClr val="FFFFFF"/>
                </a:solidFill>
                <a:latin typeface="Arial" pitchFamily="34" charset="0"/>
                <a:ea typeface="Arial" pitchFamily="34" charset="-122"/>
                <a:cs typeface="Arial" pitchFamily="34" charset="-120"/>
              </a:rPr>
              <a:t>Run</a:t>
            </a:r>
            <a:endParaRPr lang="en-US" sz="1100" dirty="0"/>
          </a:p>
        </p:txBody>
      </p:sp>
      <p:sp>
        <p:nvSpPr>
          <p:cNvPr id="27" name="Text 25"/>
          <p:cNvSpPr/>
          <p:nvPr/>
        </p:nvSpPr>
        <p:spPr>
          <a:xfrm>
            <a:off x="6656832" y="2651760"/>
            <a:ext cx="365760" cy="274320"/>
          </a:xfrm>
          <a:prstGeom prst="rect">
            <a:avLst/>
          </a:prstGeom>
          <a:noFill/>
          <a:ln/>
        </p:spPr>
        <p:txBody>
          <a:bodyPr wrap="square" rtlCol="0" anchor="ctr"/>
          <a:lstStyle/>
          <a:p>
            <a:pPr marL="0" indent="0" algn="ctr">
              <a:buNone/>
            </a:pPr>
            <a:r>
              <a:rPr lang="en-US" sz="1000" dirty="0">
                <a:solidFill>
                  <a:srgbClr val="E18719"/>
                </a:solidFill>
                <a:latin typeface="Arial" pitchFamily="34" charset="0"/>
                <a:ea typeface="Arial" pitchFamily="34" charset="-122"/>
                <a:cs typeface="Arial" pitchFamily="34" charset="-120"/>
              </a:rPr>
              <a:t>5</a:t>
            </a:r>
            <a:endParaRPr lang="en-US" sz="1000" dirty="0"/>
          </a:p>
        </p:txBody>
      </p:sp>
      <p:sp>
        <p:nvSpPr>
          <p:cNvPr id="28" name="Text 26"/>
          <p:cNvSpPr/>
          <p:nvPr/>
        </p:nvSpPr>
        <p:spPr>
          <a:xfrm>
            <a:off x="7406640" y="2057400"/>
            <a:ext cx="274320" cy="365760"/>
          </a:xfrm>
          <a:prstGeom prst="rect">
            <a:avLst/>
          </a:prstGeom>
          <a:noFill/>
          <a:ln/>
        </p:spPr>
        <p:txBody>
          <a:bodyPr wrap="square" rtlCol="0" anchor="ctr"/>
          <a:lstStyle/>
          <a:p>
            <a:pPr marL="0" indent="0" algn="ctr">
              <a:buNone/>
            </a:pPr>
            <a:r>
              <a:rPr lang="en-US" sz="1400" dirty="0">
                <a:solidFill>
                  <a:srgbClr val="CCCCCC"/>
                </a:solidFill>
              </a:rPr>
              <a:t>▶</a:t>
            </a:r>
            <a:endParaRPr lang="en-US" sz="1400" dirty="0"/>
          </a:p>
        </p:txBody>
      </p:sp>
      <p:sp>
        <p:nvSpPr>
          <p:cNvPr id="29" name="Shape 27"/>
          <p:cNvSpPr/>
          <p:nvPr/>
        </p:nvSpPr>
        <p:spPr>
          <a:xfrm>
            <a:off x="7635240" y="1828800"/>
            <a:ext cx="1234440" cy="822960"/>
          </a:xfrm>
          <a:prstGeom prst="roundRect">
            <a:avLst>
              <a:gd name="adj" fmla="val 6667"/>
            </a:avLst>
          </a:prstGeom>
          <a:solidFill>
            <a:srgbClr val="287819"/>
          </a:solidFill>
          <a:ln/>
        </p:spPr>
        <p:txBody>
          <a:bodyPr/>
          <a:lstStyle/>
          <a:p>
            <a:endParaRPr lang="en-US"/>
          </a:p>
        </p:txBody>
      </p:sp>
      <p:sp>
        <p:nvSpPr>
          <p:cNvPr id="30" name="Text 28"/>
          <p:cNvSpPr/>
          <p:nvPr/>
        </p:nvSpPr>
        <p:spPr>
          <a:xfrm>
            <a:off x="7635240" y="1828800"/>
            <a:ext cx="1234440" cy="822960"/>
          </a:xfrm>
          <a:prstGeom prst="rect">
            <a:avLst/>
          </a:prstGeom>
          <a:noFill/>
          <a:ln/>
        </p:spPr>
        <p:txBody>
          <a:bodyPr wrap="square"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Reconcile</a:t>
            </a:r>
            <a:endParaRPr lang="en-US" sz="1100" dirty="0"/>
          </a:p>
        </p:txBody>
      </p:sp>
      <p:sp>
        <p:nvSpPr>
          <p:cNvPr id="31" name="Text 29"/>
          <p:cNvSpPr/>
          <p:nvPr/>
        </p:nvSpPr>
        <p:spPr>
          <a:xfrm>
            <a:off x="8074152" y="2651760"/>
            <a:ext cx="365760" cy="274320"/>
          </a:xfrm>
          <a:prstGeom prst="rect">
            <a:avLst/>
          </a:prstGeom>
          <a:noFill/>
          <a:ln/>
        </p:spPr>
        <p:txBody>
          <a:bodyPr wrap="square" rtlCol="0" anchor="ctr"/>
          <a:lstStyle/>
          <a:p>
            <a:pPr marL="0" indent="0" algn="ctr">
              <a:buNone/>
            </a:pPr>
            <a:r>
              <a:rPr lang="en-US" sz="1000" dirty="0">
                <a:solidFill>
                  <a:srgbClr val="287819"/>
                </a:solidFill>
                <a:latin typeface="Arial" pitchFamily="34" charset="0"/>
                <a:ea typeface="Arial" pitchFamily="34" charset="-122"/>
                <a:cs typeface="Arial" pitchFamily="34" charset="-120"/>
              </a:rPr>
              <a:t>6</a:t>
            </a:r>
            <a:endParaRPr lang="en-US" sz="1000" dirty="0"/>
          </a:p>
        </p:txBody>
      </p:sp>
      <p:sp>
        <p:nvSpPr>
          <p:cNvPr id="32" name="Text 30"/>
          <p:cNvSpPr/>
          <p:nvPr/>
        </p:nvSpPr>
        <p:spPr>
          <a:xfrm>
            <a:off x="8823960" y="2057400"/>
            <a:ext cx="274320" cy="365760"/>
          </a:xfrm>
          <a:prstGeom prst="rect">
            <a:avLst/>
          </a:prstGeom>
          <a:noFill/>
          <a:ln/>
        </p:spPr>
        <p:txBody>
          <a:bodyPr wrap="square" rtlCol="0" anchor="ctr"/>
          <a:lstStyle/>
          <a:p>
            <a:pPr marL="0" indent="0" algn="ctr">
              <a:buNone/>
            </a:pPr>
            <a:r>
              <a:rPr lang="en-US" sz="1400" dirty="0">
                <a:solidFill>
                  <a:srgbClr val="CCCCCC"/>
                </a:solidFill>
              </a:rPr>
              <a:t>▶</a:t>
            </a:r>
            <a:endParaRPr lang="en-US" sz="1400" dirty="0"/>
          </a:p>
        </p:txBody>
      </p:sp>
      <p:sp>
        <p:nvSpPr>
          <p:cNvPr id="33" name="Shape 31"/>
          <p:cNvSpPr/>
          <p:nvPr/>
        </p:nvSpPr>
        <p:spPr>
          <a:xfrm>
            <a:off x="9052560" y="1828800"/>
            <a:ext cx="1234440" cy="822960"/>
          </a:xfrm>
          <a:prstGeom prst="roundRect">
            <a:avLst>
              <a:gd name="adj" fmla="val 6667"/>
            </a:avLst>
          </a:prstGeom>
          <a:solidFill>
            <a:srgbClr val="287819"/>
          </a:solidFill>
          <a:ln/>
        </p:spPr>
        <p:txBody>
          <a:bodyPr/>
          <a:lstStyle/>
          <a:p>
            <a:endParaRPr lang="en-US"/>
          </a:p>
        </p:txBody>
      </p:sp>
      <p:sp>
        <p:nvSpPr>
          <p:cNvPr id="34" name="Text 32"/>
          <p:cNvSpPr/>
          <p:nvPr/>
        </p:nvSpPr>
        <p:spPr>
          <a:xfrm>
            <a:off x="9052560" y="1828800"/>
            <a:ext cx="1234440" cy="822960"/>
          </a:xfrm>
          <a:prstGeom prst="rect">
            <a:avLst/>
          </a:prstGeom>
          <a:noFill/>
          <a:ln/>
        </p:spPr>
        <p:txBody>
          <a:bodyPr wrap="square"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Quality</a:t>
            </a:r>
            <a:endParaRPr lang="en-US" sz="1100" dirty="0"/>
          </a:p>
          <a:p>
            <a:pPr marL="0" indent="0" algn="ctr">
              <a:buNone/>
            </a:pPr>
            <a:r>
              <a:rPr lang="en-US" sz="1100" b="1" dirty="0">
                <a:solidFill>
                  <a:srgbClr val="FFFFFF"/>
                </a:solidFill>
                <a:latin typeface="Arial" pitchFamily="34" charset="0"/>
                <a:ea typeface="Arial" pitchFamily="34" charset="-122"/>
                <a:cs typeface="Arial" pitchFamily="34" charset="-120"/>
              </a:rPr>
              <a:t>Gate</a:t>
            </a:r>
            <a:endParaRPr lang="en-US" sz="1100" dirty="0"/>
          </a:p>
        </p:txBody>
      </p:sp>
      <p:sp>
        <p:nvSpPr>
          <p:cNvPr id="35" name="Text 33"/>
          <p:cNvSpPr/>
          <p:nvPr/>
        </p:nvSpPr>
        <p:spPr>
          <a:xfrm>
            <a:off x="9491472" y="2651760"/>
            <a:ext cx="365760" cy="274320"/>
          </a:xfrm>
          <a:prstGeom prst="rect">
            <a:avLst/>
          </a:prstGeom>
          <a:noFill/>
          <a:ln/>
        </p:spPr>
        <p:txBody>
          <a:bodyPr wrap="square" rtlCol="0" anchor="ctr"/>
          <a:lstStyle/>
          <a:p>
            <a:pPr marL="0" indent="0" algn="ctr">
              <a:buNone/>
            </a:pPr>
            <a:r>
              <a:rPr lang="en-US" sz="1000" dirty="0">
                <a:solidFill>
                  <a:srgbClr val="287819"/>
                </a:solidFill>
                <a:latin typeface="Arial" pitchFamily="34" charset="0"/>
                <a:ea typeface="Arial" pitchFamily="34" charset="-122"/>
                <a:cs typeface="Arial" pitchFamily="34" charset="-120"/>
              </a:rPr>
              <a:t>7</a:t>
            </a:r>
            <a:endParaRPr lang="en-US" sz="1000" dirty="0"/>
          </a:p>
        </p:txBody>
      </p:sp>
      <p:sp>
        <p:nvSpPr>
          <p:cNvPr id="36" name="Text 34"/>
          <p:cNvSpPr/>
          <p:nvPr/>
        </p:nvSpPr>
        <p:spPr>
          <a:xfrm>
            <a:off x="10241280" y="2057400"/>
            <a:ext cx="274320" cy="365760"/>
          </a:xfrm>
          <a:prstGeom prst="rect">
            <a:avLst/>
          </a:prstGeom>
          <a:noFill/>
          <a:ln/>
        </p:spPr>
        <p:txBody>
          <a:bodyPr wrap="square" rtlCol="0" anchor="ctr"/>
          <a:lstStyle/>
          <a:p>
            <a:pPr marL="0" indent="0" algn="ctr">
              <a:buNone/>
            </a:pPr>
            <a:r>
              <a:rPr lang="en-US" sz="1400" dirty="0">
                <a:solidFill>
                  <a:srgbClr val="CCCCCC"/>
                </a:solidFill>
              </a:rPr>
              <a:t>▶</a:t>
            </a:r>
            <a:endParaRPr lang="en-US" sz="1400" dirty="0"/>
          </a:p>
        </p:txBody>
      </p:sp>
      <p:sp>
        <p:nvSpPr>
          <p:cNvPr id="37" name="Shape 35"/>
          <p:cNvSpPr/>
          <p:nvPr/>
        </p:nvSpPr>
        <p:spPr>
          <a:xfrm>
            <a:off x="10469880" y="1828800"/>
            <a:ext cx="1234440" cy="822960"/>
          </a:xfrm>
          <a:prstGeom prst="roundRect">
            <a:avLst>
              <a:gd name="adj" fmla="val 6667"/>
            </a:avLst>
          </a:prstGeom>
          <a:solidFill>
            <a:srgbClr val="287819"/>
          </a:solidFill>
          <a:ln/>
        </p:spPr>
        <p:txBody>
          <a:bodyPr/>
          <a:lstStyle/>
          <a:p>
            <a:endParaRPr lang="en-US"/>
          </a:p>
        </p:txBody>
      </p:sp>
      <p:sp>
        <p:nvSpPr>
          <p:cNvPr id="38" name="Text 36"/>
          <p:cNvSpPr/>
          <p:nvPr/>
        </p:nvSpPr>
        <p:spPr>
          <a:xfrm>
            <a:off x="10469880" y="1828800"/>
            <a:ext cx="1234440" cy="822960"/>
          </a:xfrm>
          <a:prstGeom prst="rect">
            <a:avLst/>
          </a:prstGeom>
          <a:noFill/>
          <a:ln/>
        </p:spPr>
        <p:txBody>
          <a:bodyPr wrap="square"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Sign-off</a:t>
            </a:r>
            <a:endParaRPr lang="en-US" sz="1100" dirty="0"/>
          </a:p>
        </p:txBody>
      </p:sp>
      <p:sp>
        <p:nvSpPr>
          <p:cNvPr id="39" name="Text 37"/>
          <p:cNvSpPr/>
          <p:nvPr/>
        </p:nvSpPr>
        <p:spPr>
          <a:xfrm>
            <a:off x="10908792" y="2651760"/>
            <a:ext cx="365760" cy="274320"/>
          </a:xfrm>
          <a:prstGeom prst="rect">
            <a:avLst/>
          </a:prstGeom>
          <a:noFill/>
          <a:ln/>
        </p:spPr>
        <p:txBody>
          <a:bodyPr wrap="square" rtlCol="0" anchor="ctr"/>
          <a:lstStyle/>
          <a:p>
            <a:pPr marL="0" indent="0" algn="ctr">
              <a:buNone/>
            </a:pPr>
            <a:r>
              <a:rPr lang="en-US" sz="1000" dirty="0">
                <a:solidFill>
                  <a:srgbClr val="287819"/>
                </a:solidFill>
                <a:latin typeface="Arial" pitchFamily="34" charset="0"/>
                <a:ea typeface="Arial" pitchFamily="34" charset="-122"/>
                <a:cs typeface="Arial" pitchFamily="34" charset="-120"/>
              </a:rPr>
              <a:t>8</a:t>
            </a:r>
            <a:endParaRPr lang="en-US" sz="1000" dirty="0"/>
          </a:p>
        </p:txBody>
      </p:sp>
      <p:sp>
        <p:nvSpPr>
          <p:cNvPr id="40" name="Text 38"/>
          <p:cNvSpPr/>
          <p:nvPr/>
        </p:nvSpPr>
        <p:spPr>
          <a:xfrm>
            <a:off x="548640" y="3154680"/>
            <a:ext cx="10972800" cy="274320"/>
          </a:xfrm>
          <a:prstGeom prst="rect">
            <a:avLst/>
          </a:prstGeom>
          <a:noFill/>
          <a:ln/>
        </p:spPr>
        <p:txBody>
          <a:bodyPr wrap="square" rtlCol="0" anchor="ctr"/>
          <a:lstStyle/>
          <a:p>
            <a:pPr marL="0" indent="0">
              <a:buNone/>
            </a:pPr>
            <a:r>
              <a:rPr lang="en-US" sz="1400" b="1" dirty="0">
                <a:solidFill>
                  <a:srgbClr val="4F2170"/>
                </a:solidFill>
                <a:latin typeface="Arial" pitchFamily="34" charset="0"/>
                <a:ea typeface="Arial" pitchFamily="34" charset="-122"/>
                <a:cs typeface="Arial" pitchFamily="34" charset="-120"/>
              </a:rPr>
              <a:t>KPI Domains Covered:</a:t>
            </a:r>
            <a:endParaRPr lang="en-US" sz="1400" dirty="0"/>
          </a:p>
        </p:txBody>
      </p:sp>
      <p:sp>
        <p:nvSpPr>
          <p:cNvPr id="41" name="Shape 39"/>
          <p:cNvSpPr/>
          <p:nvPr/>
        </p:nvSpPr>
        <p:spPr>
          <a:xfrm>
            <a:off x="548640" y="3566160"/>
            <a:ext cx="5394960" cy="457200"/>
          </a:xfrm>
          <a:prstGeom prst="roundRect">
            <a:avLst>
              <a:gd name="adj" fmla="val 8000"/>
            </a:avLst>
          </a:prstGeom>
          <a:solidFill>
            <a:srgbClr val="E8DFF0"/>
          </a:solidFill>
          <a:ln/>
        </p:spPr>
        <p:txBody>
          <a:bodyPr/>
          <a:lstStyle/>
          <a:p>
            <a:endParaRPr lang="en-US"/>
          </a:p>
        </p:txBody>
      </p:sp>
      <p:sp>
        <p:nvSpPr>
          <p:cNvPr id="42" name="Text 40"/>
          <p:cNvSpPr/>
          <p:nvPr/>
        </p:nvSpPr>
        <p:spPr>
          <a:xfrm>
            <a:off x="685800" y="3584448"/>
            <a:ext cx="5120640" cy="411480"/>
          </a:xfrm>
          <a:prstGeom prst="rect">
            <a:avLst/>
          </a:prstGeom>
          <a:noFill/>
          <a:ln/>
        </p:spPr>
        <p:txBody>
          <a:bodyPr wrap="square" rtlCol="0" anchor="ctr"/>
          <a:lstStyle/>
          <a:p>
            <a:pPr marL="0" indent="0">
              <a:buNone/>
            </a:pPr>
            <a:r>
              <a:rPr lang="en-US" sz="1100" b="1" dirty="0">
                <a:solidFill>
                  <a:srgbClr val="4F2170"/>
                </a:solidFill>
                <a:latin typeface="Arial" pitchFamily="34" charset="0"/>
                <a:ea typeface="Arial" pitchFamily="34" charset="-122"/>
                <a:cs typeface="Arial" pitchFamily="34" charset="-120"/>
              </a:rPr>
              <a:t>Sell-in Order/Invoice  </a:t>
            </a:r>
            <a:r>
              <a:rPr lang="en-US" sz="1000" dirty="0">
                <a:solidFill>
                  <a:srgbClr val="3D3D3D"/>
                </a:solidFill>
                <a:latin typeface="Calibri" pitchFamily="34" charset="0"/>
                <a:ea typeface="Calibri" pitchFamily="34" charset="-122"/>
                <a:cs typeface="Calibri" pitchFamily="34" charset="-120"/>
              </a:rPr>
              <a:t>Roles &amp; signs from config, open-order buckets, net-revenue ratio</a:t>
            </a:r>
            <a:endParaRPr lang="en-US" sz="1100" dirty="0"/>
          </a:p>
        </p:txBody>
      </p:sp>
      <p:sp>
        <p:nvSpPr>
          <p:cNvPr id="43" name="Shape 41"/>
          <p:cNvSpPr/>
          <p:nvPr/>
        </p:nvSpPr>
        <p:spPr>
          <a:xfrm>
            <a:off x="6217920" y="3566160"/>
            <a:ext cx="5394960" cy="457200"/>
          </a:xfrm>
          <a:prstGeom prst="roundRect">
            <a:avLst>
              <a:gd name="adj" fmla="val 8000"/>
            </a:avLst>
          </a:prstGeom>
          <a:solidFill>
            <a:srgbClr val="F9F5FC"/>
          </a:solidFill>
          <a:ln/>
        </p:spPr>
        <p:txBody>
          <a:bodyPr/>
          <a:lstStyle/>
          <a:p>
            <a:endParaRPr lang="en-US"/>
          </a:p>
        </p:txBody>
      </p:sp>
      <p:sp>
        <p:nvSpPr>
          <p:cNvPr id="44" name="Text 42"/>
          <p:cNvSpPr/>
          <p:nvPr/>
        </p:nvSpPr>
        <p:spPr>
          <a:xfrm>
            <a:off x="6355080" y="3584448"/>
            <a:ext cx="5120640" cy="411480"/>
          </a:xfrm>
          <a:prstGeom prst="rect">
            <a:avLst/>
          </a:prstGeom>
          <a:noFill/>
          <a:ln/>
        </p:spPr>
        <p:txBody>
          <a:bodyPr wrap="square" rtlCol="0" anchor="ctr"/>
          <a:lstStyle/>
          <a:p>
            <a:pPr marL="0" indent="0">
              <a:buNone/>
            </a:pPr>
            <a:r>
              <a:rPr lang="en-US" sz="1100" b="1" dirty="0">
                <a:solidFill>
                  <a:srgbClr val="4F2170"/>
                </a:solidFill>
                <a:latin typeface="Arial" pitchFamily="34" charset="0"/>
                <a:ea typeface="Arial" pitchFamily="34" charset="-122"/>
                <a:cs typeface="Arial" pitchFamily="34" charset="-120"/>
              </a:rPr>
              <a:t>Sell-in Delivery  </a:t>
            </a:r>
            <a:r>
              <a:rPr lang="en-US" sz="1000" dirty="0">
                <a:solidFill>
                  <a:srgbClr val="3D3D3D"/>
                </a:solidFill>
                <a:latin typeface="Calibri" pitchFamily="34" charset="0"/>
                <a:ea typeface="Calibri" pitchFamily="34" charset="-122"/>
                <a:cs typeface="Calibri" pitchFamily="34" charset="-120"/>
              </a:rPr>
              <a:t>Delivered, on-time, not-invoiced, completed-standard measures</a:t>
            </a:r>
            <a:endParaRPr lang="en-US" sz="1100" dirty="0"/>
          </a:p>
        </p:txBody>
      </p:sp>
      <p:sp>
        <p:nvSpPr>
          <p:cNvPr id="45" name="Shape 43"/>
          <p:cNvSpPr/>
          <p:nvPr/>
        </p:nvSpPr>
        <p:spPr>
          <a:xfrm>
            <a:off x="548640" y="4133088"/>
            <a:ext cx="5394960" cy="457200"/>
          </a:xfrm>
          <a:prstGeom prst="roundRect">
            <a:avLst>
              <a:gd name="adj" fmla="val 8000"/>
            </a:avLst>
          </a:prstGeom>
          <a:solidFill>
            <a:srgbClr val="E8DFF0"/>
          </a:solidFill>
          <a:ln/>
        </p:spPr>
        <p:txBody>
          <a:bodyPr/>
          <a:lstStyle/>
          <a:p>
            <a:endParaRPr lang="en-US"/>
          </a:p>
        </p:txBody>
      </p:sp>
      <p:sp>
        <p:nvSpPr>
          <p:cNvPr id="46" name="Text 44"/>
          <p:cNvSpPr/>
          <p:nvPr/>
        </p:nvSpPr>
        <p:spPr>
          <a:xfrm>
            <a:off x="685800" y="4151376"/>
            <a:ext cx="5120640" cy="411480"/>
          </a:xfrm>
          <a:prstGeom prst="rect">
            <a:avLst/>
          </a:prstGeom>
          <a:noFill/>
          <a:ln/>
        </p:spPr>
        <p:txBody>
          <a:bodyPr wrap="square" rtlCol="0" anchor="ctr"/>
          <a:lstStyle/>
          <a:p>
            <a:pPr marL="0" indent="0">
              <a:buNone/>
            </a:pPr>
            <a:r>
              <a:rPr lang="en-US" sz="1100" b="1" dirty="0">
                <a:solidFill>
                  <a:srgbClr val="4F2170"/>
                </a:solidFill>
                <a:latin typeface="Arial" pitchFamily="34" charset="0"/>
                <a:ea typeface="Arial" pitchFamily="34" charset="-122"/>
                <a:cs typeface="Arial" pitchFamily="34" charset="-120"/>
              </a:rPr>
              <a:t>Sell-in Targets  </a:t>
            </a:r>
            <a:r>
              <a:rPr lang="en-US" sz="1000" dirty="0">
                <a:solidFill>
                  <a:srgbClr val="3D3D3D"/>
                </a:solidFill>
                <a:latin typeface="Calibri" pitchFamily="34" charset="0"/>
                <a:ea typeface="Calibri" pitchFamily="34" charset="-122"/>
                <a:cs typeface="Calibri" pitchFamily="34" charset="-120"/>
              </a:rPr>
              <a:t>Quotas with configurable version rule</a:t>
            </a:r>
            <a:endParaRPr lang="en-US" sz="1100" dirty="0"/>
          </a:p>
        </p:txBody>
      </p:sp>
      <p:sp>
        <p:nvSpPr>
          <p:cNvPr id="47" name="Shape 45"/>
          <p:cNvSpPr/>
          <p:nvPr/>
        </p:nvSpPr>
        <p:spPr>
          <a:xfrm>
            <a:off x="6217920" y="4133088"/>
            <a:ext cx="5394960" cy="457200"/>
          </a:xfrm>
          <a:prstGeom prst="roundRect">
            <a:avLst>
              <a:gd name="adj" fmla="val 8000"/>
            </a:avLst>
          </a:prstGeom>
          <a:solidFill>
            <a:srgbClr val="F9F5FC"/>
          </a:solidFill>
          <a:ln/>
        </p:spPr>
        <p:txBody>
          <a:bodyPr/>
          <a:lstStyle/>
          <a:p>
            <a:endParaRPr lang="en-US"/>
          </a:p>
        </p:txBody>
      </p:sp>
      <p:sp>
        <p:nvSpPr>
          <p:cNvPr id="48" name="Text 46"/>
          <p:cNvSpPr/>
          <p:nvPr/>
        </p:nvSpPr>
        <p:spPr>
          <a:xfrm>
            <a:off x="6355080" y="4151376"/>
            <a:ext cx="5120640" cy="411480"/>
          </a:xfrm>
          <a:prstGeom prst="rect">
            <a:avLst/>
          </a:prstGeom>
          <a:noFill/>
          <a:ln/>
        </p:spPr>
        <p:txBody>
          <a:bodyPr wrap="square" rtlCol="0" anchor="ctr"/>
          <a:lstStyle/>
          <a:p>
            <a:pPr marL="0" indent="0">
              <a:buNone/>
            </a:pPr>
            <a:r>
              <a:rPr lang="en-US" sz="1100" b="1" dirty="0">
                <a:solidFill>
                  <a:srgbClr val="4F2170"/>
                </a:solidFill>
                <a:latin typeface="Arial" pitchFamily="34" charset="0"/>
                <a:ea typeface="Arial" pitchFamily="34" charset="-122"/>
                <a:cs typeface="Arial" pitchFamily="34" charset="-120"/>
              </a:rPr>
              <a:t>SISO Daily Base  </a:t>
            </a:r>
            <a:r>
              <a:rPr lang="en-US" sz="1000" dirty="0">
                <a:solidFill>
                  <a:srgbClr val="3D3D3D"/>
                </a:solidFill>
                <a:latin typeface="Calibri" pitchFamily="34" charset="0"/>
                <a:ea typeface="Calibri" pitchFamily="34" charset="-122"/>
                <a:cs typeface="Calibri" pitchFamily="34" charset="-120"/>
              </a:rPr>
              <a:t>One daily grain; weekly/monthly by calendar service</a:t>
            </a:r>
            <a:endParaRPr lang="en-US" sz="1100" dirty="0"/>
          </a:p>
        </p:txBody>
      </p:sp>
      <p:sp>
        <p:nvSpPr>
          <p:cNvPr id="49" name="Shape 47"/>
          <p:cNvSpPr/>
          <p:nvPr/>
        </p:nvSpPr>
        <p:spPr>
          <a:xfrm>
            <a:off x="548640" y="4700016"/>
            <a:ext cx="5394960" cy="457200"/>
          </a:xfrm>
          <a:prstGeom prst="roundRect">
            <a:avLst>
              <a:gd name="adj" fmla="val 8000"/>
            </a:avLst>
          </a:prstGeom>
          <a:solidFill>
            <a:srgbClr val="E8DFF0"/>
          </a:solidFill>
          <a:ln/>
        </p:spPr>
        <p:txBody>
          <a:bodyPr/>
          <a:lstStyle/>
          <a:p>
            <a:endParaRPr lang="en-US"/>
          </a:p>
        </p:txBody>
      </p:sp>
      <p:sp>
        <p:nvSpPr>
          <p:cNvPr id="50" name="Text 48"/>
          <p:cNvSpPr/>
          <p:nvPr/>
        </p:nvSpPr>
        <p:spPr>
          <a:xfrm>
            <a:off x="685800" y="4718304"/>
            <a:ext cx="5120640" cy="411480"/>
          </a:xfrm>
          <a:prstGeom prst="rect">
            <a:avLst/>
          </a:prstGeom>
          <a:noFill/>
          <a:ln/>
        </p:spPr>
        <p:txBody>
          <a:bodyPr wrap="square" rtlCol="0" anchor="ctr"/>
          <a:lstStyle/>
          <a:p>
            <a:pPr marL="0" indent="0">
              <a:buNone/>
            </a:pPr>
            <a:r>
              <a:rPr lang="en-US" sz="1100" b="1" dirty="0">
                <a:solidFill>
                  <a:srgbClr val="4F2170"/>
                </a:solidFill>
                <a:latin typeface="Arial" pitchFamily="34" charset="0"/>
                <a:ea typeface="Arial" pitchFamily="34" charset="-122"/>
                <a:cs typeface="Arial" pitchFamily="34" charset="-120"/>
              </a:rPr>
              <a:t>SISO Rules Engine  </a:t>
            </a:r>
            <a:r>
              <a:rPr lang="en-US" sz="1000" dirty="0">
                <a:solidFill>
                  <a:srgbClr val="3D3D3D"/>
                </a:solidFill>
                <a:latin typeface="Calibri" pitchFamily="34" charset="0"/>
                <a:ea typeface="Calibri" pitchFamily="34" charset="-122"/>
                <a:cs typeface="Calibri" pitchFamily="34" charset="-120"/>
              </a:rPr>
              <a:t>Priority-based matching, finite formula vocabulary</a:t>
            </a:r>
            <a:endParaRPr lang="en-US" sz="1100" dirty="0"/>
          </a:p>
        </p:txBody>
      </p:sp>
      <p:sp>
        <p:nvSpPr>
          <p:cNvPr id="51" name="Shape 49"/>
          <p:cNvSpPr/>
          <p:nvPr/>
        </p:nvSpPr>
        <p:spPr>
          <a:xfrm>
            <a:off x="6217920" y="4700016"/>
            <a:ext cx="5394960" cy="457200"/>
          </a:xfrm>
          <a:prstGeom prst="roundRect">
            <a:avLst>
              <a:gd name="adj" fmla="val 8000"/>
            </a:avLst>
          </a:prstGeom>
          <a:solidFill>
            <a:srgbClr val="F9F5FC"/>
          </a:solidFill>
          <a:ln/>
        </p:spPr>
        <p:txBody>
          <a:bodyPr/>
          <a:lstStyle/>
          <a:p>
            <a:endParaRPr lang="en-US"/>
          </a:p>
        </p:txBody>
      </p:sp>
      <p:sp>
        <p:nvSpPr>
          <p:cNvPr id="52" name="Text 50"/>
          <p:cNvSpPr/>
          <p:nvPr/>
        </p:nvSpPr>
        <p:spPr>
          <a:xfrm>
            <a:off x="6355080" y="4718304"/>
            <a:ext cx="5120640" cy="411480"/>
          </a:xfrm>
          <a:prstGeom prst="rect">
            <a:avLst/>
          </a:prstGeom>
          <a:noFill/>
          <a:ln/>
        </p:spPr>
        <p:txBody>
          <a:bodyPr wrap="square" rtlCol="0" anchor="ctr"/>
          <a:lstStyle/>
          <a:p>
            <a:pPr marL="0" indent="0">
              <a:buNone/>
            </a:pPr>
            <a:r>
              <a:rPr lang="en-US" sz="1100" b="1" dirty="0">
                <a:solidFill>
                  <a:srgbClr val="4F2170"/>
                </a:solidFill>
                <a:latin typeface="Arial" pitchFamily="34" charset="0"/>
                <a:ea typeface="Arial" pitchFamily="34" charset="-122"/>
                <a:cs typeface="Arial" pitchFamily="34" charset="-120"/>
              </a:rPr>
              <a:t>Inventory  </a:t>
            </a:r>
            <a:r>
              <a:rPr lang="en-US" sz="1000" dirty="0">
                <a:solidFill>
                  <a:srgbClr val="3D3D3D"/>
                </a:solidFill>
                <a:latin typeface="Calibri" pitchFamily="34" charset="0"/>
                <a:ea typeface="Calibri" pitchFamily="34" charset="-122"/>
                <a:cs typeface="Calibri" pitchFamily="34" charset="-120"/>
              </a:rPr>
              <a:t>Stock snapshots, snapshot additivity (last value, not sum)</a:t>
            </a:r>
            <a:endParaRPr lang="en-US" sz="1100" dirty="0"/>
          </a:p>
        </p:txBody>
      </p:sp>
      <p:sp>
        <p:nvSpPr>
          <p:cNvPr id="53" name="Shape 51"/>
          <p:cNvSpPr/>
          <p:nvPr/>
        </p:nvSpPr>
        <p:spPr>
          <a:xfrm>
            <a:off x="548640" y="5266944"/>
            <a:ext cx="5394960" cy="457200"/>
          </a:xfrm>
          <a:prstGeom prst="roundRect">
            <a:avLst>
              <a:gd name="adj" fmla="val 8000"/>
            </a:avLst>
          </a:prstGeom>
          <a:solidFill>
            <a:srgbClr val="E8DFF0"/>
          </a:solidFill>
          <a:ln/>
        </p:spPr>
        <p:txBody>
          <a:bodyPr/>
          <a:lstStyle/>
          <a:p>
            <a:endParaRPr lang="en-US"/>
          </a:p>
        </p:txBody>
      </p:sp>
      <p:sp>
        <p:nvSpPr>
          <p:cNvPr id="54" name="Text 52"/>
          <p:cNvSpPr/>
          <p:nvPr/>
        </p:nvSpPr>
        <p:spPr>
          <a:xfrm>
            <a:off x="685800" y="5285232"/>
            <a:ext cx="5120640" cy="411480"/>
          </a:xfrm>
          <a:prstGeom prst="rect">
            <a:avLst/>
          </a:prstGeom>
          <a:noFill/>
          <a:ln/>
        </p:spPr>
        <p:txBody>
          <a:bodyPr wrap="square" rtlCol="0" anchor="ctr"/>
          <a:lstStyle/>
          <a:p>
            <a:pPr marL="0" indent="0">
              <a:buNone/>
            </a:pPr>
            <a:r>
              <a:rPr lang="en-US" sz="1100" b="1" dirty="0">
                <a:solidFill>
                  <a:srgbClr val="4F2170"/>
                </a:solidFill>
                <a:latin typeface="Arial" pitchFamily="34" charset="0"/>
                <a:ea typeface="Arial" pitchFamily="34" charset="-122"/>
                <a:cs typeface="Arial" pitchFamily="34" charset="-120"/>
              </a:rPr>
              <a:t>Shipment  </a:t>
            </a:r>
            <a:r>
              <a:rPr lang="en-US" sz="1000" dirty="0">
                <a:solidFill>
                  <a:srgbClr val="3D3D3D"/>
                </a:solidFill>
                <a:latin typeface="Calibri" pitchFamily="34" charset="0"/>
                <a:ea typeface="Calibri" pitchFamily="34" charset="-122"/>
                <a:cs typeface="Calibri" pitchFamily="34" charset="-120"/>
              </a:rPr>
              <a:t>Shipment detail base measures</a:t>
            </a:r>
            <a:endParaRPr lang="en-US" sz="1100" dirty="0"/>
          </a:p>
        </p:txBody>
      </p:sp>
      <p:sp>
        <p:nvSpPr>
          <p:cNvPr id="55" name="Shape 53"/>
          <p:cNvSpPr/>
          <p:nvPr/>
        </p:nvSpPr>
        <p:spPr>
          <a:xfrm>
            <a:off x="6217920" y="5266944"/>
            <a:ext cx="5394960" cy="457200"/>
          </a:xfrm>
          <a:prstGeom prst="roundRect">
            <a:avLst>
              <a:gd name="adj" fmla="val 8000"/>
            </a:avLst>
          </a:prstGeom>
          <a:solidFill>
            <a:srgbClr val="F9F5FC"/>
          </a:solidFill>
          <a:ln/>
        </p:spPr>
        <p:txBody>
          <a:bodyPr/>
          <a:lstStyle/>
          <a:p>
            <a:endParaRPr lang="en-US"/>
          </a:p>
        </p:txBody>
      </p:sp>
      <p:sp>
        <p:nvSpPr>
          <p:cNvPr id="56" name="Text 54"/>
          <p:cNvSpPr/>
          <p:nvPr/>
        </p:nvSpPr>
        <p:spPr>
          <a:xfrm>
            <a:off x="6355080" y="5285232"/>
            <a:ext cx="5120640" cy="411480"/>
          </a:xfrm>
          <a:prstGeom prst="rect">
            <a:avLst/>
          </a:prstGeom>
          <a:noFill/>
          <a:ln/>
        </p:spPr>
        <p:txBody>
          <a:bodyPr wrap="square" rtlCol="0" anchor="ctr"/>
          <a:lstStyle/>
          <a:p>
            <a:pPr marL="0" indent="0">
              <a:buNone/>
            </a:pPr>
            <a:r>
              <a:rPr lang="en-US" sz="1100" b="1" dirty="0">
                <a:solidFill>
                  <a:srgbClr val="4F2170"/>
                </a:solidFill>
                <a:latin typeface="Arial" pitchFamily="34" charset="0"/>
                <a:ea typeface="Arial" pitchFamily="34" charset="-122"/>
                <a:cs typeface="Arial" pitchFamily="34" charset="-120"/>
              </a:rPr>
              <a:t>Market Share  </a:t>
            </a:r>
            <a:r>
              <a:rPr lang="en-US" sz="1000" dirty="0">
                <a:solidFill>
                  <a:srgbClr val="3D3D3D"/>
                </a:solidFill>
                <a:latin typeface="Calibri" pitchFamily="34" charset="0"/>
                <a:ea typeface="Calibri" pitchFamily="34" charset="-122"/>
                <a:cs typeface="Calibri" pitchFamily="34" charset="-120"/>
              </a:rPr>
              <a:t>Nielsen-based calculations with resilient schema handling</a:t>
            </a:r>
            <a:endParaRPr lang="en-US" sz="1100" dirty="0"/>
          </a:p>
        </p:txBody>
      </p:sp>
      <p:sp>
        <p:nvSpPr>
          <p:cNvPr id="57" name="Text 55"/>
          <p:cNvSpPr/>
          <p:nvPr/>
        </p:nvSpPr>
        <p:spPr>
          <a:xfrm>
            <a:off x="548640" y="5943600"/>
            <a:ext cx="10972800" cy="274320"/>
          </a:xfrm>
          <a:prstGeom prst="rect">
            <a:avLst/>
          </a:prstGeom>
          <a:noFill/>
          <a:ln/>
        </p:spPr>
        <p:txBody>
          <a:bodyPr wrap="square" rtlCol="0" anchor="ctr"/>
          <a:lstStyle/>
          <a:p>
            <a:pPr marL="0" indent="0">
              <a:buNone/>
            </a:pPr>
            <a:r>
              <a:rPr lang="en-US" sz="1100" i="1" dirty="0">
                <a:solidFill>
                  <a:srgbClr val="287819"/>
                </a:solidFill>
                <a:latin typeface="Calibri" pitchFamily="34" charset="0"/>
                <a:ea typeface="Calibri" pitchFamily="34" charset="-122"/>
                <a:cs typeface="Calibri" pitchFamily="34" charset="-120"/>
              </a:rPr>
              <a:t>Metric views and Genie spaces designed. AI/BI dashboards validated against source system baselines.</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4F2170"/>
          </a:solidFill>
          <a:ln/>
        </p:spPr>
        <p:txBody>
          <a:bodyPr/>
          <a:lstStyle/>
          <a:p>
            <a:endParaRPr lang="en-US"/>
          </a:p>
        </p:txBody>
      </p:sp>
      <p:sp>
        <p:nvSpPr>
          <p:cNvPr id="3" name="Text 1"/>
          <p:cNvSpPr/>
          <p:nvPr/>
        </p:nvSpPr>
        <p:spPr>
          <a:xfrm>
            <a:off x="548640" y="137160"/>
            <a:ext cx="10515600" cy="502920"/>
          </a:xfrm>
          <a:prstGeom prst="rect">
            <a:avLst/>
          </a:prstGeom>
          <a:noFill/>
          <a:ln/>
        </p:spPr>
        <p:txBody>
          <a:bodyPr wrap="square" rtlCol="0" anchor="ctr"/>
          <a:lstStyle/>
          <a:p>
            <a:pPr marL="0" indent="0">
              <a:buNone/>
            </a:pPr>
            <a:r>
              <a:rPr lang="en-US" sz="2400" dirty="0">
                <a:solidFill>
                  <a:srgbClr val="FFFFFF"/>
                </a:solidFill>
                <a:latin typeface="Arial" pitchFamily="34" charset="0"/>
                <a:ea typeface="Arial" pitchFamily="34" charset="-122"/>
                <a:cs typeface="Arial" pitchFamily="34" charset="-120"/>
              </a:rPr>
              <a:t>Dec Deliverables 7 &amp; 8: Quality, Governance &amp; CDRB Reviews</a:t>
            </a:r>
            <a:endParaRPr lang="en-US" sz="2400" dirty="0"/>
          </a:p>
        </p:txBody>
      </p:sp>
      <p:sp>
        <p:nvSpPr>
          <p:cNvPr id="4" name="Text 2"/>
          <p:cNvSpPr/>
          <p:nvPr/>
        </p:nvSpPr>
        <p:spPr>
          <a:xfrm>
            <a:off x="548640" y="594360"/>
            <a:ext cx="10515600" cy="320040"/>
          </a:xfrm>
          <a:prstGeom prst="rect">
            <a:avLst/>
          </a:prstGeom>
          <a:noFill/>
          <a:ln/>
        </p:spPr>
        <p:txBody>
          <a:bodyPr wrap="square" rtlCol="0" anchor="ctr"/>
          <a:lstStyle/>
          <a:p>
            <a:pPr marL="0" indent="0">
              <a:buNone/>
            </a:pPr>
            <a:r>
              <a:rPr lang="en-US" sz="1300" dirty="0">
                <a:solidFill>
                  <a:srgbClr val="E8DFF0"/>
                </a:solidFill>
                <a:latin typeface="Calibri" pitchFamily="34" charset="0"/>
                <a:ea typeface="Calibri" pitchFamily="34" charset="-122"/>
                <a:cs typeface="Calibri" pitchFamily="34" charset="-120"/>
              </a:rPr>
              <a:t>CDRB Sections B, E, F, G, H, I, J, K, L</a:t>
            </a:r>
            <a:endParaRPr lang="en-US" sz="1300" dirty="0"/>
          </a:p>
        </p:txBody>
      </p:sp>
      <p:sp>
        <p:nvSpPr>
          <p:cNvPr id="5" name="Shape 3"/>
          <p:cNvSpPr/>
          <p:nvPr/>
        </p:nvSpPr>
        <p:spPr>
          <a:xfrm>
            <a:off x="0" y="6492240"/>
            <a:ext cx="12188952" cy="365760"/>
          </a:xfrm>
          <a:prstGeom prst="rect">
            <a:avLst/>
          </a:prstGeom>
          <a:solidFill>
            <a:srgbClr val="3A1854"/>
          </a:solidFill>
          <a:ln/>
        </p:spPr>
        <p:txBody>
          <a:bodyPr/>
          <a:lstStyle/>
          <a:p>
            <a:endParaRPr lang="en-US"/>
          </a:p>
        </p:txBody>
      </p:sp>
      <p:sp>
        <p:nvSpPr>
          <p:cNvPr id="6" name="Text 4"/>
          <p:cNvSpPr/>
          <p:nvPr/>
        </p:nvSpPr>
        <p:spPr>
          <a:xfrm>
            <a:off x="548640" y="6510528"/>
            <a:ext cx="9144000" cy="320040"/>
          </a:xfrm>
          <a:prstGeom prst="rect">
            <a:avLst/>
          </a:prstGeom>
          <a:noFill/>
          <a:ln/>
        </p:spPr>
        <p:txBody>
          <a:bodyPr wrap="square" rtlCol="0" anchor="ctr"/>
          <a:lstStyle/>
          <a:p>
            <a:pPr marL="0" indent="0">
              <a:buNone/>
            </a:pPr>
            <a:r>
              <a:rPr lang="en-US" sz="900" dirty="0">
                <a:solidFill>
                  <a:srgbClr val="E8DFF0"/>
                </a:solidFill>
                <a:latin typeface="Calibri" pitchFamily="34" charset="0"/>
                <a:ea typeface="Calibri" pitchFamily="34" charset="-122"/>
                <a:cs typeface="Calibri" pitchFamily="34" charset="-120"/>
              </a:rPr>
              <a:t>LA OSA 2.0 Blueprint Workshop  |  Day 3 Morning  |  WS-1: Mexico &amp; Wacam</a:t>
            </a:r>
            <a:endParaRPr lang="en-US" sz="900" dirty="0"/>
          </a:p>
        </p:txBody>
      </p:sp>
      <p:sp>
        <p:nvSpPr>
          <p:cNvPr id="7" name="Text 5"/>
          <p:cNvSpPr/>
          <p:nvPr/>
        </p:nvSpPr>
        <p:spPr>
          <a:xfrm>
            <a:off x="10972800" y="6510528"/>
            <a:ext cx="914400" cy="320040"/>
          </a:xfrm>
          <a:prstGeom prst="rect">
            <a:avLst/>
          </a:prstGeom>
          <a:noFill/>
          <a:ln/>
        </p:spPr>
        <p:txBody>
          <a:bodyPr wrap="square" rtlCol="0" anchor="ctr"/>
          <a:lstStyle/>
          <a:p>
            <a:pPr marL="0" indent="0" algn="r">
              <a:buNone/>
            </a:pPr>
            <a:r>
              <a:rPr lang="en-US" sz="900" dirty="0">
                <a:solidFill>
                  <a:srgbClr val="E8DFF0"/>
                </a:solidFill>
                <a:latin typeface="Calibri" pitchFamily="34" charset="0"/>
                <a:ea typeface="Calibri" pitchFamily="34" charset="-122"/>
                <a:cs typeface="Calibri" pitchFamily="34" charset="-120"/>
              </a:rPr>
              <a:t>17 / 20</a:t>
            </a:r>
            <a:endParaRPr lang="en-US" sz="900" dirty="0"/>
          </a:p>
        </p:txBody>
      </p:sp>
      <p:sp>
        <p:nvSpPr>
          <p:cNvPr id="8" name="Shape 6"/>
          <p:cNvSpPr/>
          <p:nvPr/>
        </p:nvSpPr>
        <p:spPr>
          <a:xfrm>
            <a:off x="548640" y="1325880"/>
            <a:ext cx="5303520" cy="3474720"/>
          </a:xfrm>
          <a:prstGeom prst="roundRect">
            <a:avLst>
              <a:gd name="adj" fmla="val 2105"/>
            </a:avLst>
          </a:prstGeom>
          <a:solidFill>
            <a:srgbClr val="E8F5E4"/>
          </a:solidFill>
          <a:ln w="19050">
            <a:solidFill>
              <a:srgbClr val="287819"/>
            </a:solidFill>
            <a:prstDash val="solid"/>
          </a:ln>
        </p:spPr>
        <p:txBody>
          <a:bodyPr/>
          <a:lstStyle/>
          <a:p>
            <a:endParaRPr lang="en-US"/>
          </a:p>
        </p:txBody>
      </p:sp>
      <p:sp>
        <p:nvSpPr>
          <p:cNvPr id="9" name="Text 7"/>
          <p:cNvSpPr/>
          <p:nvPr/>
        </p:nvSpPr>
        <p:spPr>
          <a:xfrm>
            <a:off x="777240" y="1417320"/>
            <a:ext cx="4846320" cy="320040"/>
          </a:xfrm>
          <a:prstGeom prst="rect">
            <a:avLst/>
          </a:prstGeom>
          <a:noFill/>
          <a:ln/>
        </p:spPr>
        <p:txBody>
          <a:bodyPr wrap="square" rtlCol="0" anchor="ctr"/>
          <a:lstStyle/>
          <a:p>
            <a:pPr marL="0" indent="0">
              <a:buNone/>
            </a:pPr>
            <a:r>
              <a:rPr lang="en-US" sz="1300" b="1" dirty="0">
                <a:solidFill>
                  <a:srgbClr val="287819"/>
                </a:solidFill>
                <a:latin typeface="Arial" pitchFamily="34" charset="0"/>
                <a:ea typeface="Arial" pitchFamily="34" charset="-122"/>
                <a:cs typeface="Arial" pitchFamily="34" charset="-120"/>
              </a:rPr>
              <a:t>⑦  Data Quality, Governance &amp; Documentation E2E</a:t>
            </a:r>
            <a:endParaRPr lang="en-US" sz="1300" dirty="0"/>
          </a:p>
        </p:txBody>
      </p:sp>
      <p:sp>
        <p:nvSpPr>
          <p:cNvPr id="10" name="Text 8"/>
          <p:cNvSpPr/>
          <p:nvPr/>
        </p:nvSpPr>
        <p:spPr>
          <a:xfrm>
            <a:off x="777240" y="1874520"/>
            <a:ext cx="4846320" cy="2743200"/>
          </a:xfrm>
          <a:prstGeom prst="rect">
            <a:avLst/>
          </a:prstGeom>
          <a:noFill/>
          <a:ln/>
        </p:spPr>
        <p:txBody>
          <a:bodyPr wrap="square" rtlCol="0" anchor="t"/>
          <a:lstStyle/>
          <a:p>
            <a:pPr marL="0" indent="0">
              <a:lnSpc>
                <a:spcPct val="130000"/>
              </a:lnSpc>
              <a:buNone/>
            </a:pPr>
            <a:r>
              <a:rPr lang="en-US" sz="1150" dirty="0">
                <a:solidFill>
                  <a:srgbClr val="287819"/>
                </a:solidFill>
                <a:latin typeface="Calibri" pitchFamily="34" charset="0"/>
                <a:ea typeface="Calibri" pitchFamily="34" charset="-122"/>
                <a:cs typeface="Calibri" pitchFamily="34" charset="-120"/>
              </a:rPr>
              <a:t>✔ Every pipeline layer has quality gates
✔ Data lineage is visible end-to-end
✔ KPI registry and dictionary always in sync
✔ Design note before build for all Tier 1 components
✔ All waivers explicit and time-bound
✔ Legacy decommission mapping maintained
✔ Operational runbooks published
✔ Automated alerts for failures and quality issues
✔ Complete run logs with status, rows, watermark, duration</a:t>
            </a:r>
            <a:endParaRPr lang="en-US" sz="1150" dirty="0"/>
          </a:p>
        </p:txBody>
      </p:sp>
      <p:sp>
        <p:nvSpPr>
          <p:cNvPr id="11" name="Shape 9"/>
          <p:cNvSpPr/>
          <p:nvPr/>
        </p:nvSpPr>
        <p:spPr>
          <a:xfrm>
            <a:off x="6309360" y="1325880"/>
            <a:ext cx="5303520" cy="3474720"/>
          </a:xfrm>
          <a:prstGeom prst="roundRect">
            <a:avLst>
              <a:gd name="adj" fmla="val 2105"/>
            </a:avLst>
          </a:prstGeom>
          <a:solidFill>
            <a:srgbClr val="FFF3E5"/>
          </a:solidFill>
          <a:ln w="19050">
            <a:solidFill>
              <a:srgbClr val="E18719"/>
            </a:solidFill>
            <a:prstDash val="solid"/>
          </a:ln>
        </p:spPr>
        <p:txBody>
          <a:bodyPr/>
          <a:lstStyle/>
          <a:p>
            <a:endParaRPr lang="en-US"/>
          </a:p>
        </p:txBody>
      </p:sp>
      <p:sp>
        <p:nvSpPr>
          <p:cNvPr id="12" name="Text 10"/>
          <p:cNvSpPr/>
          <p:nvPr/>
        </p:nvSpPr>
        <p:spPr>
          <a:xfrm>
            <a:off x="6537960" y="1417320"/>
            <a:ext cx="4846320" cy="320040"/>
          </a:xfrm>
          <a:prstGeom prst="rect">
            <a:avLst/>
          </a:prstGeom>
          <a:noFill/>
          <a:ln/>
        </p:spPr>
        <p:txBody>
          <a:bodyPr wrap="square" rtlCol="0" anchor="ctr"/>
          <a:lstStyle/>
          <a:p>
            <a:pPr marL="0" indent="0">
              <a:buNone/>
            </a:pPr>
            <a:r>
              <a:rPr lang="en-US" sz="1300" b="1" dirty="0">
                <a:solidFill>
                  <a:srgbClr val="E18719"/>
                </a:solidFill>
                <a:latin typeface="Arial" pitchFamily="34" charset="0"/>
                <a:ea typeface="Arial" pitchFamily="34" charset="-122"/>
                <a:cs typeface="Arial" pitchFamily="34" charset="-120"/>
              </a:rPr>
              <a:t>⑧  CDRB Reviews Register — December</a:t>
            </a:r>
            <a:endParaRPr lang="en-US" sz="1300" dirty="0"/>
          </a:p>
        </p:txBody>
      </p:sp>
      <p:sp>
        <p:nvSpPr>
          <p:cNvPr id="13" name="Text 11"/>
          <p:cNvSpPr/>
          <p:nvPr/>
        </p:nvSpPr>
        <p:spPr>
          <a:xfrm>
            <a:off x="6537960" y="1874520"/>
            <a:ext cx="4846320" cy="2743200"/>
          </a:xfrm>
          <a:prstGeom prst="rect">
            <a:avLst/>
          </a:prstGeom>
          <a:noFill/>
          <a:ln/>
        </p:spPr>
        <p:txBody>
          <a:bodyPr wrap="square" rtlCol="0" anchor="t"/>
          <a:lstStyle/>
          <a:p>
            <a:pPr marL="0" indent="0">
              <a:lnSpc>
                <a:spcPct val="130000"/>
              </a:lnSpc>
              <a:buNone/>
            </a:pPr>
            <a:r>
              <a:rPr lang="en-US" sz="1100" dirty="0">
                <a:solidFill>
                  <a:srgbClr val="3D3D3D"/>
                </a:solidFill>
                <a:latin typeface="Calibri" pitchFamily="34" charset="0"/>
                <a:ea typeface="Calibri" pitchFamily="34" charset="-122"/>
                <a:cs typeface="Calibri" pitchFamily="34" charset="-120"/>
              </a:rPr>
              <a:t>☐  Section B  Core Domain Design (B01–B07)
☐  Section E  Data Loading &amp; Quality (E01–E05)
☐  Section F  KPI Calculation &amp; Accuracy (F01–F10)
☐  Section G  Performance &amp; Cost (G01–G07)
☐  Section H  Scalability — synthetic market test (H01–H04)
☐  Section I  Security &amp; Compliance (I01–I04)
☐  Section J  Testing &amp; Reconciliation (J01–J04)
☐  Section K  Observability &amp; Operations (K01–K04)
☐  Section L  Documentation &amp; Governance (L01–L04)
</a:t>
            </a:r>
            <a:endParaRPr lang="en-US" sz="1100" dirty="0"/>
          </a:p>
        </p:txBody>
      </p:sp>
      <p:sp>
        <p:nvSpPr>
          <p:cNvPr id="14" name="Shape 12"/>
          <p:cNvSpPr/>
          <p:nvPr/>
        </p:nvSpPr>
        <p:spPr>
          <a:xfrm>
            <a:off x="548640" y="5029200"/>
            <a:ext cx="11064240" cy="1051560"/>
          </a:xfrm>
          <a:prstGeom prst="roundRect">
            <a:avLst>
              <a:gd name="adj" fmla="val 5217"/>
            </a:avLst>
          </a:prstGeom>
          <a:solidFill>
            <a:srgbClr val="E8DFF0"/>
          </a:solidFill>
          <a:ln w="12700">
            <a:solidFill>
              <a:srgbClr val="4F2170"/>
            </a:solidFill>
            <a:prstDash val="solid"/>
          </a:ln>
        </p:spPr>
        <p:txBody>
          <a:bodyPr/>
          <a:lstStyle/>
          <a:p>
            <a:endParaRPr lang="en-US"/>
          </a:p>
        </p:txBody>
      </p:sp>
      <p:sp>
        <p:nvSpPr>
          <p:cNvPr id="15" name="Text 13"/>
          <p:cNvSpPr/>
          <p:nvPr/>
        </p:nvSpPr>
        <p:spPr>
          <a:xfrm>
            <a:off x="777240" y="5074920"/>
            <a:ext cx="10607040" cy="960120"/>
          </a:xfrm>
          <a:prstGeom prst="rect">
            <a:avLst/>
          </a:prstGeom>
          <a:noFill/>
          <a:ln/>
        </p:spPr>
        <p:txBody>
          <a:bodyPr wrap="square" rtlCol="0" anchor="ctr"/>
          <a:lstStyle/>
          <a:p>
            <a:pPr marL="0" indent="0">
              <a:lnSpc>
                <a:spcPct val="115000"/>
              </a:lnSpc>
              <a:buNone/>
            </a:pPr>
            <a:r>
              <a:rPr lang="en-US" sz="1200" b="1" dirty="0">
                <a:solidFill>
                  <a:srgbClr val="4F2170"/>
                </a:solidFill>
                <a:latin typeface="Arial" pitchFamily="34" charset="0"/>
                <a:ea typeface="Arial" pitchFamily="34" charset="-122"/>
                <a:cs typeface="Arial" pitchFamily="34" charset="-120"/>
              </a:rPr>
              <a:t>Quality at Source:  </a:t>
            </a:r>
            <a:r>
              <a:rPr lang="en-US" sz="1100" dirty="0">
                <a:solidFill>
                  <a:srgbClr val="3D3D3D"/>
                </a:solidFill>
                <a:latin typeface="Calibri" pitchFamily="34" charset="0"/>
                <a:ea typeface="Calibri" pitchFamily="34" charset="-122"/>
                <a:cs typeface="Calibri" pitchFamily="34" charset="-120"/>
              </a:rPr>
              <a:t>Data quality checks are embedded as the pipeline is built — not validated after the fact. Every deliverable is closed only when the corresponding CDRB section items are verified. The CDRB review register is updated weekly with all applicable items and planned actions per section.</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4F2170"/>
          </a:solidFill>
          <a:ln/>
        </p:spPr>
        <p:txBody>
          <a:bodyPr/>
          <a:lstStyle/>
          <a:p>
            <a:endParaRPr lang="en-US"/>
          </a:p>
        </p:txBody>
      </p:sp>
      <p:sp>
        <p:nvSpPr>
          <p:cNvPr id="3" name="Text 1"/>
          <p:cNvSpPr/>
          <p:nvPr/>
        </p:nvSpPr>
        <p:spPr>
          <a:xfrm>
            <a:off x="548640" y="137160"/>
            <a:ext cx="10515600" cy="502920"/>
          </a:xfrm>
          <a:prstGeom prst="rect">
            <a:avLst/>
          </a:prstGeom>
          <a:noFill/>
          <a:ln/>
        </p:spPr>
        <p:txBody>
          <a:bodyPr wrap="square" rtlCol="0" anchor="ctr"/>
          <a:lstStyle/>
          <a:p>
            <a:pPr marL="0" indent="0">
              <a:buNone/>
            </a:pPr>
            <a:r>
              <a:rPr lang="en-US" sz="2400" dirty="0">
                <a:solidFill>
                  <a:srgbClr val="FFFFFF"/>
                </a:solidFill>
                <a:latin typeface="Arial" pitchFamily="34" charset="0"/>
                <a:ea typeface="Arial" pitchFamily="34" charset="-122"/>
                <a:cs typeface="Arial" pitchFamily="34" charset="-120"/>
              </a:rPr>
              <a:t>Three-Phase Build Sequence</a:t>
            </a:r>
            <a:endParaRPr lang="en-US" sz="2400" dirty="0"/>
          </a:p>
        </p:txBody>
      </p:sp>
      <p:sp>
        <p:nvSpPr>
          <p:cNvPr id="4" name="Text 2"/>
          <p:cNvSpPr/>
          <p:nvPr/>
        </p:nvSpPr>
        <p:spPr>
          <a:xfrm>
            <a:off x="548640" y="594360"/>
            <a:ext cx="10515600" cy="320040"/>
          </a:xfrm>
          <a:prstGeom prst="rect">
            <a:avLst/>
          </a:prstGeom>
          <a:noFill/>
          <a:ln/>
        </p:spPr>
        <p:txBody>
          <a:bodyPr wrap="square" rtlCol="0" anchor="ctr"/>
          <a:lstStyle/>
          <a:p>
            <a:pPr marL="0" indent="0">
              <a:buNone/>
            </a:pPr>
            <a:r>
              <a:rPr lang="en-US" sz="1300" dirty="0">
                <a:solidFill>
                  <a:srgbClr val="E8DFF0"/>
                </a:solidFill>
                <a:latin typeface="Calibri" pitchFamily="34" charset="0"/>
                <a:ea typeface="Calibri" pitchFamily="34" charset="-122"/>
                <a:cs typeface="Calibri" pitchFamily="34" charset="-120"/>
              </a:rPr>
              <a:t>Timeline, Deliverables, and CDRB Gates per Phase</a:t>
            </a:r>
            <a:endParaRPr lang="en-US" sz="1300" dirty="0"/>
          </a:p>
        </p:txBody>
      </p:sp>
      <p:sp>
        <p:nvSpPr>
          <p:cNvPr id="5" name="Shape 3"/>
          <p:cNvSpPr/>
          <p:nvPr/>
        </p:nvSpPr>
        <p:spPr>
          <a:xfrm>
            <a:off x="0" y="6492240"/>
            <a:ext cx="12188952" cy="365760"/>
          </a:xfrm>
          <a:prstGeom prst="rect">
            <a:avLst/>
          </a:prstGeom>
          <a:solidFill>
            <a:srgbClr val="3A1854"/>
          </a:solidFill>
          <a:ln/>
        </p:spPr>
        <p:txBody>
          <a:bodyPr/>
          <a:lstStyle/>
          <a:p>
            <a:endParaRPr lang="en-US"/>
          </a:p>
        </p:txBody>
      </p:sp>
      <p:sp>
        <p:nvSpPr>
          <p:cNvPr id="6" name="Text 4"/>
          <p:cNvSpPr/>
          <p:nvPr/>
        </p:nvSpPr>
        <p:spPr>
          <a:xfrm>
            <a:off x="548640" y="6510528"/>
            <a:ext cx="9144000" cy="320040"/>
          </a:xfrm>
          <a:prstGeom prst="rect">
            <a:avLst/>
          </a:prstGeom>
          <a:noFill/>
          <a:ln/>
        </p:spPr>
        <p:txBody>
          <a:bodyPr wrap="square" rtlCol="0" anchor="ctr"/>
          <a:lstStyle/>
          <a:p>
            <a:pPr marL="0" indent="0">
              <a:buNone/>
            </a:pPr>
            <a:r>
              <a:rPr lang="en-US" sz="900" dirty="0">
                <a:solidFill>
                  <a:srgbClr val="E8DFF0"/>
                </a:solidFill>
                <a:latin typeface="Calibri" pitchFamily="34" charset="0"/>
                <a:ea typeface="Calibri" pitchFamily="34" charset="-122"/>
                <a:cs typeface="Calibri" pitchFamily="34" charset="-120"/>
              </a:rPr>
              <a:t>LA OSA 2.0 Blueprint Workshop  |  Day 3 Morning  |  WS-1: Mexico &amp; Wacam</a:t>
            </a:r>
            <a:endParaRPr lang="en-US" sz="900" dirty="0"/>
          </a:p>
        </p:txBody>
      </p:sp>
      <p:sp>
        <p:nvSpPr>
          <p:cNvPr id="7" name="Text 5"/>
          <p:cNvSpPr/>
          <p:nvPr/>
        </p:nvSpPr>
        <p:spPr>
          <a:xfrm>
            <a:off x="10972800" y="6510528"/>
            <a:ext cx="914400" cy="320040"/>
          </a:xfrm>
          <a:prstGeom prst="rect">
            <a:avLst/>
          </a:prstGeom>
          <a:noFill/>
          <a:ln/>
        </p:spPr>
        <p:txBody>
          <a:bodyPr wrap="square" rtlCol="0" anchor="ctr"/>
          <a:lstStyle/>
          <a:p>
            <a:pPr marL="0" indent="0" algn="r">
              <a:buNone/>
            </a:pPr>
            <a:r>
              <a:rPr lang="en-US" sz="900" dirty="0">
                <a:solidFill>
                  <a:srgbClr val="E8DFF0"/>
                </a:solidFill>
                <a:latin typeface="Calibri" pitchFamily="34" charset="0"/>
                <a:ea typeface="Calibri" pitchFamily="34" charset="-122"/>
                <a:cs typeface="Calibri" pitchFamily="34" charset="-120"/>
              </a:rPr>
              <a:t>18 / 20</a:t>
            </a:r>
            <a:endParaRPr lang="en-US" sz="9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64240" cy="914400"/>
        </p:xfrm>
        <a:graphic>
          <a:graphicData uri="http://schemas.openxmlformats.org/drawingml/2006/table">
            <a:tbl>
              <a:tblPr/>
              <a:tblGrid>
                <a:gridCol w="64008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gridCol w="5852160">
                  <a:extLst>
                    <a:ext uri="{9D8B030D-6E8A-4147-A177-3AD203B41FA5}">
                      <a16:colId xmlns:a16="http://schemas.microsoft.com/office/drawing/2014/main" val="20003"/>
                    </a:ext>
                  </a:extLst>
                </a:gridCol>
                <a:gridCol w="1920240">
                  <a:extLst>
                    <a:ext uri="{9D8B030D-6E8A-4147-A177-3AD203B41FA5}">
                      <a16:colId xmlns:a16="http://schemas.microsoft.com/office/drawing/2014/main" val="20004"/>
                    </a:ext>
                  </a:extLst>
                </a:gridCol>
              </a:tblGrid>
              <a:tr h="457200">
                <a:tc>
                  <a:txBody>
                    <a:bodyPr/>
                    <a:lstStyle/>
                    <a:p>
                      <a:pPr marL="0" indent="0" algn="ctr">
                        <a:buNone/>
                      </a:pPr>
                      <a:r>
                        <a:rPr lang="en-US" sz="1100" b="1" dirty="0">
                          <a:solidFill>
                            <a:srgbClr val="FFFFFF"/>
                          </a:solidFill>
                          <a:latin typeface="Arial" pitchFamily="34" charset="0"/>
                          <a:ea typeface="Arial" pitchFamily="34" charset="-122"/>
                          <a:cs typeface="Arial" pitchFamily="34" charset="-120"/>
                        </a:rPr>
                        <a:t>Phase</a:t>
                      </a:r>
                      <a:endParaRPr lang="en-US" sz="1100" dirty="0">
                        <a:latin typeface="Arial" charset="0"/>
                        <a:ea typeface="Arial" charset="0"/>
                        <a:cs typeface="Arial" charset="0"/>
                      </a:endParaRPr>
                    </a:p>
                  </a:txBody>
                  <a:tcPr marL="76200" marR="76200" marT="50800" marB="50800" anchor="ctr">
                    <a:lnL w="6350" cap="flat" cmpd="sng" algn="ctr">
                      <a:solidFill>
                        <a:srgbClr val="4F2170"/>
                      </a:solidFill>
                      <a:prstDash val="solid"/>
                      <a:round/>
                      <a:headEnd type="none" w="med" len="med"/>
                      <a:tailEnd type="none" w="med" len="med"/>
                    </a:lnL>
                    <a:lnR w="6350" cap="flat" cmpd="sng" algn="ctr">
                      <a:solidFill>
                        <a:srgbClr val="4F2170"/>
                      </a:solidFill>
                      <a:prstDash val="solid"/>
                      <a:round/>
                      <a:headEnd type="none" w="med" len="med"/>
                      <a:tailEnd type="none" w="med" len="med"/>
                    </a:lnR>
                    <a:lnT w="6350" cap="flat" cmpd="sng" algn="ctr">
                      <a:solidFill>
                        <a:srgbClr val="4F2170"/>
                      </a:solidFill>
                      <a:prstDash val="solid"/>
                      <a:round/>
                      <a:headEnd type="none" w="med" len="med"/>
                      <a:tailEnd type="none" w="med" len="med"/>
                    </a:lnT>
                    <a:lnB w="6350" cap="flat" cmpd="sng" algn="ctr">
                      <a:solidFill>
                        <a:srgbClr val="4F2170"/>
                      </a:solidFill>
                      <a:prstDash val="solid"/>
                      <a:round/>
                      <a:headEnd type="none" w="med" len="med"/>
                      <a:tailEnd type="none" w="med" len="med"/>
                    </a:lnB>
                    <a:solidFill>
                      <a:srgbClr val="4F2170"/>
                    </a:solidFill>
                  </a:tcPr>
                </a:tc>
                <a:tc>
                  <a:txBody>
                    <a:bodyPr/>
                    <a:lstStyle/>
                    <a:p>
                      <a:pPr marL="0" indent="0" algn="ctr">
                        <a:buNone/>
                      </a:pPr>
                      <a:r>
                        <a:rPr lang="en-US" sz="1100" b="1" dirty="0">
                          <a:solidFill>
                            <a:srgbClr val="FFFFFF"/>
                          </a:solidFill>
                          <a:latin typeface="Arial" pitchFamily="34" charset="0"/>
                          <a:ea typeface="Arial" pitchFamily="34" charset="-122"/>
                          <a:cs typeface="Arial" pitchFamily="34" charset="-120"/>
                        </a:rPr>
                        <a:t>Name</a:t>
                      </a:r>
                      <a:endParaRPr lang="en-US" sz="1100" dirty="0">
                        <a:latin typeface="Arial" charset="0"/>
                        <a:ea typeface="Arial" charset="0"/>
                        <a:cs typeface="Arial" charset="0"/>
                      </a:endParaRPr>
                    </a:p>
                  </a:txBody>
                  <a:tcPr marL="76200" marR="76200" marT="50800" marB="50800" anchor="ctr">
                    <a:lnL w="6350" cap="flat" cmpd="sng" algn="ctr">
                      <a:solidFill>
                        <a:srgbClr val="4F2170"/>
                      </a:solidFill>
                      <a:prstDash val="solid"/>
                      <a:round/>
                      <a:headEnd type="none" w="med" len="med"/>
                      <a:tailEnd type="none" w="med" len="med"/>
                    </a:lnL>
                    <a:lnR w="6350" cap="flat" cmpd="sng" algn="ctr">
                      <a:solidFill>
                        <a:srgbClr val="4F2170"/>
                      </a:solidFill>
                      <a:prstDash val="solid"/>
                      <a:round/>
                      <a:headEnd type="none" w="med" len="med"/>
                      <a:tailEnd type="none" w="med" len="med"/>
                    </a:lnR>
                    <a:lnT w="6350" cap="flat" cmpd="sng" algn="ctr">
                      <a:solidFill>
                        <a:srgbClr val="4F2170"/>
                      </a:solidFill>
                      <a:prstDash val="solid"/>
                      <a:round/>
                      <a:headEnd type="none" w="med" len="med"/>
                      <a:tailEnd type="none" w="med" len="med"/>
                    </a:lnT>
                    <a:lnB w="6350" cap="flat" cmpd="sng" algn="ctr">
                      <a:solidFill>
                        <a:srgbClr val="4F2170"/>
                      </a:solidFill>
                      <a:prstDash val="solid"/>
                      <a:round/>
                      <a:headEnd type="none" w="med" len="med"/>
                      <a:tailEnd type="none" w="med" len="med"/>
                    </a:lnB>
                    <a:solidFill>
                      <a:srgbClr val="4F2170"/>
                    </a:solidFill>
                  </a:tcPr>
                </a:tc>
                <a:tc>
                  <a:txBody>
                    <a:bodyPr/>
                    <a:lstStyle/>
                    <a:p>
                      <a:pPr marL="0" indent="0" algn="ctr">
                        <a:buNone/>
                      </a:pPr>
                      <a:r>
                        <a:rPr lang="en-US" sz="1100" b="1" dirty="0">
                          <a:solidFill>
                            <a:srgbClr val="FFFFFF"/>
                          </a:solidFill>
                          <a:latin typeface="Arial" pitchFamily="34" charset="0"/>
                          <a:ea typeface="Arial" pitchFamily="34" charset="-122"/>
                          <a:cs typeface="Arial" pitchFamily="34" charset="-120"/>
                        </a:rPr>
                        <a:t>Timeline</a:t>
                      </a:r>
                      <a:endParaRPr lang="en-US" sz="1100" dirty="0">
                        <a:latin typeface="Arial" charset="0"/>
                        <a:ea typeface="Arial" charset="0"/>
                        <a:cs typeface="Arial" charset="0"/>
                      </a:endParaRPr>
                    </a:p>
                  </a:txBody>
                  <a:tcPr marL="76200" marR="76200" marT="50800" marB="50800" anchor="ctr">
                    <a:lnL w="6350" cap="flat" cmpd="sng" algn="ctr">
                      <a:solidFill>
                        <a:srgbClr val="4F2170"/>
                      </a:solidFill>
                      <a:prstDash val="solid"/>
                      <a:round/>
                      <a:headEnd type="none" w="med" len="med"/>
                      <a:tailEnd type="none" w="med" len="med"/>
                    </a:lnL>
                    <a:lnR w="6350" cap="flat" cmpd="sng" algn="ctr">
                      <a:solidFill>
                        <a:srgbClr val="4F2170"/>
                      </a:solidFill>
                      <a:prstDash val="solid"/>
                      <a:round/>
                      <a:headEnd type="none" w="med" len="med"/>
                      <a:tailEnd type="none" w="med" len="med"/>
                    </a:lnR>
                    <a:lnT w="6350" cap="flat" cmpd="sng" algn="ctr">
                      <a:solidFill>
                        <a:srgbClr val="4F2170"/>
                      </a:solidFill>
                      <a:prstDash val="solid"/>
                      <a:round/>
                      <a:headEnd type="none" w="med" len="med"/>
                      <a:tailEnd type="none" w="med" len="med"/>
                    </a:lnT>
                    <a:lnB w="6350" cap="flat" cmpd="sng" algn="ctr">
                      <a:solidFill>
                        <a:srgbClr val="4F2170"/>
                      </a:solidFill>
                      <a:prstDash val="solid"/>
                      <a:round/>
                      <a:headEnd type="none" w="med" len="med"/>
                      <a:tailEnd type="none" w="med" len="med"/>
                    </a:lnB>
                    <a:solidFill>
                      <a:srgbClr val="4F2170"/>
                    </a:solidFill>
                  </a:tcPr>
                </a:tc>
                <a:tc>
                  <a:txBody>
                    <a:bodyPr/>
                    <a:lstStyle/>
                    <a:p>
                      <a:pPr marL="0" indent="0" algn="ctr">
                        <a:buNone/>
                      </a:pPr>
                      <a:r>
                        <a:rPr lang="en-US" sz="1100" b="1" dirty="0">
                          <a:solidFill>
                            <a:srgbClr val="FFFFFF"/>
                          </a:solidFill>
                          <a:latin typeface="Arial" pitchFamily="34" charset="0"/>
                          <a:ea typeface="Arial" pitchFamily="34" charset="-122"/>
                          <a:cs typeface="Arial" pitchFamily="34" charset="-120"/>
                        </a:rPr>
                        <a:t>Deliverables</a:t>
                      </a:r>
                      <a:endParaRPr lang="en-US" sz="1100" dirty="0">
                        <a:latin typeface="Arial" charset="0"/>
                        <a:ea typeface="Arial" charset="0"/>
                        <a:cs typeface="Arial" charset="0"/>
                      </a:endParaRPr>
                    </a:p>
                  </a:txBody>
                  <a:tcPr marL="76200" marR="76200" marT="50800" marB="50800" anchor="ctr">
                    <a:lnL w="6350" cap="flat" cmpd="sng" algn="ctr">
                      <a:solidFill>
                        <a:srgbClr val="4F2170"/>
                      </a:solidFill>
                      <a:prstDash val="solid"/>
                      <a:round/>
                      <a:headEnd type="none" w="med" len="med"/>
                      <a:tailEnd type="none" w="med" len="med"/>
                    </a:lnL>
                    <a:lnR w="6350" cap="flat" cmpd="sng" algn="ctr">
                      <a:solidFill>
                        <a:srgbClr val="4F2170"/>
                      </a:solidFill>
                      <a:prstDash val="solid"/>
                      <a:round/>
                      <a:headEnd type="none" w="med" len="med"/>
                      <a:tailEnd type="none" w="med" len="med"/>
                    </a:lnR>
                    <a:lnT w="6350" cap="flat" cmpd="sng" algn="ctr">
                      <a:solidFill>
                        <a:srgbClr val="4F2170"/>
                      </a:solidFill>
                      <a:prstDash val="solid"/>
                      <a:round/>
                      <a:headEnd type="none" w="med" len="med"/>
                      <a:tailEnd type="none" w="med" len="med"/>
                    </a:lnT>
                    <a:lnB w="6350" cap="flat" cmpd="sng" algn="ctr">
                      <a:solidFill>
                        <a:srgbClr val="4F2170"/>
                      </a:solidFill>
                      <a:prstDash val="solid"/>
                      <a:round/>
                      <a:headEnd type="none" w="med" len="med"/>
                      <a:tailEnd type="none" w="med" len="med"/>
                    </a:lnB>
                    <a:solidFill>
                      <a:srgbClr val="4F2170"/>
                    </a:solidFill>
                  </a:tcPr>
                </a:tc>
                <a:tc>
                  <a:txBody>
                    <a:bodyPr/>
                    <a:lstStyle/>
                    <a:p>
                      <a:pPr marL="0" indent="0" algn="ctr">
                        <a:buNone/>
                      </a:pPr>
                      <a:r>
                        <a:rPr lang="en-US" sz="1100" b="1" dirty="0">
                          <a:solidFill>
                            <a:srgbClr val="FFFFFF"/>
                          </a:solidFill>
                          <a:latin typeface="Arial" pitchFamily="34" charset="0"/>
                          <a:ea typeface="Arial" pitchFamily="34" charset="-122"/>
                          <a:cs typeface="Arial" pitchFamily="34" charset="-120"/>
                        </a:rPr>
                        <a:t>CDRB Gates</a:t>
                      </a:r>
                      <a:endParaRPr lang="en-US" sz="1100" dirty="0">
                        <a:latin typeface="Arial" charset="0"/>
                        <a:ea typeface="Arial" charset="0"/>
                        <a:cs typeface="Arial" charset="0"/>
                      </a:endParaRPr>
                    </a:p>
                  </a:txBody>
                  <a:tcPr marL="76200" marR="76200" marT="50800" marB="50800" anchor="ctr">
                    <a:lnL w="6350" cap="flat" cmpd="sng" algn="ctr">
                      <a:solidFill>
                        <a:srgbClr val="4F2170"/>
                      </a:solidFill>
                      <a:prstDash val="solid"/>
                      <a:round/>
                      <a:headEnd type="none" w="med" len="med"/>
                      <a:tailEnd type="none" w="med" len="med"/>
                    </a:lnL>
                    <a:lnR w="6350" cap="flat" cmpd="sng" algn="ctr">
                      <a:solidFill>
                        <a:srgbClr val="4F2170"/>
                      </a:solidFill>
                      <a:prstDash val="solid"/>
                      <a:round/>
                      <a:headEnd type="none" w="med" len="med"/>
                      <a:tailEnd type="none" w="med" len="med"/>
                    </a:lnR>
                    <a:lnT w="6350" cap="flat" cmpd="sng" algn="ctr">
                      <a:solidFill>
                        <a:srgbClr val="4F2170"/>
                      </a:solidFill>
                      <a:prstDash val="solid"/>
                      <a:round/>
                      <a:headEnd type="none" w="med" len="med"/>
                      <a:tailEnd type="none" w="med" len="med"/>
                    </a:lnT>
                    <a:lnB w="6350" cap="flat" cmpd="sng" algn="ctr">
                      <a:solidFill>
                        <a:srgbClr val="4F2170"/>
                      </a:solidFill>
                      <a:prstDash val="solid"/>
                      <a:round/>
                      <a:headEnd type="none" w="med" len="med"/>
                      <a:tailEnd type="none" w="med" len="med"/>
                    </a:lnB>
                    <a:solidFill>
                      <a:srgbClr val="4F2170"/>
                    </a:solidFill>
                  </a:tcPr>
                </a:tc>
                <a:extLst>
                  <a:ext uri="{0D108BD9-81ED-4DB2-BD59-A6C34878D82A}">
                    <a16:rowId xmlns:a16="http://schemas.microsoft.com/office/drawing/2014/main" val="10000"/>
                  </a:ext>
                </a:extLst>
              </a:tr>
              <a:tr h="1188720">
                <a:tc>
                  <a:txBody>
                    <a:bodyPr/>
                    <a:lstStyle/>
                    <a:p>
                      <a:pPr marL="0" indent="0" algn="ctr">
                        <a:buNone/>
                      </a:pPr>
                      <a:r>
                        <a:rPr lang="en-US" sz="1800" b="1" dirty="0">
                          <a:solidFill>
                            <a:srgbClr val="E18719"/>
                          </a:solidFill>
                          <a:latin typeface="Arial" pitchFamily="34" charset="0"/>
                          <a:ea typeface="Arial" pitchFamily="34" charset="-122"/>
                          <a:cs typeface="Arial" pitchFamily="34" charset="-120"/>
                        </a:rPr>
                        <a:t>1</a:t>
                      </a:r>
                      <a:endParaRPr lang="en-US" sz="1800" dirty="0">
                        <a:latin typeface="Arial" charset="0"/>
                        <a:ea typeface="Arial" charset="0"/>
                        <a:cs typeface="Arial" charset="0"/>
                      </a:endParaRPr>
                    </a:p>
                  </a:txBody>
                  <a:tcPr marL="76200" marR="76200" marT="50800" marB="50800" anchor="ctr">
                    <a:lnL w="6350" cap="flat" cmpd="sng" algn="ctr">
                      <a:solidFill>
                        <a:srgbClr val="E0D5E8"/>
                      </a:solidFill>
                      <a:prstDash val="solid"/>
                      <a:round/>
                      <a:headEnd type="none" w="med" len="med"/>
                      <a:tailEnd type="none" w="med" len="med"/>
                    </a:lnL>
                    <a:lnR w="6350" cap="flat" cmpd="sng" algn="ctr">
                      <a:solidFill>
                        <a:srgbClr val="E0D5E8"/>
                      </a:solidFill>
                      <a:prstDash val="solid"/>
                      <a:round/>
                      <a:headEnd type="none" w="med" len="med"/>
                      <a:tailEnd type="none" w="med" len="med"/>
                    </a:lnR>
                    <a:lnT w="6350" cap="flat" cmpd="sng" algn="ctr">
                      <a:solidFill>
                        <a:srgbClr val="4F2170"/>
                      </a:solidFill>
                      <a:prstDash val="solid"/>
                      <a:round/>
                      <a:headEnd type="none" w="med" len="med"/>
                      <a:tailEnd type="none" w="med" len="med"/>
                    </a:lnT>
                    <a:lnB w="6350" cap="flat" cmpd="sng" algn="ctr">
                      <a:solidFill>
                        <a:srgbClr val="E0D5E8"/>
                      </a:solidFill>
                      <a:prstDash val="solid"/>
                      <a:round/>
                      <a:headEnd type="none" w="med" len="med"/>
                      <a:tailEnd type="none" w="med" len="med"/>
                    </a:lnB>
                    <a:solidFill>
                      <a:srgbClr val="FFF3E5"/>
                    </a:solidFill>
                  </a:tcPr>
                </a:tc>
                <a:tc>
                  <a:txBody>
                    <a:bodyPr/>
                    <a:lstStyle/>
                    <a:p>
                      <a:pPr marL="0" indent="0" algn="ctr">
                        <a:buNone/>
                      </a:pPr>
                      <a:r>
                        <a:rPr lang="en-US" sz="1200" b="1" dirty="0">
                          <a:solidFill>
                            <a:srgbClr val="4F2170"/>
                          </a:solidFill>
                          <a:latin typeface="Arial" pitchFamily="34" charset="0"/>
                          <a:ea typeface="Arial" pitchFamily="34" charset="-122"/>
                          <a:cs typeface="Arial" pitchFamily="34" charset="-120"/>
                        </a:rPr>
                        <a:t>Foundations</a:t>
                      </a:r>
                      <a:endParaRPr lang="en-US" sz="1200" dirty="0">
                        <a:latin typeface="Arial" charset="0"/>
                        <a:ea typeface="Arial" charset="0"/>
                        <a:cs typeface="Arial" charset="0"/>
                      </a:endParaRPr>
                    </a:p>
                  </a:txBody>
                  <a:tcPr marL="76200" marR="76200" marT="50800" marB="50800" anchor="ctr">
                    <a:lnL w="6350" cap="flat" cmpd="sng" algn="ctr">
                      <a:solidFill>
                        <a:srgbClr val="E0D5E8"/>
                      </a:solidFill>
                      <a:prstDash val="solid"/>
                      <a:round/>
                      <a:headEnd type="none" w="med" len="med"/>
                      <a:tailEnd type="none" w="med" len="med"/>
                    </a:lnL>
                    <a:lnR w="6350" cap="flat" cmpd="sng" algn="ctr">
                      <a:solidFill>
                        <a:srgbClr val="E0D5E8"/>
                      </a:solidFill>
                      <a:prstDash val="solid"/>
                      <a:round/>
                      <a:headEnd type="none" w="med" len="med"/>
                      <a:tailEnd type="none" w="med" len="med"/>
                    </a:lnR>
                    <a:lnT w="6350" cap="flat" cmpd="sng" algn="ctr">
                      <a:solidFill>
                        <a:srgbClr val="4F2170"/>
                      </a:solidFill>
                      <a:prstDash val="solid"/>
                      <a:round/>
                      <a:headEnd type="none" w="med" len="med"/>
                      <a:tailEnd type="none" w="med" len="med"/>
                    </a:lnT>
                    <a:lnB w="6350" cap="flat" cmpd="sng" algn="ctr">
                      <a:solidFill>
                        <a:srgbClr val="E0D5E8"/>
                      </a:solidFill>
                      <a:prstDash val="solid"/>
                      <a:round/>
                      <a:headEnd type="none" w="med" len="med"/>
                      <a:tailEnd type="none" w="med" len="med"/>
                    </a:lnB>
                    <a:solidFill>
                      <a:srgbClr val="FFF3E5"/>
                    </a:solidFill>
                  </a:tcPr>
                </a:tc>
                <a:tc>
                  <a:txBody>
                    <a:bodyPr/>
                    <a:lstStyle/>
                    <a:p>
                      <a:pPr marL="0" indent="0" algn="ctr">
                        <a:buNone/>
                      </a:pPr>
                      <a:r>
                        <a:rPr lang="en-US" sz="1100" dirty="0">
                          <a:solidFill>
                            <a:srgbClr val="3D3D3D"/>
                          </a:solidFill>
                          <a:latin typeface="Calibri" pitchFamily="34" charset="0"/>
                          <a:ea typeface="Calibri" pitchFamily="34" charset="-122"/>
                          <a:cs typeface="Calibri" pitchFamily="34" charset="-120"/>
                        </a:rPr>
                        <a:t>Nov Wk 1–2</a:t>
                      </a:r>
                      <a:endParaRPr lang="en-US" sz="1100" dirty="0">
                        <a:latin typeface="Calibri" charset="0"/>
                        <a:ea typeface="Calibri" charset="0"/>
                        <a:cs typeface="Calibri" charset="0"/>
                      </a:endParaRPr>
                    </a:p>
                  </a:txBody>
                  <a:tcPr marL="76200" marR="76200" marT="50800" marB="50800" anchor="ctr">
                    <a:lnL w="6350" cap="flat" cmpd="sng" algn="ctr">
                      <a:solidFill>
                        <a:srgbClr val="E0D5E8"/>
                      </a:solidFill>
                      <a:prstDash val="solid"/>
                      <a:round/>
                      <a:headEnd type="none" w="med" len="med"/>
                      <a:tailEnd type="none" w="med" len="med"/>
                    </a:lnL>
                    <a:lnR w="6350" cap="flat" cmpd="sng" algn="ctr">
                      <a:solidFill>
                        <a:srgbClr val="E0D5E8"/>
                      </a:solidFill>
                      <a:prstDash val="solid"/>
                      <a:round/>
                      <a:headEnd type="none" w="med" len="med"/>
                      <a:tailEnd type="none" w="med" len="med"/>
                    </a:lnR>
                    <a:lnT w="6350" cap="flat" cmpd="sng" algn="ctr">
                      <a:solidFill>
                        <a:srgbClr val="4F2170"/>
                      </a:solidFill>
                      <a:prstDash val="solid"/>
                      <a:round/>
                      <a:headEnd type="none" w="med" len="med"/>
                      <a:tailEnd type="none" w="med" len="med"/>
                    </a:lnT>
                    <a:lnB w="6350" cap="flat" cmpd="sng" algn="ctr">
                      <a:solidFill>
                        <a:srgbClr val="E0D5E8"/>
                      </a:solidFill>
                      <a:prstDash val="solid"/>
                      <a:round/>
                      <a:headEnd type="none" w="med" len="med"/>
                      <a:tailEnd type="none" w="med" len="med"/>
                    </a:lnB>
                    <a:solidFill>
                      <a:srgbClr val="FFF3E5"/>
                    </a:solidFill>
                  </a:tcPr>
                </a:tc>
                <a:tc>
                  <a:txBody>
                    <a:bodyPr/>
                    <a:lstStyle/>
                    <a:p>
                      <a:pPr marL="0" indent="0">
                        <a:buNone/>
                      </a:pPr>
                      <a:r>
                        <a:rPr lang="en-US" sz="1050" dirty="0">
                          <a:solidFill>
                            <a:srgbClr val="3D3D3D"/>
                          </a:solidFill>
                          <a:latin typeface="Calibri" pitchFamily="34" charset="0"/>
                          <a:ea typeface="Calibri" pitchFamily="34" charset="-122"/>
                          <a:cs typeface="Calibri" pitchFamily="34" charset="-120"/>
                        </a:rPr>
                        <a:t>• Configuration tables &amp; shared utility functions</a:t>
                      </a:r>
                      <a:endParaRPr lang="en-US" sz="1050" dirty="0">
                        <a:latin typeface="Calibri" charset="0"/>
                        <a:ea typeface="Calibri" charset="0"/>
                        <a:cs typeface="Calibri" charset="0"/>
                      </a:endParaRPr>
                    </a:p>
                    <a:p>
                      <a:pPr marL="0" indent="0">
                        <a:buNone/>
                      </a:pPr>
                      <a:r>
                        <a:rPr lang="en-US" sz="1050" dirty="0">
                          <a:solidFill>
                            <a:srgbClr val="3D3D3D"/>
                          </a:solidFill>
                          <a:latin typeface="Calibri" pitchFamily="34" charset="0"/>
                          <a:ea typeface="Calibri" pitchFamily="34" charset="-122"/>
                          <a:cs typeface="Calibri" pitchFamily="34" charset="-120"/>
                        </a:rPr>
                        <a:t>• SP template + unit test harness</a:t>
                      </a:r>
                      <a:endParaRPr lang="en-US" sz="1050" dirty="0">
                        <a:latin typeface="Calibri" charset="0"/>
                        <a:ea typeface="Calibri" charset="0"/>
                        <a:cs typeface="Calibri" charset="0"/>
                      </a:endParaRPr>
                    </a:p>
                    <a:p>
                      <a:pPr marL="0" indent="0">
                        <a:buNone/>
                      </a:pPr>
                      <a:r>
                        <a:rPr lang="en-US" sz="1050" dirty="0">
                          <a:solidFill>
                            <a:srgbClr val="3D3D3D"/>
                          </a:solidFill>
                          <a:latin typeface="Calibri" pitchFamily="34" charset="0"/>
                          <a:ea typeface="Calibri" pitchFamily="34" charset="-122"/>
                          <a:cs typeface="Calibri" pitchFamily="34" charset="-120"/>
                        </a:rPr>
                        <a:t>• Unity Catalog structure confirmed</a:t>
                      </a:r>
                      <a:endParaRPr lang="en-US" sz="1050" dirty="0">
                        <a:latin typeface="Calibri" charset="0"/>
                        <a:ea typeface="Calibri" charset="0"/>
                        <a:cs typeface="Calibri" charset="0"/>
                      </a:endParaRPr>
                    </a:p>
                  </a:txBody>
                  <a:tcPr marL="76200" marR="76200" marT="50800" marB="50800" anchor="ctr">
                    <a:lnL w="6350" cap="flat" cmpd="sng" algn="ctr">
                      <a:solidFill>
                        <a:srgbClr val="E0D5E8"/>
                      </a:solidFill>
                      <a:prstDash val="solid"/>
                      <a:round/>
                      <a:headEnd type="none" w="med" len="med"/>
                      <a:tailEnd type="none" w="med" len="med"/>
                    </a:lnL>
                    <a:lnR w="6350" cap="flat" cmpd="sng" algn="ctr">
                      <a:solidFill>
                        <a:srgbClr val="E0D5E8"/>
                      </a:solidFill>
                      <a:prstDash val="solid"/>
                      <a:round/>
                      <a:headEnd type="none" w="med" len="med"/>
                      <a:tailEnd type="none" w="med" len="med"/>
                    </a:lnR>
                    <a:lnT w="6350" cap="flat" cmpd="sng" algn="ctr">
                      <a:solidFill>
                        <a:srgbClr val="4F2170"/>
                      </a:solidFill>
                      <a:prstDash val="solid"/>
                      <a:round/>
                      <a:headEnd type="none" w="med" len="med"/>
                      <a:tailEnd type="none" w="med" len="med"/>
                    </a:lnT>
                    <a:lnB w="6350" cap="flat" cmpd="sng" algn="ctr">
                      <a:solidFill>
                        <a:srgbClr val="E0D5E8"/>
                      </a:solidFill>
                      <a:prstDash val="solid"/>
                      <a:round/>
                      <a:headEnd type="none" w="med" len="med"/>
                      <a:tailEnd type="none" w="med" len="med"/>
                    </a:lnB>
                    <a:solidFill>
                      <a:srgbClr val="FFF3E5"/>
                    </a:solidFill>
                  </a:tcPr>
                </a:tc>
                <a:tc>
                  <a:txBody>
                    <a:bodyPr/>
                    <a:lstStyle/>
                    <a:p>
                      <a:pPr marL="0" indent="0" algn="ctr">
                        <a:buNone/>
                      </a:pPr>
                      <a:r>
                        <a:rPr lang="en-US" sz="1200" b="1" dirty="0">
                          <a:solidFill>
                            <a:srgbClr val="4F2170"/>
                          </a:solidFill>
                          <a:latin typeface="Arial" pitchFamily="34" charset="0"/>
                          <a:ea typeface="Arial" pitchFamily="34" charset="-122"/>
                          <a:cs typeface="Arial" pitchFamily="34" charset="-120"/>
                        </a:rPr>
                        <a:t>A, C, D</a:t>
                      </a:r>
                      <a:endParaRPr lang="en-US" sz="1200" dirty="0">
                        <a:latin typeface="Arial" charset="0"/>
                        <a:ea typeface="Arial" charset="0"/>
                        <a:cs typeface="Arial" charset="0"/>
                      </a:endParaRPr>
                    </a:p>
                  </a:txBody>
                  <a:tcPr marL="76200" marR="76200" marT="50800" marB="50800" anchor="ctr">
                    <a:lnL w="6350" cap="flat" cmpd="sng" algn="ctr">
                      <a:solidFill>
                        <a:srgbClr val="E0D5E8"/>
                      </a:solidFill>
                      <a:prstDash val="solid"/>
                      <a:round/>
                      <a:headEnd type="none" w="med" len="med"/>
                      <a:tailEnd type="none" w="med" len="med"/>
                    </a:lnL>
                    <a:lnR w="6350" cap="flat" cmpd="sng" algn="ctr">
                      <a:solidFill>
                        <a:srgbClr val="E0D5E8"/>
                      </a:solidFill>
                      <a:prstDash val="solid"/>
                      <a:round/>
                      <a:headEnd type="none" w="med" len="med"/>
                      <a:tailEnd type="none" w="med" len="med"/>
                    </a:lnR>
                    <a:lnT w="6350" cap="flat" cmpd="sng" algn="ctr">
                      <a:solidFill>
                        <a:srgbClr val="4F2170"/>
                      </a:solidFill>
                      <a:prstDash val="solid"/>
                      <a:round/>
                      <a:headEnd type="none" w="med" len="med"/>
                      <a:tailEnd type="none" w="med" len="med"/>
                    </a:lnT>
                    <a:lnB w="6350" cap="flat" cmpd="sng" algn="ctr">
                      <a:solidFill>
                        <a:srgbClr val="E0D5E8"/>
                      </a:solidFill>
                      <a:prstDash val="solid"/>
                      <a:round/>
                      <a:headEnd type="none" w="med" len="med"/>
                      <a:tailEnd type="none" w="med" len="med"/>
                    </a:lnB>
                    <a:solidFill>
                      <a:srgbClr val="FFF3E5"/>
                    </a:solidFill>
                  </a:tcPr>
                </a:tc>
                <a:extLst>
                  <a:ext uri="{0D108BD9-81ED-4DB2-BD59-A6C34878D82A}">
                    <a16:rowId xmlns:a16="http://schemas.microsoft.com/office/drawing/2014/main" val="10001"/>
                  </a:ext>
                </a:extLst>
              </a:tr>
              <a:tr h="1188720">
                <a:tc>
                  <a:txBody>
                    <a:bodyPr/>
                    <a:lstStyle/>
                    <a:p>
                      <a:pPr marL="0" indent="0" algn="ctr">
                        <a:buNone/>
                      </a:pPr>
                      <a:r>
                        <a:rPr lang="en-US" sz="1800" b="1" dirty="0">
                          <a:solidFill>
                            <a:srgbClr val="E18719"/>
                          </a:solidFill>
                          <a:latin typeface="Arial" pitchFamily="34" charset="0"/>
                          <a:ea typeface="Arial" pitchFamily="34" charset="-122"/>
                          <a:cs typeface="Arial" pitchFamily="34" charset="-120"/>
                        </a:rPr>
                        <a:t>2</a:t>
                      </a:r>
                      <a:endParaRPr lang="en-US" sz="1800" dirty="0">
                        <a:latin typeface="Arial" charset="0"/>
                        <a:ea typeface="Arial" charset="0"/>
                        <a:cs typeface="Arial" charset="0"/>
                      </a:endParaRPr>
                    </a:p>
                  </a:txBody>
                  <a:tcPr marL="76200" marR="76200" marT="50800" marB="50800" anchor="ctr">
                    <a:lnL w="6350" cap="flat" cmpd="sng" algn="ctr">
                      <a:solidFill>
                        <a:srgbClr val="E0D5E8"/>
                      </a:solidFill>
                      <a:prstDash val="solid"/>
                      <a:round/>
                      <a:headEnd type="none" w="med" len="med"/>
                      <a:tailEnd type="none" w="med" len="med"/>
                    </a:lnL>
                    <a:lnR w="6350" cap="flat" cmpd="sng" algn="ctr">
                      <a:solidFill>
                        <a:srgbClr val="E0D5E8"/>
                      </a:solidFill>
                      <a:prstDash val="solid"/>
                      <a:round/>
                      <a:headEnd type="none" w="med" len="med"/>
                      <a:tailEnd type="none" w="med" len="med"/>
                    </a:lnR>
                    <a:lnT w="6350" cap="flat" cmpd="sng" algn="ctr">
                      <a:solidFill>
                        <a:srgbClr val="E0D5E8"/>
                      </a:solidFill>
                      <a:prstDash val="solid"/>
                      <a:round/>
                      <a:headEnd type="none" w="med" len="med"/>
                      <a:tailEnd type="none" w="med" len="med"/>
                    </a:lnT>
                    <a:lnB w="6350" cap="flat" cmpd="sng" algn="ctr">
                      <a:solidFill>
                        <a:srgbClr val="E0D5E8"/>
                      </a:solidFill>
                      <a:prstDash val="solid"/>
                      <a:round/>
                      <a:headEnd type="none" w="med" len="med"/>
                      <a:tailEnd type="none" w="med" len="med"/>
                    </a:lnB>
                    <a:solidFill>
                      <a:srgbClr val="FFFFFF"/>
                    </a:solidFill>
                  </a:tcPr>
                </a:tc>
                <a:tc>
                  <a:txBody>
                    <a:bodyPr/>
                    <a:lstStyle/>
                    <a:p>
                      <a:pPr marL="0" indent="0" algn="ctr">
                        <a:buNone/>
                      </a:pPr>
                      <a:r>
                        <a:rPr lang="en-US" sz="1200" b="1" dirty="0">
                          <a:solidFill>
                            <a:srgbClr val="4F2170"/>
                          </a:solidFill>
                          <a:latin typeface="Arial" pitchFamily="34" charset="0"/>
                          <a:ea typeface="Arial" pitchFamily="34" charset="-122"/>
                          <a:cs typeface="Arial" pitchFamily="34" charset="-120"/>
                        </a:rPr>
                        <a:t>Core Domains</a:t>
                      </a:r>
                      <a:endParaRPr lang="en-US" sz="1200" dirty="0">
                        <a:latin typeface="Arial" charset="0"/>
                        <a:ea typeface="Arial" charset="0"/>
                        <a:cs typeface="Arial" charset="0"/>
                      </a:endParaRPr>
                    </a:p>
                  </a:txBody>
                  <a:tcPr marL="76200" marR="76200" marT="50800" marB="50800" anchor="ctr">
                    <a:lnL w="6350" cap="flat" cmpd="sng" algn="ctr">
                      <a:solidFill>
                        <a:srgbClr val="E0D5E8"/>
                      </a:solidFill>
                      <a:prstDash val="solid"/>
                      <a:round/>
                      <a:headEnd type="none" w="med" len="med"/>
                      <a:tailEnd type="none" w="med" len="med"/>
                    </a:lnL>
                    <a:lnR w="6350" cap="flat" cmpd="sng" algn="ctr">
                      <a:solidFill>
                        <a:srgbClr val="E0D5E8"/>
                      </a:solidFill>
                      <a:prstDash val="solid"/>
                      <a:round/>
                      <a:headEnd type="none" w="med" len="med"/>
                      <a:tailEnd type="none" w="med" len="med"/>
                    </a:lnR>
                    <a:lnT w="6350" cap="flat" cmpd="sng" algn="ctr">
                      <a:solidFill>
                        <a:srgbClr val="E0D5E8"/>
                      </a:solidFill>
                      <a:prstDash val="solid"/>
                      <a:round/>
                      <a:headEnd type="none" w="med" len="med"/>
                      <a:tailEnd type="none" w="med" len="med"/>
                    </a:lnT>
                    <a:lnB w="6350" cap="flat" cmpd="sng" algn="ctr">
                      <a:solidFill>
                        <a:srgbClr val="E0D5E8"/>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D3D3D"/>
                          </a:solidFill>
                          <a:latin typeface="Calibri" pitchFamily="34" charset="0"/>
                          <a:ea typeface="Calibri" pitchFamily="34" charset="-122"/>
                          <a:cs typeface="Calibri" pitchFamily="34" charset="-120"/>
                        </a:rPr>
                        <a:t>Nov Wk 3 –</a:t>
                      </a:r>
                      <a:endParaRPr lang="en-US" sz="1100" dirty="0">
                        <a:latin typeface="Calibri" charset="0"/>
                        <a:ea typeface="Calibri" charset="0"/>
                        <a:cs typeface="Calibri" charset="0"/>
                      </a:endParaRPr>
                    </a:p>
                    <a:p>
                      <a:pPr marL="0" indent="0" algn="ctr">
                        <a:buNone/>
                      </a:pPr>
                      <a:r>
                        <a:rPr lang="en-US" sz="1100" dirty="0">
                          <a:solidFill>
                            <a:srgbClr val="3D3D3D"/>
                          </a:solidFill>
                          <a:latin typeface="Calibri" pitchFamily="34" charset="0"/>
                          <a:ea typeface="Calibri" pitchFamily="34" charset="-122"/>
                          <a:cs typeface="Calibri" pitchFamily="34" charset="-120"/>
                        </a:rPr>
                        <a:t>Dec Wk 1</a:t>
                      </a:r>
                      <a:endParaRPr lang="en-US" sz="1100" dirty="0">
                        <a:latin typeface="Calibri" charset="0"/>
                        <a:ea typeface="Calibri" charset="0"/>
                        <a:cs typeface="Calibri" charset="0"/>
                      </a:endParaRPr>
                    </a:p>
                  </a:txBody>
                  <a:tcPr marL="76200" marR="76200" marT="50800" marB="50800" anchor="ctr">
                    <a:lnL w="6350" cap="flat" cmpd="sng" algn="ctr">
                      <a:solidFill>
                        <a:srgbClr val="E0D5E8"/>
                      </a:solidFill>
                      <a:prstDash val="solid"/>
                      <a:round/>
                      <a:headEnd type="none" w="med" len="med"/>
                      <a:tailEnd type="none" w="med" len="med"/>
                    </a:lnL>
                    <a:lnR w="6350" cap="flat" cmpd="sng" algn="ctr">
                      <a:solidFill>
                        <a:srgbClr val="E0D5E8"/>
                      </a:solidFill>
                      <a:prstDash val="solid"/>
                      <a:round/>
                      <a:headEnd type="none" w="med" len="med"/>
                      <a:tailEnd type="none" w="med" len="med"/>
                    </a:lnR>
                    <a:lnT w="6350" cap="flat" cmpd="sng" algn="ctr">
                      <a:solidFill>
                        <a:srgbClr val="E0D5E8"/>
                      </a:solidFill>
                      <a:prstDash val="solid"/>
                      <a:round/>
                      <a:headEnd type="none" w="med" len="med"/>
                      <a:tailEnd type="none" w="med" len="med"/>
                    </a:lnT>
                    <a:lnB w="6350" cap="flat" cmpd="sng" algn="ctr">
                      <a:solidFill>
                        <a:srgbClr val="E0D5E8"/>
                      </a:solidFill>
                      <a:prstDash val="solid"/>
                      <a:round/>
                      <a:headEnd type="none" w="med" len="med"/>
                      <a:tailEnd type="none" w="med" len="med"/>
                    </a:lnB>
                    <a:solidFill>
                      <a:srgbClr val="FFFFFF"/>
                    </a:solidFill>
                  </a:tcPr>
                </a:tc>
                <a:tc>
                  <a:txBody>
                    <a:bodyPr/>
                    <a:lstStyle/>
                    <a:p>
                      <a:pPr marL="0" indent="0">
                        <a:buNone/>
                      </a:pPr>
                      <a:r>
                        <a:rPr lang="en-US" sz="1050" dirty="0">
                          <a:solidFill>
                            <a:srgbClr val="3D3D3D"/>
                          </a:solidFill>
                          <a:latin typeface="Calibri" pitchFamily="34" charset="0"/>
                          <a:ea typeface="Calibri" pitchFamily="34" charset="-122"/>
                          <a:cs typeface="Calibri" pitchFamily="34" charset="-120"/>
                        </a:rPr>
                        <a:t>• 6 canonical entities built with 8-block template</a:t>
                      </a:r>
                      <a:endParaRPr lang="en-US" sz="1050" dirty="0">
                        <a:latin typeface="Calibri" charset="0"/>
                        <a:ea typeface="Calibri" charset="0"/>
                        <a:cs typeface="Calibri" charset="0"/>
                      </a:endParaRPr>
                    </a:p>
                    <a:p>
                      <a:pPr marL="0" indent="0">
                        <a:buNone/>
                      </a:pPr>
                      <a:r>
                        <a:rPr lang="en-US" sz="1050" dirty="0">
                          <a:solidFill>
                            <a:srgbClr val="3D3D3D"/>
                          </a:solidFill>
                          <a:latin typeface="Calibri" pitchFamily="34" charset="0"/>
                          <a:ea typeface="Calibri" pitchFamily="34" charset="-122"/>
                          <a:cs typeface="Calibri" pitchFamily="34" charset="-120"/>
                        </a:rPr>
                        <a:t>• Quality gates passed; CDRB B &amp; E reviewed</a:t>
                      </a:r>
                      <a:endParaRPr lang="en-US" sz="1050" dirty="0">
                        <a:latin typeface="Calibri" charset="0"/>
                        <a:ea typeface="Calibri" charset="0"/>
                        <a:cs typeface="Calibri" charset="0"/>
                      </a:endParaRPr>
                    </a:p>
                    <a:p>
                      <a:pPr marL="0" indent="0">
                        <a:buNone/>
                      </a:pPr>
                      <a:r>
                        <a:rPr lang="en-US" sz="1050" dirty="0">
                          <a:solidFill>
                            <a:srgbClr val="3D3D3D"/>
                          </a:solidFill>
                          <a:latin typeface="Calibri" pitchFamily="34" charset="0"/>
                          <a:ea typeface="Calibri" pitchFamily="34" charset="-122"/>
                          <a:cs typeface="Calibri" pitchFamily="34" charset="-120"/>
                        </a:rPr>
                        <a:t>• MX &amp; WC ingestion running E2E in sandbox</a:t>
                      </a:r>
                      <a:endParaRPr lang="en-US" sz="1050" dirty="0">
                        <a:latin typeface="Calibri" charset="0"/>
                        <a:ea typeface="Calibri" charset="0"/>
                        <a:cs typeface="Calibri" charset="0"/>
                      </a:endParaRPr>
                    </a:p>
                  </a:txBody>
                  <a:tcPr marL="76200" marR="76200" marT="50800" marB="50800" anchor="ctr">
                    <a:lnL w="6350" cap="flat" cmpd="sng" algn="ctr">
                      <a:solidFill>
                        <a:srgbClr val="E0D5E8"/>
                      </a:solidFill>
                      <a:prstDash val="solid"/>
                      <a:round/>
                      <a:headEnd type="none" w="med" len="med"/>
                      <a:tailEnd type="none" w="med" len="med"/>
                    </a:lnL>
                    <a:lnR w="6350" cap="flat" cmpd="sng" algn="ctr">
                      <a:solidFill>
                        <a:srgbClr val="E0D5E8"/>
                      </a:solidFill>
                      <a:prstDash val="solid"/>
                      <a:round/>
                      <a:headEnd type="none" w="med" len="med"/>
                      <a:tailEnd type="none" w="med" len="med"/>
                    </a:lnR>
                    <a:lnT w="6350" cap="flat" cmpd="sng" algn="ctr">
                      <a:solidFill>
                        <a:srgbClr val="E0D5E8"/>
                      </a:solidFill>
                      <a:prstDash val="solid"/>
                      <a:round/>
                      <a:headEnd type="none" w="med" len="med"/>
                      <a:tailEnd type="none" w="med" len="med"/>
                    </a:lnT>
                    <a:lnB w="6350" cap="flat" cmpd="sng" algn="ctr">
                      <a:solidFill>
                        <a:srgbClr val="E0D5E8"/>
                      </a:solidFill>
                      <a:prstDash val="solid"/>
                      <a:round/>
                      <a:headEnd type="none" w="med" len="med"/>
                      <a:tailEnd type="none" w="med" len="med"/>
                    </a:lnB>
                    <a:solidFill>
                      <a:srgbClr val="FFFFFF"/>
                    </a:solidFill>
                  </a:tcPr>
                </a:tc>
                <a:tc>
                  <a:txBody>
                    <a:bodyPr/>
                    <a:lstStyle/>
                    <a:p>
                      <a:pPr marL="0" indent="0" algn="ctr">
                        <a:buNone/>
                      </a:pPr>
                      <a:r>
                        <a:rPr lang="en-US" sz="1200" b="1" dirty="0">
                          <a:solidFill>
                            <a:srgbClr val="4F2170"/>
                          </a:solidFill>
                          <a:latin typeface="Arial" pitchFamily="34" charset="0"/>
                          <a:ea typeface="Arial" pitchFamily="34" charset="-122"/>
                          <a:cs typeface="Arial" pitchFamily="34" charset="-120"/>
                        </a:rPr>
                        <a:t>B, E</a:t>
                      </a:r>
                      <a:endParaRPr lang="en-US" sz="1200" dirty="0">
                        <a:latin typeface="Arial" charset="0"/>
                        <a:ea typeface="Arial" charset="0"/>
                        <a:cs typeface="Arial" charset="0"/>
                      </a:endParaRPr>
                    </a:p>
                  </a:txBody>
                  <a:tcPr marL="76200" marR="76200" marT="50800" marB="50800" anchor="ctr">
                    <a:lnL w="6350" cap="flat" cmpd="sng" algn="ctr">
                      <a:solidFill>
                        <a:srgbClr val="E0D5E8"/>
                      </a:solidFill>
                      <a:prstDash val="solid"/>
                      <a:round/>
                      <a:headEnd type="none" w="med" len="med"/>
                      <a:tailEnd type="none" w="med" len="med"/>
                    </a:lnL>
                    <a:lnR w="6350" cap="flat" cmpd="sng" algn="ctr">
                      <a:solidFill>
                        <a:srgbClr val="E0D5E8"/>
                      </a:solidFill>
                      <a:prstDash val="solid"/>
                      <a:round/>
                      <a:headEnd type="none" w="med" len="med"/>
                      <a:tailEnd type="none" w="med" len="med"/>
                    </a:lnR>
                    <a:lnT w="6350" cap="flat" cmpd="sng" algn="ctr">
                      <a:solidFill>
                        <a:srgbClr val="E0D5E8"/>
                      </a:solidFill>
                      <a:prstDash val="solid"/>
                      <a:round/>
                      <a:headEnd type="none" w="med" len="med"/>
                      <a:tailEnd type="none" w="med" len="med"/>
                    </a:lnT>
                    <a:lnB w="6350" cap="flat" cmpd="sng" algn="ctr">
                      <a:solidFill>
                        <a:srgbClr val="E0D5E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1188720">
                <a:tc>
                  <a:txBody>
                    <a:bodyPr/>
                    <a:lstStyle/>
                    <a:p>
                      <a:pPr marL="0" indent="0" algn="ctr">
                        <a:buNone/>
                      </a:pPr>
                      <a:r>
                        <a:rPr lang="en-US" sz="1800" b="1" dirty="0">
                          <a:solidFill>
                            <a:srgbClr val="E18719"/>
                          </a:solidFill>
                          <a:latin typeface="Arial" pitchFamily="34" charset="0"/>
                          <a:ea typeface="Arial" pitchFamily="34" charset="-122"/>
                          <a:cs typeface="Arial" pitchFamily="34" charset="-120"/>
                        </a:rPr>
                        <a:t>3</a:t>
                      </a:r>
                      <a:endParaRPr lang="en-US" sz="1800" dirty="0">
                        <a:latin typeface="Arial" charset="0"/>
                        <a:ea typeface="Arial" charset="0"/>
                        <a:cs typeface="Arial" charset="0"/>
                      </a:endParaRPr>
                    </a:p>
                  </a:txBody>
                  <a:tcPr marL="76200" marR="76200" marT="50800" marB="50800" anchor="ctr">
                    <a:lnL w="6350" cap="flat" cmpd="sng" algn="ctr">
                      <a:solidFill>
                        <a:srgbClr val="E0D5E8"/>
                      </a:solidFill>
                      <a:prstDash val="solid"/>
                      <a:round/>
                      <a:headEnd type="none" w="med" len="med"/>
                      <a:tailEnd type="none" w="med" len="med"/>
                    </a:lnL>
                    <a:lnR w="6350" cap="flat" cmpd="sng" algn="ctr">
                      <a:solidFill>
                        <a:srgbClr val="E0D5E8"/>
                      </a:solidFill>
                      <a:prstDash val="solid"/>
                      <a:round/>
                      <a:headEnd type="none" w="med" len="med"/>
                      <a:tailEnd type="none" w="med" len="med"/>
                    </a:lnR>
                    <a:lnT w="6350" cap="flat" cmpd="sng" algn="ctr">
                      <a:solidFill>
                        <a:srgbClr val="E0D5E8"/>
                      </a:solidFill>
                      <a:prstDash val="solid"/>
                      <a:round/>
                      <a:headEnd type="none" w="med" len="med"/>
                      <a:tailEnd type="none" w="med" len="med"/>
                    </a:lnT>
                    <a:lnB w="6350" cap="flat" cmpd="sng" algn="ctr">
                      <a:solidFill>
                        <a:srgbClr val="E0D5E8"/>
                      </a:solidFill>
                      <a:prstDash val="solid"/>
                      <a:round/>
                      <a:headEnd type="none" w="med" len="med"/>
                      <a:tailEnd type="none" w="med" len="med"/>
                    </a:lnB>
                    <a:solidFill>
                      <a:srgbClr val="FFF3E5"/>
                    </a:solidFill>
                  </a:tcPr>
                </a:tc>
                <a:tc>
                  <a:txBody>
                    <a:bodyPr/>
                    <a:lstStyle/>
                    <a:p>
                      <a:pPr marL="0" indent="0" algn="ctr">
                        <a:buNone/>
                      </a:pPr>
                      <a:r>
                        <a:rPr lang="en-US" sz="1200" b="1" dirty="0">
                          <a:solidFill>
                            <a:srgbClr val="4F2170"/>
                          </a:solidFill>
                          <a:latin typeface="Arial" pitchFamily="34" charset="0"/>
                          <a:ea typeface="Arial" pitchFamily="34" charset="-122"/>
                          <a:cs typeface="Arial" pitchFamily="34" charset="-120"/>
                        </a:rPr>
                        <a:t>KPI Domains</a:t>
                      </a:r>
                      <a:endParaRPr lang="en-US" sz="1200" dirty="0">
                        <a:latin typeface="Arial" charset="0"/>
                        <a:ea typeface="Arial" charset="0"/>
                        <a:cs typeface="Arial" charset="0"/>
                      </a:endParaRPr>
                    </a:p>
                  </a:txBody>
                  <a:tcPr marL="76200" marR="76200" marT="50800" marB="50800" anchor="ctr">
                    <a:lnL w="6350" cap="flat" cmpd="sng" algn="ctr">
                      <a:solidFill>
                        <a:srgbClr val="E0D5E8"/>
                      </a:solidFill>
                      <a:prstDash val="solid"/>
                      <a:round/>
                      <a:headEnd type="none" w="med" len="med"/>
                      <a:tailEnd type="none" w="med" len="med"/>
                    </a:lnL>
                    <a:lnR w="6350" cap="flat" cmpd="sng" algn="ctr">
                      <a:solidFill>
                        <a:srgbClr val="E0D5E8"/>
                      </a:solidFill>
                      <a:prstDash val="solid"/>
                      <a:round/>
                      <a:headEnd type="none" w="med" len="med"/>
                      <a:tailEnd type="none" w="med" len="med"/>
                    </a:lnR>
                    <a:lnT w="6350" cap="flat" cmpd="sng" algn="ctr">
                      <a:solidFill>
                        <a:srgbClr val="E0D5E8"/>
                      </a:solidFill>
                      <a:prstDash val="solid"/>
                      <a:round/>
                      <a:headEnd type="none" w="med" len="med"/>
                      <a:tailEnd type="none" w="med" len="med"/>
                    </a:lnT>
                    <a:lnB w="6350" cap="flat" cmpd="sng" algn="ctr">
                      <a:solidFill>
                        <a:srgbClr val="E0D5E8"/>
                      </a:solidFill>
                      <a:prstDash val="solid"/>
                      <a:round/>
                      <a:headEnd type="none" w="med" len="med"/>
                      <a:tailEnd type="none" w="med" len="med"/>
                    </a:lnB>
                    <a:solidFill>
                      <a:srgbClr val="FFF3E5"/>
                    </a:solidFill>
                  </a:tcPr>
                </a:tc>
                <a:tc>
                  <a:txBody>
                    <a:bodyPr/>
                    <a:lstStyle/>
                    <a:p>
                      <a:pPr marL="0" indent="0" algn="ctr">
                        <a:buNone/>
                      </a:pPr>
                      <a:r>
                        <a:rPr lang="en-US" sz="1100" dirty="0">
                          <a:solidFill>
                            <a:srgbClr val="3D3D3D"/>
                          </a:solidFill>
                          <a:latin typeface="Calibri" pitchFamily="34" charset="0"/>
                          <a:ea typeface="Calibri" pitchFamily="34" charset="-122"/>
                          <a:cs typeface="Calibri" pitchFamily="34" charset="-120"/>
                        </a:rPr>
                        <a:t>Dec Wk 2–4</a:t>
                      </a:r>
                      <a:endParaRPr lang="en-US" sz="1100" dirty="0">
                        <a:latin typeface="Calibri" charset="0"/>
                        <a:ea typeface="Calibri" charset="0"/>
                        <a:cs typeface="Calibri" charset="0"/>
                      </a:endParaRPr>
                    </a:p>
                  </a:txBody>
                  <a:tcPr marL="76200" marR="76200" marT="50800" marB="50800" anchor="ctr">
                    <a:lnL w="6350" cap="flat" cmpd="sng" algn="ctr">
                      <a:solidFill>
                        <a:srgbClr val="E0D5E8"/>
                      </a:solidFill>
                      <a:prstDash val="solid"/>
                      <a:round/>
                      <a:headEnd type="none" w="med" len="med"/>
                      <a:tailEnd type="none" w="med" len="med"/>
                    </a:lnL>
                    <a:lnR w="6350" cap="flat" cmpd="sng" algn="ctr">
                      <a:solidFill>
                        <a:srgbClr val="E0D5E8"/>
                      </a:solidFill>
                      <a:prstDash val="solid"/>
                      <a:round/>
                      <a:headEnd type="none" w="med" len="med"/>
                      <a:tailEnd type="none" w="med" len="med"/>
                    </a:lnR>
                    <a:lnT w="6350" cap="flat" cmpd="sng" algn="ctr">
                      <a:solidFill>
                        <a:srgbClr val="E0D5E8"/>
                      </a:solidFill>
                      <a:prstDash val="solid"/>
                      <a:round/>
                      <a:headEnd type="none" w="med" len="med"/>
                      <a:tailEnd type="none" w="med" len="med"/>
                    </a:lnT>
                    <a:lnB w="6350" cap="flat" cmpd="sng" algn="ctr">
                      <a:solidFill>
                        <a:srgbClr val="E0D5E8"/>
                      </a:solidFill>
                      <a:prstDash val="solid"/>
                      <a:round/>
                      <a:headEnd type="none" w="med" len="med"/>
                      <a:tailEnd type="none" w="med" len="med"/>
                    </a:lnB>
                    <a:solidFill>
                      <a:srgbClr val="FFF3E5"/>
                    </a:solidFill>
                  </a:tcPr>
                </a:tc>
                <a:tc>
                  <a:txBody>
                    <a:bodyPr/>
                    <a:lstStyle/>
                    <a:p>
                      <a:pPr marL="0" indent="0">
                        <a:buNone/>
                      </a:pPr>
                      <a:r>
                        <a:rPr lang="en-US" sz="1050" dirty="0">
                          <a:solidFill>
                            <a:srgbClr val="3D3D3D"/>
                          </a:solidFill>
                          <a:latin typeface="Calibri" pitchFamily="34" charset="0"/>
                          <a:ea typeface="Calibri" pitchFamily="34" charset="-122"/>
                          <a:cs typeface="Calibri" pitchFamily="34" charset="-120"/>
                        </a:rPr>
                        <a:t>• 8-step repeatable template per domain</a:t>
                      </a:r>
                      <a:endParaRPr lang="en-US" sz="1050" dirty="0">
                        <a:latin typeface="Calibri" charset="0"/>
                        <a:ea typeface="Calibri" charset="0"/>
                        <a:cs typeface="Calibri" charset="0"/>
                      </a:endParaRPr>
                    </a:p>
                    <a:p>
                      <a:pPr marL="0" indent="0">
                        <a:buNone/>
                      </a:pPr>
                      <a:r>
                        <a:rPr lang="en-US" sz="1050" dirty="0">
                          <a:solidFill>
                            <a:srgbClr val="3D3D3D"/>
                          </a:solidFill>
                          <a:latin typeface="Calibri" pitchFamily="34" charset="0"/>
                          <a:ea typeface="Calibri" pitchFamily="34" charset="-122"/>
                          <a:cs typeface="Calibri" pitchFamily="34" charset="-120"/>
                        </a:rPr>
                        <a:t>• All KPI domains complete with metric views &amp; Genie</a:t>
                      </a:r>
                      <a:endParaRPr lang="en-US" sz="1050" dirty="0">
                        <a:latin typeface="Calibri" charset="0"/>
                        <a:ea typeface="Calibri" charset="0"/>
                        <a:cs typeface="Calibri" charset="0"/>
                      </a:endParaRPr>
                    </a:p>
                    <a:p>
                      <a:pPr marL="0" indent="0">
                        <a:buNone/>
                      </a:pPr>
                      <a:r>
                        <a:rPr lang="en-US" sz="1050" dirty="0">
                          <a:solidFill>
                            <a:srgbClr val="3D3D3D"/>
                          </a:solidFill>
                          <a:latin typeface="Calibri" pitchFamily="34" charset="0"/>
                          <a:ea typeface="Calibri" pitchFamily="34" charset="-122"/>
                          <a:cs typeface="Calibri" pitchFamily="34" charset="-120"/>
                        </a:rPr>
                        <a:t>• AI/BI dashboards validated against baselines</a:t>
                      </a:r>
                      <a:endParaRPr lang="en-US" sz="1050" dirty="0">
                        <a:latin typeface="Calibri" charset="0"/>
                        <a:ea typeface="Calibri" charset="0"/>
                        <a:cs typeface="Calibri" charset="0"/>
                      </a:endParaRPr>
                    </a:p>
                  </a:txBody>
                  <a:tcPr marL="76200" marR="76200" marT="50800" marB="50800" anchor="ctr">
                    <a:lnL w="6350" cap="flat" cmpd="sng" algn="ctr">
                      <a:solidFill>
                        <a:srgbClr val="E0D5E8"/>
                      </a:solidFill>
                      <a:prstDash val="solid"/>
                      <a:round/>
                      <a:headEnd type="none" w="med" len="med"/>
                      <a:tailEnd type="none" w="med" len="med"/>
                    </a:lnL>
                    <a:lnR w="6350" cap="flat" cmpd="sng" algn="ctr">
                      <a:solidFill>
                        <a:srgbClr val="E0D5E8"/>
                      </a:solidFill>
                      <a:prstDash val="solid"/>
                      <a:round/>
                      <a:headEnd type="none" w="med" len="med"/>
                      <a:tailEnd type="none" w="med" len="med"/>
                    </a:lnR>
                    <a:lnT w="6350" cap="flat" cmpd="sng" algn="ctr">
                      <a:solidFill>
                        <a:srgbClr val="E0D5E8"/>
                      </a:solidFill>
                      <a:prstDash val="solid"/>
                      <a:round/>
                      <a:headEnd type="none" w="med" len="med"/>
                      <a:tailEnd type="none" w="med" len="med"/>
                    </a:lnT>
                    <a:lnB w="6350" cap="flat" cmpd="sng" algn="ctr">
                      <a:solidFill>
                        <a:srgbClr val="E0D5E8"/>
                      </a:solidFill>
                      <a:prstDash val="solid"/>
                      <a:round/>
                      <a:headEnd type="none" w="med" len="med"/>
                      <a:tailEnd type="none" w="med" len="med"/>
                    </a:lnB>
                    <a:solidFill>
                      <a:srgbClr val="FFF3E5"/>
                    </a:solidFill>
                  </a:tcPr>
                </a:tc>
                <a:tc>
                  <a:txBody>
                    <a:bodyPr/>
                    <a:lstStyle/>
                    <a:p>
                      <a:pPr marL="0" indent="0" algn="ctr">
                        <a:buNone/>
                      </a:pPr>
                      <a:r>
                        <a:rPr lang="en-US" sz="1100" b="1" dirty="0">
                          <a:solidFill>
                            <a:srgbClr val="4F2170"/>
                          </a:solidFill>
                          <a:latin typeface="Arial" pitchFamily="34" charset="0"/>
                          <a:ea typeface="Arial" pitchFamily="34" charset="-122"/>
                          <a:cs typeface="Arial" pitchFamily="34" charset="-120"/>
                        </a:rPr>
                        <a:t>F, G, H,</a:t>
                      </a:r>
                      <a:endParaRPr lang="en-US" sz="1100" dirty="0">
                        <a:latin typeface="Arial" charset="0"/>
                        <a:ea typeface="Arial" charset="0"/>
                        <a:cs typeface="Arial" charset="0"/>
                      </a:endParaRPr>
                    </a:p>
                    <a:p>
                      <a:pPr marL="0" indent="0" algn="ctr">
                        <a:buNone/>
                      </a:pPr>
                      <a:r>
                        <a:rPr lang="en-US" sz="1100" b="1" dirty="0">
                          <a:solidFill>
                            <a:srgbClr val="4F2170"/>
                          </a:solidFill>
                          <a:latin typeface="Arial" pitchFamily="34" charset="0"/>
                          <a:ea typeface="Arial" pitchFamily="34" charset="-122"/>
                          <a:cs typeface="Arial" pitchFamily="34" charset="-120"/>
                        </a:rPr>
                        <a:t>I, J, K, L</a:t>
                      </a:r>
                      <a:endParaRPr lang="en-US" sz="1100" dirty="0">
                        <a:latin typeface="Arial" charset="0"/>
                        <a:ea typeface="Arial" charset="0"/>
                        <a:cs typeface="Arial" charset="0"/>
                      </a:endParaRPr>
                    </a:p>
                  </a:txBody>
                  <a:tcPr marL="76200" marR="76200" marT="50800" marB="50800" anchor="ctr">
                    <a:lnL w="6350" cap="flat" cmpd="sng" algn="ctr">
                      <a:solidFill>
                        <a:srgbClr val="E0D5E8"/>
                      </a:solidFill>
                      <a:prstDash val="solid"/>
                      <a:round/>
                      <a:headEnd type="none" w="med" len="med"/>
                      <a:tailEnd type="none" w="med" len="med"/>
                    </a:lnL>
                    <a:lnR w="6350" cap="flat" cmpd="sng" algn="ctr">
                      <a:solidFill>
                        <a:srgbClr val="E0D5E8"/>
                      </a:solidFill>
                      <a:prstDash val="solid"/>
                      <a:round/>
                      <a:headEnd type="none" w="med" len="med"/>
                      <a:tailEnd type="none" w="med" len="med"/>
                    </a:lnR>
                    <a:lnT w="6350" cap="flat" cmpd="sng" algn="ctr">
                      <a:solidFill>
                        <a:srgbClr val="E0D5E8"/>
                      </a:solidFill>
                      <a:prstDash val="solid"/>
                      <a:round/>
                      <a:headEnd type="none" w="med" len="med"/>
                      <a:tailEnd type="none" w="med" len="med"/>
                    </a:lnT>
                    <a:lnB w="6350" cap="flat" cmpd="sng" algn="ctr">
                      <a:solidFill>
                        <a:srgbClr val="E0D5E8"/>
                      </a:solidFill>
                      <a:prstDash val="solid"/>
                      <a:round/>
                      <a:headEnd type="none" w="med" len="med"/>
                      <a:tailEnd type="none" w="med" len="med"/>
                    </a:lnB>
                    <a:solidFill>
                      <a:srgbClr val="FFF3E5"/>
                    </a:solidFill>
                  </a:tcPr>
                </a:tc>
                <a:extLst>
                  <a:ext uri="{0D108BD9-81ED-4DB2-BD59-A6C34878D82A}">
                    <a16:rowId xmlns:a16="http://schemas.microsoft.com/office/drawing/2014/main" val="10003"/>
                  </a:ext>
                </a:extLst>
              </a:tr>
            </a:tbl>
          </a:graphicData>
        </a:graphic>
      </p:graphicFrame>
      <p:sp>
        <p:nvSpPr>
          <p:cNvPr id="9" name="Shape 6"/>
          <p:cNvSpPr/>
          <p:nvPr/>
        </p:nvSpPr>
        <p:spPr>
          <a:xfrm>
            <a:off x="548640" y="5303520"/>
            <a:ext cx="11064240" cy="36576"/>
          </a:xfrm>
          <a:prstGeom prst="rect">
            <a:avLst/>
          </a:prstGeom>
          <a:solidFill>
            <a:srgbClr val="4F2170"/>
          </a:solidFill>
          <a:ln/>
        </p:spPr>
        <p:txBody>
          <a:bodyPr/>
          <a:lstStyle/>
          <a:p>
            <a:endParaRPr lang="en-US"/>
          </a:p>
        </p:txBody>
      </p:sp>
      <p:sp>
        <p:nvSpPr>
          <p:cNvPr id="10" name="Shape 7"/>
          <p:cNvSpPr/>
          <p:nvPr/>
        </p:nvSpPr>
        <p:spPr>
          <a:xfrm>
            <a:off x="1005840" y="5440680"/>
            <a:ext cx="2743200" cy="365760"/>
          </a:xfrm>
          <a:prstGeom prst="roundRect">
            <a:avLst>
              <a:gd name="adj" fmla="val 12500"/>
            </a:avLst>
          </a:prstGeom>
          <a:solidFill>
            <a:srgbClr val="E18719"/>
          </a:solidFill>
          <a:ln/>
        </p:spPr>
        <p:txBody>
          <a:bodyPr/>
          <a:lstStyle/>
          <a:p>
            <a:endParaRPr lang="en-US"/>
          </a:p>
        </p:txBody>
      </p:sp>
      <p:sp>
        <p:nvSpPr>
          <p:cNvPr id="11" name="Text 8"/>
          <p:cNvSpPr/>
          <p:nvPr/>
        </p:nvSpPr>
        <p:spPr>
          <a:xfrm>
            <a:off x="1005840" y="5440680"/>
            <a:ext cx="2743200" cy="365760"/>
          </a:xfrm>
          <a:prstGeom prst="rect">
            <a:avLst/>
          </a:prstGeom>
          <a:noFill/>
          <a:ln/>
        </p:spPr>
        <p:txBody>
          <a:bodyPr wrap="square"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Phase 1: Foundations</a:t>
            </a:r>
            <a:endParaRPr lang="en-US" sz="1100" dirty="0"/>
          </a:p>
        </p:txBody>
      </p:sp>
      <p:sp>
        <p:nvSpPr>
          <p:cNvPr id="12" name="Text 9"/>
          <p:cNvSpPr/>
          <p:nvPr/>
        </p:nvSpPr>
        <p:spPr>
          <a:xfrm>
            <a:off x="3749040" y="5440680"/>
            <a:ext cx="457200" cy="365760"/>
          </a:xfrm>
          <a:prstGeom prst="rect">
            <a:avLst/>
          </a:prstGeom>
          <a:noFill/>
          <a:ln/>
        </p:spPr>
        <p:txBody>
          <a:bodyPr wrap="square" rtlCol="0" anchor="ctr"/>
          <a:lstStyle/>
          <a:p>
            <a:pPr marL="0" indent="0" algn="ctr">
              <a:buNone/>
            </a:pPr>
            <a:r>
              <a:rPr lang="en-US" sz="1400" dirty="0">
                <a:solidFill>
                  <a:srgbClr val="BBBBBB"/>
                </a:solidFill>
              </a:rPr>
              <a:t>▶</a:t>
            </a:r>
            <a:endParaRPr lang="en-US" sz="1400" dirty="0"/>
          </a:p>
        </p:txBody>
      </p:sp>
      <p:sp>
        <p:nvSpPr>
          <p:cNvPr id="13" name="Shape 10"/>
          <p:cNvSpPr/>
          <p:nvPr/>
        </p:nvSpPr>
        <p:spPr>
          <a:xfrm>
            <a:off x="4754880" y="5440680"/>
            <a:ext cx="2743200" cy="365760"/>
          </a:xfrm>
          <a:prstGeom prst="roundRect">
            <a:avLst>
              <a:gd name="adj" fmla="val 12500"/>
            </a:avLst>
          </a:prstGeom>
          <a:solidFill>
            <a:srgbClr val="4F2170"/>
          </a:solidFill>
          <a:ln/>
        </p:spPr>
        <p:txBody>
          <a:bodyPr/>
          <a:lstStyle/>
          <a:p>
            <a:endParaRPr lang="en-US"/>
          </a:p>
        </p:txBody>
      </p:sp>
      <p:sp>
        <p:nvSpPr>
          <p:cNvPr id="14" name="Text 11"/>
          <p:cNvSpPr/>
          <p:nvPr/>
        </p:nvSpPr>
        <p:spPr>
          <a:xfrm>
            <a:off x="4754880" y="5440680"/>
            <a:ext cx="2743200" cy="365760"/>
          </a:xfrm>
          <a:prstGeom prst="rect">
            <a:avLst/>
          </a:prstGeom>
          <a:noFill/>
          <a:ln/>
        </p:spPr>
        <p:txBody>
          <a:bodyPr wrap="square"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Phase 2: Core Domains</a:t>
            </a:r>
            <a:endParaRPr lang="en-US" sz="1100" dirty="0"/>
          </a:p>
        </p:txBody>
      </p:sp>
      <p:sp>
        <p:nvSpPr>
          <p:cNvPr id="15" name="Text 12"/>
          <p:cNvSpPr/>
          <p:nvPr/>
        </p:nvSpPr>
        <p:spPr>
          <a:xfrm>
            <a:off x="7498080" y="5440680"/>
            <a:ext cx="457200" cy="365760"/>
          </a:xfrm>
          <a:prstGeom prst="rect">
            <a:avLst/>
          </a:prstGeom>
          <a:noFill/>
          <a:ln/>
        </p:spPr>
        <p:txBody>
          <a:bodyPr wrap="square" rtlCol="0" anchor="ctr"/>
          <a:lstStyle/>
          <a:p>
            <a:pPr marL="0" indent="0" algn="ctr">
              <a:buNone/>
            </a:pPr>
            <a:r>
              <a:rPr lang="en-US" sz="1400" dirty="0">
                <a:solidFill>
                  <a:srgbClr val="BBBBBB"/>
                </a:solidFill>
              </a:rPr>
              <a:t>▶</a:t>
            </a:r>
            <a:endParaRPr lang="en-US" sz="1400" dirty="0"/>
          </a:p>
        </p:txBody>
      </p:sp>
      <p:sp>
        <p:nvSpPr>
          <p:cNvPr id="16" name="Shape 13"/>
          <p:cNvSpPr/>
          <p:nvPr/>
        </p:nvSpPr>
        <p:spPr>
          <a:xfrm>
            <a:off x="8503920" y="5440680"/>
            <a:ext cx="2743200" cy="365760"/>
          </a:xfrm>
          <a:prstGeom prst="roundRect">
            <a:avLst>
              <a:gd name="adj" fmla="val 12500"/>
            </a:avLst>
          </a:prstGeom>
          <a:solidFill>
            <a:srgbClr val="287819"/>
          </a:solidFill>
          <a:ln/>
        </p:spPr>
        <p:txBody>
          <a:bodyPr/>
          <a:lstStyle/>
          <a:p>
            <a:endParaRPr lang="en-US"/>
          </a:p>
        </p:txBody>
      </p:sp>
      <p:sp>
        <p:nvSpPr>
          <p:cNvPr id="17" name="Text 14"/>
          <p:cNvSpPr/>
          <p:nvPr/>
        </p:nvSpPr>
        <p:spPr>
          <a:xfrm>
            <a:off x="8503920" y="5440680"/>
            <a:ext cx="2743200" cy="365760"/>
          </a:xfrm>
          <a:prstGeom prst="rect">
            <a:avLst/>
          </a:prstGeom>
          <a:noFill/>
          <a:ln/>
        </p:spPr>
        <p:txBody>
          <a:bodyPr wrap="square"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Phase 3: KPI Domains</a:t>
            </a:r>
            <a:endParaRPr lang="en-US" sz="1100" dirty="0"/>
          </a:p>
        </p:txBody>
      </p:sp>
      <p:sp>
        <p:nvSpPr>
          <p:cNvPr id="18" name="Text 15"/>
          <p:cNvSpPr/>
          <p:nvPr/>
        </p:nvSpPr>
        <p:spPr>
          <a:xfrm>
            <a:off x="548640" y="5943600"/>
            <a:ext cx="10972800" cy="274320"/>
          </a:xfrm>
          <a:prstGeom prst="rect">
            <a:avLst/>
          </a:prstGeom>
          <a:noFill/>
          <a:ln/>
        </p:spPr>
        <p:txBody>
          <a:bodyPr wrap="square" rtlCol="0" anchor="ctr"/>
          <a:lstStyle/>
          <a:p>
            <a:pPr marL="0" indent="0">
              <a:buNone/>
            </a:pPr>
            <a:r>
              <a:rPr lang="en-US" sz="1100" i="1" dirty="0">
                <a:solidFill>
                  <a:srgbClr val="4F2170"/>
                </a:solidFill>
                <a:latin typeface="Calibri" pitchFamily="34" charset="0"/>
                <a:ea typeface="Calibri" pitchFamily="34" charset="-122"/>
                <a:cs typeface="Calibri" pitchFamily="34" charset="-120"/>
              </a:rPr>
              <a:t>Each phase has a formal CDRB quality gate that must be passed before advancing to the next phase.</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4F2170"/>
          </a:solidFill>
          <a:ln/>
        </p:spPr>
        <p:txBody>
          <a:bodyPr/>
          <a:lstStyle/>
          <a:p>
            <a:endParaRPr lang="en-US"/>
          </a:p>
        </p:txBody>
      </p:sp>
      <p:sp>
        <p:nvSpPr>
          <p:cNvPr id="3" name="Text 1"/>
          <p:cNvSpPr/>
          <p:nvPr/>
        </p:nvSpPr>
        <p:spPr>
          <a:xfrm>
            <a:off x="548640" y="137160"/>
            <a:ext cx="10515600" cy="502920"/>
          </a:xfrm>
          <a:prstGeom prst="rect">
            <a:avLst/>
          </a:prstGeom>
          <a:noFill/>
          <a:ln/>
        </p:spPr>
        <p:txBody>
          <a:bodyPr wrap="square" rtlCol="0" anchor="ctr"/>
          <a:lstStyle/>
          <a:p>
            <a:pPr marL="0" indent="0">
              <a:buNone/>
            </a:pPr>
            <a:r>
              <a:rPr lang="en-US" sz="2400" dirty="0">
                <a:solidFill>
                  <a:srgbClr val="FFFFFF"/>
                </a:solidFill>
                <a:latin typeface="Arial" pitchFamily="34" charset="0"/>
                <a:ea typeface="Arial" pitchFamily="34" charset="-122"/>
                <a:cs typeface="Arial" pitchFamily="34" charset="-120"/>
              </a:rPr>
              <a:t>CDRB Section-to-Month Mapping for WS-1</a:t>
            </a:r>
            <a:endParaRPr lang="en-US" sz="2400" dirty="0"/>
          </a:p>
        </p:txBody>
      </p:sp>
      <p:sp>
        <p:nvSpPr>
          <p:cNvPr id="4" name="Text 2"/>
          <p:cNvSpPr/>
          <p:nvPr/>
        </p:nvSpPr>
        <p:spPr>
          <a:xfrm>
            <a:off x="548640" y="594360"/>
            <a:ext cx="10515600" cy="320040"/>
          </a:xfrm>
          <a:prstGeom prst="rect">
            <a:avLst/>
          </a:prstGeom>
          <a:noFill/>
          <a:ln/>
        </p:spPr>
        <p:txBody>
          <a:bodyPr wrap="square" rtlCol="0" anchor="ctr"/>
          <a:lstStyle/>
          <a:p>
            <a:pPr marL="0" indent="0">
              <a:buNone/>
            </a:pPr>
            <a:r>
              <a:rPr lang="en-US" sz="1300" dirty="0">
                <a:solidFill>
                  <a:srgbClr val="E8DFF0"/>
                </a:solidFill>
                <a:latin typeface="Calibri" pitchFamily="34" charset="0"/>
                <a:ea typeface="Calibri" pitchFamily="34" charset="-122"/>
                <a:cs typeface="Calibri" pitchFamily="34" charset="-120"/>
              </a:rPr>
              <a:t>November &amp; December Quality Gates</a:t>
            </a:r>
            <a:endParaRPr lang="en-US" sz="1300" dirty="0"/>
          </a:p>
        </p:txBody>
      </p:sp>
      <p:sp>
        <p:nvSpPr>
          <p:cNvPr id="5" name="Shape 3"/>
          <p:cNvSpPr/>
          <p:nvPr/>
        </p:nvSpPr>
        <p:spPr>
          <a:xfrm>
            <a:off x="0" y="6492240"/>
            <a:ext cx="12188952" cy="365760"/>
          </a:xfrm>
          <a:prstGeom prst="rect">
            <a:avLst/>
          </a:prstGeom>
          <a:solidFill>
            <a:srgbClr val="3A1854"/>
          </a:solidFill>
          <a:ln/>
        </p:spPr>
        <p:txBody>
          <a:bodyPr/>
          <a:lstStyle/>
          <a:p>
            <a:endParaRPr lang="en-US"/>
          </a:p>
        </p:txBody>
      </p:sp>
      <p:sp>
        <p:nvSpPr>
          <p:cNvPr id="6" name="Text 4"/>
          <p:cNvSpPr/>
          <p:nvPr/>
        </p:nvSpPr>
        <p:spPr>
          <a:xfrm>
            <a:off x="548640" y="6510528"/>
            <a:ext cx="9144000" cy="320040"/>
          </a:xfrm>
          <a:prstGeom prst="rect">
            <a:avLst/>
          </a:prstGeom>
          <a:noFill/>
          <a:ln/>
        </p:spPr>
        <p:txBody>
          <a:bodyPr wrap="square" rtlCol="0" anchor="ctr"/>
          <a:lstStyle/>
          <a:p>
            <a:pPr marL="0" indent="0">
              <a:buNone/>
            </a:pPr>
            <a:r>
              <a:rPr lang="en-US" sz="900" dirty="0">
                <a:solidFill>
                  <a:srgbClr val="E8DFF0"/>
                </a:solidFill>
                <a:latin typeface="Calibri" pitchFamily="34" charset="0"/>
                <a:ea typeface="Calibri" pitchFamily="34" charset="-122"/>
                <a:cs typeface="Calibri" pitchFamily="34" charset="-120"/>
              </a:rPr>
              <a:t>LA OSA 2.0 Blueprint Workshop  |  Day 3 Morning  |  WS-1: Mexico &amp; Wacam</a:t>
            </a:r>
            <a:endParaRPr lang="en-US" sz="900" dirty="0"/>
          </a:p>
        </p:txBody>
      </p:sp>
      <p:sp>
        <p:nvSpPr>
          <p:cNvPr id="7" name="Text 5"/>
          <p:cNvSpPr/>
          <p:nvPr/>
        </p:nvSpPr>
        <p:spPr>
          <a:xfrm>
            <a:off x="10972800" y="6510528"/>
            <a:ext cx="914400" cy="320040"/>
          </a:xfrm>
          <a:prstGeom prst="rect">
            <a:avLst/>
          </a:prstGeom>
          <a:noFill/>
          <a:ln/>
        </p:spPr>
        <p:txBody>
          <a:bodyPr wrap="square" rtlCol="0" anchor="ctr"/>
          <a:lstStyle/>
          <a:p>
            <a:pPr marL="0" indent="0" algn="r">
              <a:buNone/>
            </a:pPr>
            <a:r>
              <a:rPr lang="en-US" sz="900" dirty="0">
                <a:solidFill>
                  <a:srgbClr val="E8DFF0"/>
                </a:solidFill>
                <a:latin typeface="Calibri" pitchFamily="34" charset="0"/>
                <a:ea typeface="Calibri" pitchFamily="34" charset="-122"/>
                <a:cs typeface="Calibri" pitchFamily="34" charset="-120"/>
              </a:rPr>
              <a:t>19 / 20</a:t>
            </a:r>
            <a:endParaRPr lang="en-US" sz="9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54864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gridCol w="2286000">
                  <a:extLst>
                    <a:ext uri="{9D8B030D-6E8A-4147-A177-3AD203B41FA5}">
                      <a16:colId xmlns:a16="http://schemas.microsoft.com/office/drawing/2014/main" val="20004"/>
                    </a:ext>
                  </a:extLst>
                </a:gridCol>
              </a:tblGrid>
              <a:tr h="365760">
                <a:tc>
                  <a:txBody>
                    <a:bodyPr/>
                    <a:lstStyle/>
                    <a:p>
                      <a:pPr marL="0" indent="0" algn="ctr">
                        <a:buNone/>
                      </a:pPr>
                      <a:r>
                        <a:rPr lang="en-US" sz="1000" b="1" dirty="0">
                          <a:solidFill>
                            <a:srgbClr val="FFFFFF"/>
                          </a:solidFill>
                          <a:latin typeface="Arial" pitchFamily="34" charset="0"/>
                          <a:ea typeface="Arial" pitchFamily="34" charset="-122"/>
                          <a:cs typeface="Arial" pitchFamily="34" charset="-120"/>
                        </a:rPr>
                        <a:t>Sec.</a:t>
                      </a:r>
                      <a:endParaRPr lang="en-US" sz="1000" dirty="0">
                        <a:latin typeface="Arial" charset="0"/>
                        <a:ea typeface="Arial" charset="0"/>
                        <a:cs typeface="Arial" charset="0"/>
                      </a:endParaRPr>
                    </a:p>
                  </a:txBody>
                  <a:tcPr marL="63500" marR="63500" marT="38100" marB="38100" anchor="ctr">
                    <a:lnL w="6350" cap="flat" cmpd="sng" algn="ctr">
                      <a:solidFill>
                        <a:srgbClr val="4F2170"/>
                      </a:solidFill>
                      <a:prstDash val="solid"/>
                      <a:round/>
                      <a:headEnd type="none" w="med" len="med"/>
                      <a:tailEnd type="none" w="med" len="med"/>
                    </a:lnL>
                    <a:lnR w="6350" cap="flat" cmpd="sng" algn="ctr">
                      <a:solidFill>
                        <a:srgbClr val="4F2170"/>
                      </a:solidFill>
                      <a:prstDash val="solid"/>
                      <a:round/>
                      <a:headEnd type="none" w="med" len="med"/>
                      <a:tailEnd type="none" w="med" len="med"/>
                    </a:lnR>
                    <a:lnT w="6350" cap="flat" cmpd="sng" algn="ctr">
                      <a:solidFill>
                        <a:srgbClr val="4F2170"/>
                      </a:solidFill>
                      <a:prstDash val="solid"/>
                      <a:round/>
                      <a:headEnd type="none" w="med" len="med"/>
                      <a:tailEnd type="none" w="med" len="med"/>
                    </a:lnT>
                    <a:lnB w="6350" cap="flat" cmpd="sng" algn="ctr">
                      <a:solidFill>
                        <a:srgbClr val="4F2170"/>
                      </a:solidFill>
                      <a:prstDash val="solid"/>
                      <a:round/>
                      <a:headEnd type="none" w="med" len="med"/>
                      <a:tailEnd type="none" w="med" len="med"/>
                    </a:lnB>
                    <a:solidFill>
                      <a:srgbClr val="4F2170"/>
                    </a:solidFill>
                  </a:tcPr>
                </a:tc>
                <a:tc>
                  <a:txBody>
                    <a:bodyPr/>
                    <a:lstStyle/>
                    <a:p>
                      <a:pPr marL="0" indent="0" algn="l">
                        <a:buNone/>
                      </a:pPr>
                      <a:r>
                        <a:rPr lang="en-US" sz="1000" b="1" dirty="0">
                          <a:solidFill>
                            <a:srgbClr val="FFFFFF"/>
                          </a:solidFill>
                          <a:latin typeface="Arial" pitchFamily="34" charset="0"/>
                          <a:ea typeface="Arial" pitchFamily="34" charset="-122"/>
                          <a:cs typeface="Arial" pitchFamily="34" charset="-120"/>
                        </a:rPr>
                        <a:t>Section Name</a:t>
                      </a:r>
                      <a:endParaRPr lang="en-US" sz="1000" dirty="0">
                        <a:latin typeface="Arial" charset="0"/>
                        <a:ea typeface="Arial" charset="0"/>
                        <a:cs typeface="Arial" charset="0"/>
                      </a:endParaRPr>
                    </a:p>
                  </a:txBody>
                  <a:tcPr marL="63500" marR="63500" marT="38100" marB="38100" anchor="ctr">
                    <a:lnL w="6350" cap="flat" cmpd="sng" algn="ctr">
                      <a:solidFill>
                        <a:srgbClr val="4F2170"/>
                      </a:solidFill>
                      <a:prstDash val="solid"/>
                      <a:round/>
                      <a:headEnd type="none" w="med" len="med"/>
                      <a:tailEnd type="none" w="med" len="med"/>
                    </a:lnL>
                    <a:lnR w="6350" cap="flat" cmpd="sng" algn="ctr">
                      <a:solidFill>
                        <a:srgbClr val="4F2170"/>
                      </a:solidFill>
                      <a:prstDash val="solid"/>
                      <a:round/>
                      <a:headEnd type="none" w="med" len="med"/>
                      <a:tailEnd type="none" w="med" len="med"/>
                    </a:lnR>
                    <a:lnT w="6350" cap="flat" cmpd="sng" algn="ctr">
                      <a:solidFill>
                        <a:srgbClr val="4F2170"/>
                      </a:solidFill>
                      <a:prstDash val="solid"/>
                      <a:round/>
                      <a:headEnd type="none" w="med" len="med"/>
                      <a:tailEnd type="none" w="med" len="med"/>
                    </a:lnT>
                    <a:lnB w="6350" cap="flat" cmpd="sng" algn="ctr">
                      <a:solidFill>
                        <a:srgbClr val="4F2170"/>
                      </a:solidFill>
                      <a:prstDash val="solid"/>
                      <a:round/>
                      <a:headEnd type="none" w="med" len="med"/>
                      <a:tailEnd type="none" w="med" len="med"/>
                    </a:lnB>
                    <a:solidFill>
                      <a:srgbClr val="4F2170"/>
                    </a:solidFill>
                  </a:tcPr>
                </a:tc>
                <a:tc>
                  <a:txBody>
                    <a:bodyPr/>
                    <a:lstStyle/>
                    <a:p>
                      <a:pPr marL="0" indent="0" algn="ctr">
                        <a:buNone/>
                      </a:pPr>
                      <a:r>
                        <a:rPr lang="en-US" sz="1000" b="1" dirty="0">
                          <a:solidFill>
                            <a:srgbClr val="FFFFFF"/>
                          </a:solidFill>
                          <a:latin typeface="Arial" pitchFamily="34" charset="0"/>
                          <a:ea typeface="Arial" pitchFamily="34" charset="-122"/>
                          <a:cs typeface="Arial" pitchFamily="34" charset="-120"/>
                        </a:rPr>
                        <a:t>November</a:t>
                      </a:r>
                      <a:endParaRPr lang="en-US" sz="1000" dirty="0">
                        <a:latin typeface="Arial" charset="0"/>
                        <a:ea typeface="Arial" charset="0"/>
                        <a:cs typeface="Arial" charset="0"/>
                      </a:endParaRPr>
                    </a:p>
                  </a:txBody>
                  <a:tcPr marL="63500" marR="63500" marT="38100" marB="38100" anchor="ctr">
                    <a:lnL w="6350" cap="flat" cmpd="sng" algn="ctr">
                      <a:solidFill>
                        <a:srgbClr val="4F2170"/>
                      </a:solidFill>
                      <a:prstDash val="solid"/>
                      <a:round/>
                      <a:headEnd type="none" w="med" len="med"/>
                      <a:tailEnd type="none" w="med" len="med"/>
                    </a:lnL>
                    <a:lnR w="6350" cap="flat" cmpd="sng" algn="ctr">
                      <a:solidFill>
                        <a:srgbClr val="4F2170"/>
                      </a:solidFill>
                      <a:prstDash val="solid"/>
                      <a:round/>
                      <a:headEnd type="none" w="med" len="med"/>
                      <a:tailEnd type="none" w="med" len="med"/>
                    </a:lnR>
                    <a:lnT w="6350" cap="flat" cmpd="sng" algn="ctr">
                      <a:solidFill>
                        <a:srgbClr val="4F2170"/>
                      </a:solidFill>
                      <a:prstDash val="solid"/>
                      <a:round/>
                      <a:headEnd type="none" w="med" len="med"/>
                      <a:tailEnd type="none" w="med" len="med"/>
                    </a:lnT>
                    <a:lnB w="6350" cap="flat" cmpd="sng" algn="ctr">
                      <a:solidFill>
                        <a:srgbClr val="4F2170"/>
                      </a:solidFill>
                      <a:prstDash val="solid"/>
                      <a:round/>
                      <a:headEnd type="none" w="med" len="med"/>
                      <a:tailEnd type="none" w="med" len="med"/>
                    </a:lnB>
                    <a:solidFill>
                      <a:srgbClr val="4F2170"/>
                    </a:solidFill>
                  </a:tcPr>
                </a:tc>
                <a:tc>
                  <a:txBody>
                    <a:bodyPr/>
                    <a:lstStyle/>
                    <a:p>
                      <a:pPr marL="0" indent="0" algn="ctr">
                        <a:buNone/>
                      </a:pPr>
                      <a:r>
                        <a:rPr lang="en-US" sz="1000" b="1" dirty="0">
                          <a:solidFill>
                            <a:srgbClr val="FFFFFF"/>
                          </a:solidFill>
                          <a:latin typeface="Arial" pitchFamily="34" charset="0"/>
                          <a:ea typeface="Arial" pitchFamily="34" charset="-122"/>
                          <a:cs typeface="Arial" pitchFamily="34" charset="-120"/>
                        </a:rPr>
                        <a:t>December</a:t>
                      </a:r>
                      <a:endParaRPr lang="en-US" sz="1000" dirty="0">
                        <a:latin typeface="Arial" charset="0"/>
                        <a:ea typeface="Arial" charset="0"/>
                        <a:cs typeface="Arial" charset="0"/>
                      </a:endParaRPr>
                    </a:p>
                  </a:txBody>
                  <a:tcPr marL="63500" marR="63500" marT="38100" marB="38100" anchor="ctr">
                    <a:lnL w="6350" cap="flat" cmpd="sng" algn="ctr">
                      <a:solidFill>
                        <a:srgbClr val="4F2170"/>
                      </a:solidFill>
                      <a:prstDash val="solid"/>
                      <a:round/>
                      <a:headEnd type="none" w="med" len="med"/>
                      <a:tailEnd type="none" w="med" len="med"/>
                    </a:lnL>
                    <a:lnR w="6350" cap="flat" cmpd="sng" algn="ctr">
                      <a:solidFill>
                        <a:srgbClr val="4F2170"/>
                      </a:solidFill>
                      <a:prstDash val="solid"/>
                      <a:round/>
                      <a:headEnd type="none" w="med" len="med"/>
                      <a:tailEnd type="none" w="med" len="med"/>
                    </a:lnR>
                    <a:lnT w="6350" cap="flat" cmpd="sng" algn="ctr">
                      <a:solidFill>
                        <a:srgbClr val="4F2170"/>
                      </a:solidFill>
                      <a:prstDash val="solid"/>
                      <a:round/>
                      <a:headEnd type="none" w="med" len="med"/>
                      <a:tailEnd type="none" w="med" len="med"/>
                    </a:lnT>
                    <a:lnB w="6350" cap="flat" cmpd="sng" algn="ctr">
                      <a:solidFill>
                        <a:srgbClr val="4F2170"/>
                      </a:solidFill>
                      <a:prstDash val="solid"/>
                      <a:round/>
                      <a:headEnd type="none" w="med" len="med"/>
                      <a:tailEnd type="none" w="med" len="med"/>
                    </a:lnB>
                    <a:solidFill>
                      <a:srgbClr val="4F2170"/>
                    </a:solidFill>
                  </a:tcPr>
                </a:tc>
                <a:tc>
                  <a:txBody>
                    <a:bodyPr/>
                    <a:lstStyle/>
                    <a:p>
                      <a:pPr marL="0" indent="0" algn="ctr">
                        <a:buNone/>
                      </a:pPr>
                      <a:r>
                        <a:rPr lang="en-US" sz="1000" b="1" dirty="0">
                          <a:solidFill>
                            <a:srgbClr val="FFFFFF"/>
                          </a:solidFill>
                          <a:latin typeface="Arial" pitchFamily="34" charset="0"/>
                          <a:ea typeface="Arial" pitchFamily="34" charset="-122"/>
                          <a:cs typeface="Arial" pitchFamily="34" charset="-120"/>
                        </a:rPr>
                        <a:t>January</a:t>
                      </a:r>
                      <a:endParaRPr lang="en-US" sz="1000" dirty="0">
                        <a:latin typeface="Arial" charset="0"/>
                        <a:ea typeface="Arial" charset="0"/>
                        <a:cs typeface="Arial" charset="0"/>
                      </a:endParaRPr>
                    </a:p>
                  </a:txBody>
                  <a:tcPr marL="63500" marR="63500" marT="38100" marB="38100" anchor="ctr">
                    <a:lnL w="6350" cap="flat" cmpd="sng" algn="ctr">
                      <a:solidFill>
                        <a:srgbClr val="4F2170"/>
                      </a:solidFill>
                      <a:prstDash val="solid"/>
                      <a:round/>
                      <a:headEnd type="none" w="med" len="med"/>
                      <a:tailEnd type="none" w="med" len="med"/>
                    </a:lnL>
                    <a:lnR w="6350" cap="flat" cmpd="sng" algn="ctr">
                      <a:solidFill>
                        <a:srgbClr val="4F2170"/>
                      </a:solidFill>
                      <a:prstDash val="solid"/>
                      <a:round/>
                      <a:headEnd type="none" w="med" len="med"/>
                      <a:tailEnd type="none" w="med" len="med"/>
                    </a:lnR>
                    <a:lnT w="6350" cap="flat" cmpd="sng" algn="ctr">
                      <a:solidFill>
                        <a:srgbClr val="4F2170"/>
                      </a:solidFill>
                      <a:prstDash val="solid"/>
                      <a:round/>
                      <a:headEnd type="none" w="med" len="med"/>
                      <a:tailEnd type="none" w="med" len="med"/>
                    </a:lnT>
                    <a:lnB w="6350" cap="flat" cmpd="sng" algn="ctr">
                      <a:solidFill>
                        <a:srgbClr val="4F2170"/>
                      </a:solidFill>
                      <a:prstDash val="solid"/>
                      <a:round/>
                      <a:headEnd type="none" w="med" len="med"/>
                      <a:tailEnd type="none" w="med" len="med"/>
                    </a:lnB>
                    <a:solidFill>
                      <a:srgbClr val="4F2170"/>
                    </a:solidFill>
                  </a:tcPr>
                </a:tc>
                <a:extLst>
                  <a:ext uri="{0D108BD9-81ED-4DB2-BD59-A6C34878D82A}">
                    <a16:rowId xmlns:a16="http://schemas.microsoft.com/office/drawing/2014/main" val="10000"/>
                  </a:ext>
                </a:extLst>
              </a:tr>
              <a:tr h="347472">
                <a:tc>
                  <a:txBody>
                    <a:bodyPr/>
                    <a:lstStyle/>
                    <a:p>
                      <a:pPr marL="0" indent="0" algn="ctr">
                        <a:buNone/>
                      </a:pPr>
                      <a:r>
                        <a:rPr lang="en-US" sz="1100" b="1" dirty="0">
                          <a:solidFill>
                            <a:srgbClr val="4F2170"/>
                          </a:solidFill>
                          <a:latin typeface="Arial" pitchFamily="34" charset="0"/>
                          <a:ea typeface="Arial" pitchFamily="34" charset="-122"/>
                          <a:cs typeface="Arial" pitchFamily="34" charset="-120"/>
                        </a:rPr>
                        <a:t>A</a:t>
                      </a:r>
                      <a:endParaRPr lang="en-US" sz="1100" dirty="0">
                        <a:latin typeface="Arial" charset="0"/>
                        <a:ea typeface="Arial" charset="0"/>
                        <a:cs typeface="Arial" charset="0"/>
                      </a:endParaRPr>
                    </a:p>
                  </a:txBody>
                  <a:tcPr marL="63500" marR="63500" marT="38100" marB="38100" anchor="ctr">
                    <a:lnL w="6350" cap="flat" cmpd="sng" algn="ctr">
                      <a:solidFill>
                        <a:srgbClr val="E0D5E8"/>
                      </a:solidFill>
                      <a:prstDash val="solid"/>
                      <a:round/>
                      <a:headEnd type="none" w="med" len="med"/>
                      <a:tailEnd type="none" w="med" len="med"/>
                    </a:lnL>
                    <a:lnR w="6350" cap="flat" cmpd="sng" algn="ctr">
                      <a:solidFill>
                        <a:srgbClr val="E0D5E8"/>
                      </a:solidFill>
                      <a:prstDash val="solid"/>
                      <a:round/>
                      <a:headEnd type="none" w="med" len="med"/>
                      <a:tailEnd type="none" w="med" len="med"/>
                    </a:lnR>
                    <a:lnT w="6350" cap="flat" cmpd="sng" algn="ctr">
                      <a:solidFill>
                        <a:srgbClr val="4F2170"/>
                      </a:solidFill>
                      <a:prstDash val="solid"/>
                      <a:round/>
                      <a:headEnd type="none" w="med" len="med"/>
                      <a:tailEnd type="none" w="med" len="med"/>
                    </a:lnT>
                    <a:lnB w="6350" cap="flat" cmpd="sng" algn="ctr">
                      <a:solidFill>
                        <a:srgbClr val="E0D5E8"/>
                      </a:solidFill>
                      <a:prstDash val="solid"/>
                      <a:round/>
                      <a:headEnd type="none" w="med" len="med"/>
                      <a:tailEnd type="none" w="med" len="med"/>
                    </a:lnB>
                    <a:solidFill>
                      <a:srgbClr val="F9F5FC"/>
                    </a:solidFill>
                  </a:tcPr>
                </a:tc>
                <a:tc>
                  <a:txBody>
                    <a:bodyPr/>
                    <a:lstStyle/>
                    <a:p>
                      <a:pPr marL="0" indent="0" algn="l">
                        <a:buNone/>
                      </a:pPr>
                      <a:r>
                        <a:rPr lang="en-US" sz="1000" dirty="0">
                          <a:solidFill>
                            <a:srgbClr val="3D3D3D"/>
                          </a:solidFill>
                          <a:latin typeface="Calibri" pitchFamily="34" charset="0"/>
                          <a:ea typeface="Calibri" pitchFamily="34" charset="-122"/>
                          <a:cs typeface="Calibri" pitchFamily="34" charset="-120"/>
                        </a:rPr>
                        <a:t>Architecture &amp; Layering</a:t>
                      </a:r>
                      <a:endParaRPr lang="en-US" sz="1000" dirty="0">
                        <a:latin typeface="Calibri" charset="0"/>
                        <a:ea typeface="Calibri" charset="0"/>
                        <a:cs typeface="Calibri" charset="0"/>
                      </a:endParaRPr>
                    </a:p>
                  </a:txBody>
                  <a:tcPr marL="63500" marR="63500" marT="38100" marB="38100" anchor="ctr">
                    <a:lnL w="6350" cap="flat" cmpd="sng" algn="ctr">
                      <a:solidFill>
                        <a:srgbClr val="E0D5E8"/>
                      </a:solidFill>
                      <a:prstDash val="solid"/>
                      <a:round/>
                      <a:headEnd type="none" w="med" len="med"/>
                      <a:tailEnd type="none" w="med" len="med"/>
                    </a:lnL>
                    <a:lnR w="6350" cap="flat" cmpd="sng" algn="ctr">
                      <a:solidFill>
                        <a:srgbClr val="E0D5E8"/>
                      </a:solidFill>
                      <a:prstDash val="solid"/>
                      <a:round/>
                      <a:headEnd type="none" w="med" len="med"/>
                      <a:tailEnd type="none" w="med" len="med"/>
                    </a:lnR>
                    <a:lnT w="6350" cap="flat" cmpd="sng" algn="ctr">
                      <a:solidFill>
                        <a:srgbClr val="4F2170"/>
                      </a:solidFill>
                      <a:prstDash val="solid"/>
                      <a:round/>
                      <a:headEnd type="none" w="med" len="med"/>
                      <a:tailEnd type="none" w="med" len="med"/>
                    </a:lnT>
                    <a:lnB w="6350" cap="flat" cmpd="sng" algn="ctr">
                      <a:solidFill>
                        <a:srgbClr val="E0D5E8"/>
                      </a:solidFill>
                      <a:prstDash val="solid"/>
                      <a:round/>
                      <a:headEnd type="none" w="med" len="med"/>
                      <a:tailEnd type="none" w="med" len="med"/>
                    </a:lnB>
                    <a:solidFill>
                      <a:srgbClr val="F9F5FC"/>
                    </a:solidFill>
                  </a:tcPr>
                </a:tc>
                <a:tc>
                  <a:txBody>
                    <a:bodyPr/>
                    <a:lstStyle/>
                    <a:p>
                      <a:pPr marL="0" indent="0" algn="ctr">
                        <a:buNone/>
                      </a:pPr>
                      <a:r>
                        <a:rPr lang="en-US" sz="1000" b="1" dirty="0">
                          <a:solidFill>
                            <a:srgbClr val="E18719"/>
                          </a:solidFill>
                          <a:latin typeface="Calibri" pitchFamily="34" charset="0"/>
                          <a:ea typeface="Calibri" pitchFamily="34" charset="-122"/>
                          <a:cs typeface="Calibri" pitchFamily="34" charset="-120"/>
                        </a:rPr>
                        <a:t>⬤ Primary</a:t>
                      </a:r>
                      <a:endParaRPr lang="en-US" sz="1000" dirty="0">
                        <a:latin typeface="Calibri" charset="0"/>
                        <a:ea typeface="Calibri" charset="0"/>
                        <a:cs typeface="Calibri" charset="0"/>
                      </a:endParaRPr>
                    </a:p>
                  </a:txBody>
                  <a:tcPr marL="63500" marR="63500" marT="38100" marB="38100" anchor="ctr">
                    <a:lnL w="6350" cap="flat" cmpd="sng" algn="ctr">
                      <a:solidFill>
                        <a:srgbClr val="E0D5E8"/>
                      </a:solidFill>
                      <a:prstDash val="solid"/>
                      <a:round/>
                      <a:headEnd type="none" w="med" len="med"/>
                      <a:tailEnd type="none" w="med" len="med"/>
                    </a:lnL>
                    <a:lnR w="6350" cap="flat" cmpd="sng" algn="ctr">
                      <a:solidFill>
                        <a:srgbClr val="E0D5E8"/>
                      </a:solidFill>
                      <a:prstDash val="solid"/>
                      <a:round/>
                      <a:headEnd type="none" w="med" len="med"/>
                      <a:tailEnd type="none" w="med" len="med"/>
                    </a:lnR>
                    <a:lnT w="6350" cap="flat" cmpd="sng" algn="ctr">
                      <a:solidFill>
                        <a:srgbClr val="4F2170"/>
                      </a:solidFill>
                      <a:prstDash val="solid"/>
                      <a:round/>
                      <a:headEnd type="none" w="med" len="med"/>
                      <a:tailEnd type="none" w="med" len="med"/>
                    </a:lnT>
                    <a:lnB w="6350" cap="flat" cmpd="sng" algn="ctr">
                      <a:solidFill>
                        <a:srgbClr val="E0D5E8"/>
                      </a:solidFill>
                      <a:prstDash val="solid"/>
                      <a:round/>
                      <a:headEnd type="none" w="med" len="med"/>
                      <a:tailEnd type="none" w="med" len="med"/>
                    </a:lnB>
                    <a:solidFill>
                      <a:srgbClr val="FFF3E5"/>
                    </a:solidFill>
                  </a:tcPr>
                </a:tc>
                <a:tc>
                  <a:txBody>
                    <a:bodyPr/>
                    <a:lstStyle/>
                    <a:p>
                      <a:pPr marL="0" indent="0" algn="ctr">
                        <a:buNone/>
                      </a:pPr>
                      <a:r>
                        <a:rPr lang="en-US" sz="1000" dirty="0">
                          <a:solidFill>
                            <a:srgbClr val="999999"/>
                          </a:solidFill>
                          <a:latin typeface="Calibri" pitchFamily="34" charset="0"/>
                          <a:ea typeface="Calibri" pitchFamily="34" charset="-122"/>
                          <a:cs typeface="Calibri" pitchFamily="34" charset="-120"/>
                        </a:rPr>
                        <a:t>○ Review</a:t>
                      </a:r>
                      <a:endParaRPr lang="en-US" sz="1000" dirty="0">
                        <a:latin typeface="Calibri" charset="0"/>
                        <a:ea typeface="Calibri" charset="0"/>
                        <a:cs typeface="Calibri" charset="0"/>
                      </a:endParaRPr>
                    </a:p>
                  </a:txBody>
                  <a:tcPr marL="63500" marR="63500" marT="38100" marB="38100" anchor="ctr">
                    <a:lnL w="6350" cap="flat" cmpd="sng" algn="ctr">
                      <a:solidFill>
                        <a:srgbClr val="E0D5E8"/>
                      </a:solidFill>
                      <a:prstDash val="solid"/>
                      <a:round/>
                      <a:headEnd type="none" w="med" len="med"/>
                      <a:tailEnd type="none" w="med" len="med"/>
                    </a:lnL>
                    <a:lnR w="6350" cap="flat" cmpd="sng" algn="ctr">
                      <a:solidFill>
                        <a:srgbClr val="E0D5E8"/>
                      </a:solidFill>
                      <a:prstDash val="solid"/>
                      <a:round/>
                      <a:headEnd type="none" w="med" len="med"/>
                      <a:tailEnd type="none" w="med" len="med"/>
                    </a:lnR>
                    <a:lnT w="6350" cap="flat" cmpd="sng" algn="ctr">
                      <a:solidFill>
                        <a:srgbClr val="4F2170"/>
                      </a:solidFill>
                      <a:prstDash val="solid"/>
                      <a:round/>
                      <a:headEnd type="none" w="med" len="med"/>
                      <a:tailEnd type="none" w="med" len="med"/>
                    </a:lnT>
                    <a:lnB w="6350" cap="flat" cmpd="sng" algn="ctr">
                      <a:solidFill>
                        <a:srgbClr val="E0D5E8"/>
                      </a:solidFill>
                      <a:prstDash val="solid"/>
                      <a:round/>
                      <a:headEnd type="none" w="med" len="med"/>
                      <a:tailEnd type="none" w="med" len="med"/>
                    </a:lnB>
                    <a:solidFill>
                      <a:srgbClr val="F9F5FC"/>
                    </a:solidFill>
                  </a:tcPr>
                </a:tc>
                <a:tc>
                  <a:txBody>
                    <a:bodyPr/>
                    <a:lstStyle/>
                    <a:p>
                      <a:pPr marL="0" indent="0" algn="ctr">
                        <a:buNone/>
                      </a:pPr>
                      <a:r>
                        <a:rPr lang="en-US" sz="1000" dirty="0">
                          <a:solidFill>
                            <a:srgbClr val="999999"/>
                          </a:solidFill>
                          <a:latin typeface="Calibri" pitchFamily="34" charset="0"/>
                          <a:ea typeface="Calibri" pitchFamily="34" charset="-122"/>
                          <a:cs typeface="Calibri" pitchFamily="34" charset="-120"/>
                        </a:rPr>
                        <a:t>○ Review</a:t>
                      </a:r>
                      <a:endParaRPr lang="en-US" sz="1000" dirty="0">
                        <a:latin typeface="Calibri" charset="0"/>
                        <a:ea typeface="Calibri" charset="0"/>
                        <a:cs typeface="Calibri" charset="0"/>
                      </a:endParaRPr>
                    </a:p>
                  </a:txBody>
                  <a:tcPr marL="63500" marR="63500" marT="38100" marB="38100" anchor="ctr">
                    <a:lnL w="6350" cap="flat" cmpd="sng" algn="ctr">
                      <a:solidFill>
                        <a:srgbClr val="E0D5E8"/>
                      </a:solidFill>
                      <a:prstDash val="solid"/>
                      <a:round/>
                      <a:headEnd type="none" w="med" len="med"/>
                      <a:tailEnd type="none" w="med" len="med"/>
                    </a:lnL>
                    <a:lnR w="6350" cap="flat" cmpd="sng" algn="ctr">
                      <a:solidFill>
                        <a:srgbClr val="E0D5E8"/>
                      </a:solidFill>
                      <a:prstDash val="solid"/>
                      <a:round/>
                      <a:headEnd type="none" w="med" len="med"/>
                      <a:tailEnd type="none" w="med" len="med"/>
                    </a:lnR>
                    <a:lnT w="6350" cap="flat" cmpd="sng" algn="ctr">
                      <a:solidFill>
                        <a:srgbClr val="4F2170"/>
                      </a:solidFill>
                      <a:prstDash val="solid"/>
                      <a:round/>
                      <a:headEnd type="none" w="med" len="med"/>
                      <a:tailEnd type="none" w="med" len="med"/>
                    </a:lnT>
                    <a:lnB w="6350" cap="flat" cmpd="sng" algn="ctr">
                      <a:solidFill>
                        <a:srgbClr val="E0D5E8"/>
                      </a:solidFill>
                      <a:prstDash val="solid"/>
                      <a:round/>
                      <a:headEnd type="none" w="med" len="med"/>
                      <a:tailEnd type="none" w="med" len="med"/>
                    </a:lnB>
                    <a:solidFill>
                      <a:srgbClr val="F9F5FC"/>
                    </a:solidFill>
                  </a:tcPr>
                </a:tc>
                <a:extLst>
                  <a:ext uri="{0D108BD9-81ED-4DB2-BD59-A6C34878D82A}">
                    <a16:rowId xmlns:a16="http://schemas.microsoft.com/office/drawing/2014/main" val="10001"/>
                  </a:ext>
                </a:extLst>
              </a:tr>
              <a:tr h="347472">
                <a:tc>
                  <a:txBody>
                    <a:bodyPr/>
                    <a:lstStyle/>
                    <a:p>
                      <a:pPr marL="0" indent="0" algn="ctr">
                        <a:buNone/>
                      </a:pPr>
                      <a:r>
                        <a:rPr lang="en-US" sz="1100" b="1" dirty="0">
                          <a:solidFill>
                            <a:srgbClr val="4F2170"/>
                          </a:solidFill>
                          <a:latin typeface="Arial" pitchFamily="34" charset="0"/>
                          <a:ea typeface="Arial" pitchFamily="34" charset="-122"/>
                          <a:cs typeface="Arial" pitchFamily="34" charset="-120"/>
                        </a:rPr>
                        <a:t>B</a:t>
                      </a:r>
                      <a:endParaRPr lang="en-US" sz="1100" dirty="0">
                        <a:latin typeface="Arial" charset="0"/>
                        <a:ea typeface="Arial" charset="0"/>
                        <a:cs typeface="Arial" charset="0"/>
                      </a:endParaRPr>
                    </a:p>
                  </a:txBody>
                  <a:tcPr marL="63500" marR="63500" marT="38100" marB="38100" anchor="ctr">
                    <a:lnL w="6350" cap="flat" cmpd="sng" algn="ctr">
                      <a:solidFill>
                        <a:srgbClr val="E0D5E8"/>
                      </a:solidFill>
                      <a:prstDash val="solid"/>
                      <a:round/>
                      <a:headEnd type="none" w="med" len="med"/>
                      <a:tailEnd type="none" w="med" len="med"/>
                    </a:lnL>
                    <a:lnR w="6350" cap="flat" cmpd="sng" algn="ctr">
                      <a:solidFill>
                        <a:srgbClr val="E0D5E8"/>
                      </a:solidFill>
                      <a:prstDash val="solid"/>
                      <a:round/>
                      <a:headEnd type="none" w="med" len="med"/>
                      <a:tailEnd type="none" w="med" len="med"/>
                    </a:lnR>
                    <a:lnT w="6350" cap="flat" cmpd="sng" algn="ctr">
                      <a:solidFill>
                        <a:srgbClr val="E0D5E8"/>
                      </a:solidFill>
                      <a:prstDash val="solid"/>
                      <a:round/>
                      <a:headEnd type="none" w="med" len="med"/>
                      <a:tailEnd type="none" w="med" len="med"/>
                    </a:lnT>
                    <a:lnB w="6350" cap="flat" cmpd="sng" algn="ctr">
                      <a:solidFill>
                        <a:srgbClr val="E0D5E8"/>
                      </a:solidFill>
                      <a:prstDash val="solid"/>
                      <a:round/>
                      <a:headEnd type="none" w="med" len="med"/>
                      <a:tailEnd type="none" w="med" len="med"/>
                    </a:lnB>
                    <a:solidFill>
                      <a:srgbClr val="FFFFFF"/>
                    </a:solidFill>
                  </a:tcPr>
                </a:tc>
                <a:tc>
                  <a:txBody>
                    <a:bodyPr/>
                    <a:lstStyle/>
                    <a:p>
                      <a:pPr marL="0" indent="0" algn="l">
                        <a:buNone/>
                      </a:pPr>
                      <a:r>
                        <a:rPr lang="en-US" sz="1000" dirty="0">
                          <a:solidFill>
                            <a:srgbClr val="3D3D3D"/>
                          </a:solidFill>
                          <a:latin typeface="Calibri" pitchFamily="34" charset="0"/>
                          <a:ea typeface="Calibri" pitchFamily="34" charset="-122"/>
                          <a:cs typeface="Calibri" pitchFamily="34" charset="-120"/>
                        </a:rPr>
                        <a:t>Core Domain Design</a:t>
                      </a:r>
                      <a:endParaRPr lang="en-US" sz="1000" dirty="0">
                        <a:latin typeface="Calibri" charset="0"/>
                        <a:ea typeface="Calibri" charset="0"/>
                        <a:cs typeface="Calibri" charset="0"/>
                      </a:endParaRPr>
                    </a:p>
                  </a:txBody>
                  <a:tcPr marL="63500" marR="63500" marT="38100" marB="38100" anchor="ctr">
                    <a:lnL w="6350" cap="flat" cmpd="sng" algn="ctr">
                      <a:solidFill>
                        <a:srgbClr val="E0D5E8"/>
                      </a:solidFill>
                      <a:prstDash val="solid"/>
                      <a:round/>
                      <a:headEnd type="none" w="med" len="med"/>
                      <a:tailEnd type="none" w="med" len="med"/>
                    </a:lnL>
                    <a:lnR w="6350" cap="flat" cmpd="sng" algn="ctr">
                      <a:solidFill>
                        <a:srgbClr val="E0D5E8"/>
                      </a:solidFill>
                      <a:prstDash val="solid"/>
                      <a:round/>
                      <a:headEnd type="none" w="med" len="med"/>
                      <a:tailEnd type="none" w="med" len="med"/>
                    </a:lnR>
                    <a:lnT w="6350" cap="flat" cmpd="sng" algn="ctr">
                      <a:solidFill>
                        <a:srgbClr val="E0D5E8"/>
                      </a:solidFill>
                      <a:prstDash val="solid"/>
                      <a:round/>
                      <a:headEnd type="none" w="med" len="med"/>
                      <a:tailEnd type="none" w="med" len="med"/>
                    </a:lnT>
                    <a:lnB w="6350" cap="flat" cmpd="sng" algn="ctr">
                      <a:solidFill>
                        <a:srgbClr val="E0D5E8"/>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999999"/>
                          </a:solidFill>
                          <a:latin typeface="Calibri" pitchFamily="34" charset="0"/>
                          <a:ea typeface="Calibri" pitchFamily="34" charset="-122"/>
                          <a:cs typeface="Calibri" pitchFamily="34" charset="-120"/>
                        </a:rPr>
                        <a:t>○ Prep</a:t>
                      </a:r>
                      <a:endParaRPr lang="en-US" sz="1000" dirty="0">
                        <a:latin typeface="Calibri" charset="0"/>
                        <a:ea typeface="Calibri" charset="0"/>
                        <a:cs typeface="Calibri" charset="0"/>
                      </a:endParaRPr>
                    </a:p>
                  </a:txBody>
                  <a:tcPr marL="63500" marR="63500" marT="38100" marB="38100" anchor="ctr">
                    <a:lnL w="6350" cap="flat" cmpd="sng" algn="ctr">
                      <a:solidFill>
                        <a:srgbClr val="E0D5E8"/>
                      </a:solidFill>
                      <a:prstDash val="solid"/>
                      <a:round/>
                      <a:headEnd type="none" w="med" len="med"/>
                      <a:tailEnd type="none" w="med" len="med"/>
                    </a:lnL>
                    <a:lnR w="6350" cap="flat" cmpd="sng" algn="ctr">
                      <a:solidFill>
                        <a:srgbClr val="E0D5E8"/>
                      </a:solidFill>
                      <a:prstDash val="solid"/>
                      <a:round/>
                      <a:headEnd type="none" w="med" len="med"/>
                      <a:tailEnd type="none" w="med" len="med"/>
                    </a:lnR>
                    <a:lnT w="6350" cap="flat" cmpd="sng" algn="ctr">
                      <a:solidFill>
                        <a:srgbClr val="E0D5E8"/>
                      </a:solidFill>
                      <a:prstDash val="solid"/>
                      <a:round/>
                      <a:headEnd type="none" w="med" len="med"/>
                      <a:tailEnd type="none" w="med" len="med"/>
                    </a:lnT>
                    <a:lnB w="6350" cap="flat" cmpd="sng" algn="ctr">
                      <a:solidFill>
                        <a:srgbClr val="E0D5E8"/>
                      </a:solidFill>
                      <a:prstDash val="solid"/>
                      <a:round/>
                      <a:headEnd type="none" w="med" len="med"/>
                      <a:tailEnd type="none" w="med" len="med"/>
                    </a:lnB>
                    <a:solidFill>
                      <a:srgbClr val="FFFFFF"/>
                    </a:solidFill>
                  </a:tcPr>
                </a:tc>
                <a:tc>
                  <a:txBody>
                    <a:bodyPr/>
                    <a:lstStyle/>
                    <a:p>
                      <a:pPr marL="0" indent="0" algn="ctr">
                        <a:buNone/>
                      </a:pPr>
                      <a:r>
                        <a:rPr lang="en-US" sz="1000" b="1" dirty="0">
                          <a:solidFill>
                            <a:srgbClr val="E18719"/>
                          </a:solidFill>
                          <a:latin typeface="Calibri" pitchFamily="34" charset="0"/>
                          <a:ea typeface="Calibri" pitchFamily="34" charset="-122"/>
                          <a:cs typeface="Calibri" pitchFamily="34" charset="-120"/>
                        </a:rPr>
                        <a:t>⬤ Primary</a:t>
                      </a:r>
                      <a:endParaRPr lang="en-US" sz="1000" dirty="0">
                        <a:latin typeface="Calibri" charset="0"/>
                        <a:ea typeface="Calibri" charset="0"/>
                        <a:cs typeface="Calibri" charset="0"/>
                      </a:endParaRPr>
                    </a:p>
                  </a:txBody>
                  <a:tcPr marL="63500" marR="63500" marT="38100" marB="38100" anchor="ctr">
                    <a:lnL w="6350" cap="flat" cmpd="sng" algn="ctr">
                      <a:solidFill>
                        <a:srgbClr val="E0D5E8"/>
                      </a:solidFill>
                      <a:prstDash val="solid"/>
                      <a:round/>
                      <a:headEnd type="none" w="med" len="med"/>
                      <a:tailEnd type="none" w="med" len="med"/>
                    </a:lnL>
                    <a:lnR w="6350" cap="flat" cmpd="sng" algn="ctr">
                      <a:solidFill>
                        <a:srgbClr val="E0D5E8"/>
                      </a:solidFill>
                      <a:prstDash val="solid"/>
                      <a:round/>
                      <a:headEnd type="none" w="med" len="med"/>
                      <a:tailEnd type="none" w="med" len="med"/>
                    </a:lnR>
                    <a:lnT w="6350" cap="flat" cmpd="sng" algn="ctr">
                      <a:solidFill>
                        <a:srgbClr val="E0D5E8"/>
                      </a:solidFill>
                      <a:prstDash val="solid"/>
                      <a:round/>
                      <a:headEnd type="none" w="med" len="med"/>
                      <a:tailEnd type="none" w="med" len="med"/>
                    </a:lnT>
                    <a:lnB w="6350" cap="flat" cmpd="sng" algn="ctr">
                      <a:solidFill>
                        <a:srgbClr val="E0D5E8"/>
                      </a:solidFill>
                      <a:prstDash val="solid"/>
                      <a:round/>
                      <a:headEnd type="none" w="med" len="med"/>
                      <a:tailEnd type="none" w="med" len="med"/>
                    </a:lnB>
                    <a:solidFill>
                      <a:srgbClr val="FFF3E5"/>
                    </a:solidFill>
                  </a:tcPr>
                </a:tc>
                <a:tc>
                  <a:txBody>
                    <a:bodyPr/>
                    <a:lstStyle/>
                    <a:p>
                      <a:pPr marL="0" indent="0" algn="ctr">
                        <a:buNone/>
                      </a:pPr>
                      <a:r>
                        <a:rPr lang="en-US" sz="1000" dirty="0">
                          <a:solidFill>
                            <a:srgbClr val="999999"/>
                          </a:solidFill>
                          <a:latin typeface="Calibri" pitchFamily="34" charset="0"/>
                          <a:ea typeface="Calibri" pitchFamily="34" charset="-122"/>
                          <a:cs typeface="Calibri" pitchFamily="34" charset="-120"/>
                        </a:rPr>
                        <a:t>○ Review</a:t>
                      </a:r>
                      <a:endParaRPr lang="en-US" sz="1000" dirty="0">
                        <a:latin typeface="Calibri" charset="0"/>
                        <a:ea typeface="Calibri" charset="0"/>
                        <a:cs typeface="Calibri" charset="0"/>
                      </a:endParaRPr>
                    </a:p>
                  </a:txBody>
                  <a:tcPr marL="63500" marR="63500" marT="38100" marB="38100" anchor="ctr">
                    <a:lnL w="6350" cap="flat" cmpd="sng" algn="ctr">
                      <a:solidFill>
                        <a:srgbClr val="E0D5E8"/>
                      </a:solidFill>
                      <a:prstDash val="solid"/>
                      <a:round/>
                      <a:headEnd type="none" w="med" len="med"/>
                      <a:tailEnd type="none" w="med" len="med"/>
                    </a:lnL>
                    <a:lnR w="6350" cap="flat" cmpd="sng" algn="ctr">
                      <a:solidFill>
                        <a:srgbClr val="E0D5E8"/>
                      </a:solidFill>
                      <a:prstDash val="solid"/>
                      <a:round/>
                      <a:headEnd type="none" w="med" len="med"/>
                      <a:tailEnd type="none" w="med" len="med"/>
                    </a:lnR>
                    <a:lnT w="6350" cap="flat" cmpd="sng" algn="ctr">
                      <a:solidFill>
                        <a:srgbClr val="E0D5E8"/>
                      </a:solidFill>
                      <a:prstDash val="solid"/>
                      <a:round/>
                      <a:headEnd type="none" w="med" len="med"/>
                      <a:tailEnd type="none" w="med" len="med"/>
                    </a:lnT>
                    <a:lnB w="6350" cap="flat" cmpd="sng" algn="ctr">
                      <a:solidFill>
                        <a:srgbClr val="E0D5E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47472">
                <a:tc>
                  <a:txBody>
                    <a:bodyPr/>
                    <a:lstStyle/>
                    <a:p>
                      <a:pPr marL="0" indent="0" algn="ctr">
                        <a:buNone/>
                      </a:pPr>
                      <a:r>
                        <a:rPr lang="en-US" sz="1100" b="1" dirty="0">
                          <a:solidFill>
                            <a:srgbClr val="4F2170"/>
                          </a:solidFill>
                          <a:latin typeface="Arial" pitchFamily="34" charset="0"/>
                          <a:ea typeface="Arial" pitchFamily="34" charset="-122"/>
                          <a:cs typeface="Arial" pitchFamily="34" charset="-120"/>
                        </a:rPr>
                        <a:t>C</a:t>
                      </a:r>
                      <a:endParaRPr lang="en-US" sz="1100" dirty="0">
                        <a:latin typeface="Arial" charset="0"/>
                        <a:ea typeface="Arial" charset="0"/>
                        <a:cs typeface="Arial" charset="0"/>
                      </a:endParaRPr>
                    </a:p>
                  </a:txBody>
                  <a:tcPr marL="63500" marR="63500" marT="38100" marB="38100" anchor="ctr">
                    <a:lnL w="6350" cap="flat" cmpd="sng" algn="ctr">
                      <a:solidFill>
                        <a:srgbClr val="E0D5E8"/>
                      </a:solidFill>
                      <a:prstDash val="solid"/>
                      <a:round/>
                      <a:headEnd type="none" w="med" len="med"/>
                      <a:tailEnd type="none" w="med" len="med"/>
                    </a:lnL>
                    <a:lnR w="6350" cap="flat" cmpd="sng" algn="ctr">
                      <a:solidFill>
                        <a:srgbClr val="E0D5E8"/>
                      </a:solidFill>
                      <a:prstDash val="solid"/>
                      <a:round/>
                      <a:headEnd type="none" w="med" len="med"/>
                      <a:tailEnd type="none" w="med" len="med"/>
                    </a:lnR>
                    <a:lnT w="6350" cap="flat" cmpd="sng" algn="ctr">
                      <a:solidFill>
                        <a:srgbClr val="E0D5E8"/>
                      </a:solidFill>
                      <a:prstDash val="solid"/>
                      <a:round/>
                      <a:headEnd type="none" w="med" len="med"/>
                      <a:tailEnd type="none" w="med" len="med"/>
                    </a:lnT>
                    <a:lnB w="6350" cap="flat" cmpd="sng" algn="ctr">
                      <a:solidFill>
                        <a:srgbClr val="E0D5E8"/>
                      </a:solidFill>
                      <a:prstDash val="solid"/>
                      <a:round/>
                      <a:headEnd type="none" w="med" len="med"/>
                      <a:tailEnd type="none" w="med" len="med"/>
                    </a:lnB>
                    <a:solidFill>
                      <a:srgbClr val="F9F5FC"/>
                    </a:solidFill>
                  </a:tcPr>
                </a:tc>
                <a:tc>
                  <a:txBody>
                    <a:bodyPr/>
                    <a:lstStyle/>
                    <a:p>
                      <a:pPr marL="0" indent="0" algn="l">
                        <a:buNone/>
                      </a:pPr>
                      <a:r>
                        <a:rPr lang="en-US" sz="1000" dirty="0">
                          <a:solidFill>
                            <a:srgbClr val="3D3D3D"/>
                          </a:solidFill>
                          <a:latin typeface="Calibri" pitchFamily="34" charset="0"/>
                          <a:ea typeface="Calibri" pitchFamily="34" charset="-122"/>
                          <a:cs typeface="Calibri" pitchFamily="34" charset="-120"/>
                        </a:rPr>
                        <a:t>Configuration: Business Rules as Data</a:t>
                      </a:r>
                      <a:endParaRPr lang="en-US" sz="1000" dirty="0">
                        <a:latin typeface="Calibri" charset="0"/>
                        <a:ea typeface="Calibri" charset="0"/>
                        <a:cs typeface="Calibri" charset="0"/>
                      </a:endParaRPr>
                    </a:p>
                  </a:txBody>
                  <a:tcPr marL="63500" marR="63500" marT="38100" marB="38100" anchor="ctr">
                    <a:lnL w="6350" cap="flat" cmpd="sng" algn="ctr">
                      <a:solidFill>
                        <a:srgbClr val="E0D5E8"/>
                      </a:solidFill>
                      <a:prstDash val="solid"/>
                      <a:round/>
                      <a:headEnd type="none" w="med" len="med"/>
                      <a:tailEnd type="none" w="med" len="med"/>
                    </a:lnL>
                    <a:lnR w="6350" cap="flat" cmpd="sng" algn="ctr">
                      <a:solidFill>
                        <a:srgbClr val="E0D5E8"/>
                      </a:solidFill>
                      <a:prstDash val="solid"/>
                      <a:round/>
                      <a:headEnd type="none" w="med" len="med"/>
                      <a:tailEnd type="none" w="med" len="med"/>
                    </a:lnR>
                    <a:lnT w="6350" cap="flat" cmpd="sng" algn="ctr">
                      <a:solidFill>
                        <a:srgbClr val="E0D5E8"/>
                      </a:solidFill>
                      <a:prstDash val="solid"/>
                      <a:round/>
                      <a:headEnd type="none" w="med" len="med"/>
                      <a:tailEnd type="none" w="med" len="med"/>
                    </a:lnT>
                    <a:lnB w="6350" cap="flat" cmpd="sng" algn="ctr">
                      <a:solidFill>
                        <a:srgbClr val="E0D5E8"/>
                      </a:solidFill>
                      <a:prstDash val="solid"/>
                      <a:round/>
                      <a:headEnd type="none" w="med" len="med"/>
                      <a:tailEnd type="none" w="med" len="med"/>
                    </a:lnB>
                    <a:solidFill>
                      <a:srgbClr val="F9F5FC"/>
                    </a:solidFill>
                  </a:tcPr>
                </a:tc>
                <a:tc>
                  <a:txBody>
                    <a:bodyPr/>
                    <a:lstStyle/>
                    <a:p>
                      <a:pPr marL="0" indent="0" algn="ctr">
                        <a:buNone/>
                      </a:pPr>
                      <a:r>
                        <a:rPr lang="en-US" sz="1000" b="1" dirty="0">
                          <a:solidFill>
                            <a:srgbClr val="E18719"/>
                          </a:solidFill>
                          <a:latin typeface="Calibri" pitchFamily="34" charset="0"/>
                          <a:ea typeface="Calibri" pitchFamily="34" charset="-122"/>
                          <a:cs typeface="Calibri" pitchFamily="34" charset="-120"/>
                        </a:rPr>
                        <a:t>⬤ Primary</a:t>
                      </a:r>
                      <a:endParaRPr lang="en-US" sz="1000" dirty="0">
                        <a:latin typeface="Calibri" charset="0"/>
                        <a:ea typeface="Calibri" charset="0"/>
                        <a:cs typeface="Calibri" charset="0"/>
                      </a:endParaRPr>
                    </a:p>
                  </a:txBody>
                  <a:tcPr marL="63500" marR="63500" marT="38100" marB="38100" anchor="ctr">
                    <a:lnL w="6350" cap="flat" cmpd="sng" algn="ctr">
                      <a:solidFill>
                        <a:srgbClr val="E0D5E8"/>
                      </a:solidFill>
                      <a:prstDash val="solid"/>
                      <a:round/>
                      <a:headEnd type="none" w="med" len="med"/>
                      <a:tailEnd type="none" w="med" len="med"/>
                    </a:lnL>
                    <a:lnR w="6350" cap="flat" cmpd="sng" algn="ctr">
                      <a:solidFill>
                        <a:srgbClr val="E0D5E8"/>
                      </a:solidFill>
                      <a:prstDash val="solid"/>
                      <a:round/>
                      <a:headEnd type="none" w="med" len="med"/>
                      <a:tailEnd type="none" w="med" len="med"/>
                    </a:lnR>
                    <a:lnT w="6350" cap="flat" cmpd="sng" algn="ctr">
                      <a:solidFill>
                        <a:srgbClr val="E0D5E8"/>
                      </a:solidFill>
                      <a:prstDash val="solid"/>
                      <a:round/>
                      <a:headEnd type="none" w="med" len="med"/>
                      <a:tailEnd type="none" w="med" len="med"/>
                    </a:lnT>
                    <a:lnB w="6350" cap="flat" cmpd="sng" algn="ctr">
                      <a:solidFill>
                        <a:srgbClr val="E0D5E8"/>
                      </a:solidFill>
                      <a:prstDash val="solid"/>
                      <a:round/>
                      <a:headEnd type="none" w="med" len="med"/>
                      <a:tailEnd type="none" w="med" len="med"/>
                    </a:lnB>
                    <a:solidFill>
                      <a:srgbClr val="FFF3E5"/>
                    </a:solidFill>
                  </a:tcPr>
                </a:tc>
                <a:tc>
                  <a:txBody>
                    <a:bodyPr/>
                    <a:lstStyle/>
                    <a:p>
                      <a:pPr marL="0" indent="0" algn="ctr">
                        <a:buNone/>
                      </a:pPr>
                      <a:r>
                        <a:rPr lang="en-US" sz="1000" dirty="0">
                          <a:solidFill>
                            <a:srgbClr val="999999"/>
                          </a:solidFill>
                          <a:latin typeface="Calibri" pitchFamily="34" charset="0"/>
                          <a:ea typeface="Calibri" pitchFamily="34" charset="-122"/>
                          <a:cs typeface="Calibri" pitchFamily="34" charset="-120"/>
                        </a:rPr>
                        <a:t>○ Review</a:t>
                      </a:r>
                      <a:endParaRPr lang="en-US" sz="1000" dirty="0">
                        <a:latin typeface="Calibri" charset="0"/>
                        <a:ea typeface="Calibri" charset="0"/>
                        <a:cs typeface="Calibri" charset="0"/>
                      </a:endParaRPr>
                    </a:p>
                  </a:txBody>
                  <a:tcPr marL="63500" marR="63500" marT="38100" marB="38100" anchor="ctr">
                    <a:lnL w="6350" cap="flat" cmpd="sng" algn="ctr">
                      <a:solidFill>
                        <a:srgbClr val="E0D5E8"/>
                      </a:solidFill>
                      <a:prstDash val="solid"/>
                      <a:round/>
                      <a:headEnd type="none" w="med" len="med"/>
                      <a:tailEnd type="none" w="med" len="med"/>
                    </a:lnL>
                    <a:lnR w="6350" cap="flat" cmpd="sng" algn="ctr">
                      <a:solidFill>
                        <a:srgbClr val="E0D5E8"/>
                      </a:solidFill>
                      <a:prstDash val="solid"/>
                      <a:round/>
                      <a:headEnd type="none" w="med" len="med"/>
                      <a:tailEnd type="none" w="med" len="med"/>
                    </a:lnR>
                    <a:lnT w="6350" cap="flat" cmpd="sng" algn="ctr">
                      <a:solidFill>
                        <a:srgbClr val="E0D5E8"/>
                      </a:solidFill>
                      <a:prstDash val="solid"/>
                      <a:round/>
                      <a:headEnd type="none" w="med" len="med"/>
                      <a:tailEnd type="none" w="med" len="med"/>
                    </a:lnT>
                    <a:lnB w="6350" cap="flat" cmpd="sng" algn="ctr">
                      <a:solidFill>
                        <a:srgbClr val="E0D5E8"/>
                      </a:solidFill>
                      <a:prstDash val="solid"/>
                      <a:round/>
                      <a:headEnd type="none" w="med" len="med"/>
                      <a:tailEnd type="none" w="med" len="med"/>
                    </a:lnB>
                    <a:solidFill>
                      <a:srgbClr val="F9F5FC"/>
                    </a:solidFill>
                  </a:tcPr>
                </a:tc>
                <a:tc>
                  <a:txBody>
                    <a:bodyPr/>
                    <a:lstStyle/>
                    <a:p>
                      <a:pPr marL="0" indent="0" algn="ctr">
                        <a:buNone/>
                      </a:pPr>
                      <a:r>
                        <a:rPr lang="en-US" sz="1000" dirty="0">
                          <a:solidFill>
                            <a:srgbClr val="999999"/>
                          </a:solidFill>
                          <a:latin typeface="Calibri" pitchFamily="34" charset="0"/>
                          <a:ea typeface="Calibri" pitchFamily="34" charset="-122"/>
                          <a:cs typeface="Calibri" pitchFamily="34" charset="-120"/>
                        </a:rPr>
                        <a:t>○ Review</a:t>
                      </a:r>
                      <a:endParaRPr lang="en-US" sz="1000" dirty="0">
                        <a:latin typeface="Calibri" charset="0"/>
                        <a:ea typeface="Calibri" charset="0"/>
                        <a:cs typeface="Calibri" charset="0"/>
                      </a:endParaRPr>
                    </a:p>
                  </a:txBody>
                  <a:tcPr marL="63500" marR="63500" marT="38100" marB="38100" anchor="ctr">
                    <a:lnL w="6350" cap="flat" cmpd="sng" algn="ctr">
                      <a:solidFill>
                        <a:srgbClr val="E0D5E8"/>
                      </a:solidFill>
                      <a:prstDash val="solid"/>
                      <a:round/>
                      <a:headEnd type="none" w="med" len="med"/>
                      <a:tailEnd type="none" w="med" len="med"/>
                    </a:lnL>
                    <a:lnR w="6350" cap="flat" cmpd="sng" algn="ctr">
                      <a:solidFill>
                        <a:srgbClr val="E0D5E8"/>
                      </a:solidFill>
                      <a:prstDash val="solid"/>
                      <a:round/>
                      <a:headEnd type="none" w="med" len="med"/>
                      <a:tailEnd type="none" w="med" len="med"/>
                    </a:lnR>
                    <a:lnT w="6350" cap="flat" cmpd="sng" algn="ctr">
                      <a:solidFill>
                        <a:srgbClr val="E0D5E8"/>
                      </a:solidFill>
                      <a:prstDash val="solid"/>
                      <a:round/>
                      <a:headEnd type="none" w="med" len="med"/>
                      <a:tailEnd type="none" w="med" len="med"/>
                    </a:lnT>
                    <a:lnB w="6350" cap="flat" cmpd="sng" algn="ctr">
                      <a:solidFill>
                        <a:srgbClr val="E0D5E8"/>
                      </a:solidFill>
                      <a:prstDash val="solid"/>
                      <a:round/>
                      <a:headEnd type="none" w="med" len="med"/>
                      <a:tailEnd type="none" w="med" len="med"/>
                    </a:lnB>
                    <a:solidFill>
                      <a:srgbClr val="F9F5FC"/>
                    </a:solidFill>
                  </a:tcPr>
                </a:tc>
                <a:extLst>
                  <a:ext uri="{0D108BD9-81ED-4DB2-BD59-A6C34878D82A}">
                    <a16:rowId xmlns:a16="http://schemas.microsoft.com/office/drawing/2014/main" val="10003"/>
                  </a:ext>
                </a:extLst>
              </a:tr>
              <a:tr h="347472">
                <a:tc>
                  <a:txBody>
                    <a:bodyPr/>
                    <a:lstStyle/>
                    <a:p>
                      <a:pPr marL="0" indent="0" algn="ctr">
                        <a:buNone/>
                      </a:pPr>
                      <a:r>
                        <a:rPr lang="en-US" sz="1100" b="1" dirty="0">
                          <a:solidFill>
                            <a:srgbClr val="4F2170"/>
                          </a:solidFill>
                          <a:latin typeface="Arial" pitchFamily="34" charset="0"/>
                          <a:ea typeface="Arial" pitchFamily="34" charset="-122"/>
                          <a:cs typeface="Arial" pitchFamily="34" charset="-120"/>
                        </a:rPr>
                        <a:t>D</a:t>
                      </a:r>
                      <a:endParaRPr lang="en-US" sz="1100" dirty="0">
                        <a:latin typeface="Arial" charset="0"/>
                        <a:ea typeface="Arial" charset="0"/>
                        <a:cs typeface="Arial" charset="0"/>
                      </a:endParaRPr>
                    </a:p>
                  </a:txBody>
                  <a:tcPr marL="63500" marR="63500" marT="38100" marB="38100" anchor="ctr">
                    <a:lnL w="6350" cap="flat" cmpd="sng" algn="ctr">
                      <a:solidFill>
                        <a:srgbClr val="E0D5E8"/>
                      </a:solidFill>
                      <a:prstDash val="solid"/>
                      <a:round/>
                      <a:headEnd type="none" w="med" len="med"/>
                      <a:tailEnd type="none" w="med" len="med"/>
                    </a:lnL>
                    <a:lnR w="6350" cap="flat" cmpd="sng" algn="ctr">
                      <a:solidFill>
                        <a:srgbClr val="E0D5E8"/>
                      </a:solidFill>
                      <a:prstDash val="solid"/>
                      <a:round/>
                      <a:headEnd type="none" w="med" len="med"/>
                      <a:tailEnd type="none" w="med" len="med"/>
                    </a:lnR>
                    <a:lnT w="6350" cap="flat" cmpd="sng" algn="ctr">
                      <a:solidFill>
                        <a:srgbClr val="E0D5E8"/>
                      </a:solidFill>
                      <a:prstDash val="solid"/>
                      <a:round/>
                      <a:headEnd type="none" w="med" len="med"/>
                      <a:tailEnd type="none" w="med" len="med"/>
                    </a:lnT>
                    <a:lnB w="6350" cap="flat" cmpd="sng" algn="ctr">
                      <a:solidFill>
                        <a:srgbClr val="E0D5E8"/>
                      </a:solidFill>
                      <a:prstDash val="solid"/>
                      <a:round/>
                      <a:headEnd type="none" w="med" len="med"/>
                      <a:tailEnd type="none" w="med" len="med"/>
                    </a:lnB>
                    <a:solidFill>
                      <a:srgbClr val="FFFFFF"/>
                    </a:solidFill>
                  </a:tcPr>
                </a:tc>
                <a:tc>
                  <a:txBody>
                    <a:bodyPr/>
                    <a:lstStyle/>
                    <a:p>
                      <a:pPr marL="0" indent="0" algn="l">
                        <a:buNone/>
                      </a:pPr>
                      <a:r>
                        <a:rPr lang="en-US" sz="1000" dirty="0">
                          <a:solidFill>
                            <a:srgbClr val="3D3D3D"/>
                          </a:solidFill>
                          <a:latin typeface="Calibri" pitchFamily="34" charset="0"/>
                          <a:ea typeface="Calibri" pitchFamily="34" charset="-122"/>
                          <a:cs typeface="Calibri" pitchFamily="34" charset="-120"/>
                        </a:rPr>
                        <a:t>Code Structure &amp; Readability</a:t>
                      </a:r>
                      <a:endParaRPr lang="en-US" sz="1000" dirty="0">
                        <a:latin typeface="Calibri" charset="0"/>
                        <a:ea typeface="Calibri" charset="0"/>
                        <a:cs typeface="Calibri" charset="0"/>
                      </a:endParaRPr>
                    </a:p>
                  </a:txBody>
                  <a:tcPr marL="63500" marR="63500" marT="38100" marB="38100" anchor="ctr">
                    <a:lnL w="6350" cap="flat" cmpd="sng" algn="ctr">
                      <a:solidFill>
                        <a:srgbClr val="E0D5E8"/>
                      </a:solidFill>
                      <a:prstDash val="solid"/>
                      <a:round/>
                      <a:headEnd type="none" w="med" len="med"/>
                      <a:tailEnd type="none" w="med" len="med"/>
                    </a:lnL>
                    <a:lnR w="6350" cap="flat" cmpd="sng" algn="ctr">
                      <a:solidFill>
                        <a:srgbClr val="E0D5E8"/>
                      </a:solidFill>
                      <a:prstDash val="solid"/>
                      <a:round/>
                      <a:headEnd type="none" w="med" len="med"/>
                      <a:tailEnd type="none" w="med" len="med"/>
                    </a:lnR>
                    <a:lnT w="6350" cap="flat" cmpd="sng" algn="ctr">
                      <a:solidFill>
                        <a:srgbClr val="E0D5E8"/>
                      </a:solidFill>
                      <a:prstDash val="solid"/>
                      <a:round/>
                      <a:headEnd type="none" w="med" len="med"/>
                      <a:tailEnd type="none" w="med" len="med"/>
                    </a:lnT>
                    <a:lnB w="6350" cap="flat" cmpd="sng" algn="ctr">
                      <a:solidFill>
                        <a:srgbClr val="E0D5E8"/>
                      </a:solidFill>
                      <a:prstDash val="solid"/>
                      <a:round/>
                      <a:headEnd type="none" w="med" len="med"/>
                      <a:tailEnd type="none" w="med" len="med"/>
                    </a:lnB>
                    <a:solidFill>
                      <a:srgbClr val="FFFFFF"/>
                    </a:solidFill>
                  </a:tcPr>
                </a:tc>
                <a:tc>
                  <a:txBody>
                    <a:bodyPr/>
                    <a:lstStyle/>
                    <a:p>
                      <a:pPr marL="0" indent="0" algn="ctr">
                        <a:buNone/>
                      </a:pPr>
                      <a:r>
                        <a:rPr lang="en-US" sz="1000" b="1" dirty="0">
                          <a:solidFill>
                            <a:srgbClr val="E18719"/>
                          </a:solidFill>
                          <a:latin typeface="Calibri" pitchFamily="34" charset="0"/>
                          <a:ea typeface="Calibri" pitchFamily="34" charset="-122"/>
                          <a:cs typeface="Calibri" pitchFamily="34" charset="-120"/>
                        </a:rPr>
                        <a:t>⬤ Primary</a:t>
                      </a:r>
                      <a:endParaRPr lang="en-US" sz="1000" dirty="0">
                        <a:latin typeface="Calibri" charset="0"/>
                        <a:ea typeface="Calibri" charset="0"/>
                        <a:cs typeface="Calibri" charset="0"/>
                      </a:endParaRPr>
                    </a:p>
                  </a:txBody>
                  <a:tcPr marL="63500" marR="63500" marT="38100" marB="38100" anchor="ctr">
                    <a:lnL w="6350" cap="flat" cmpd="sng" algn="ctr">
                      <a:solidFill>
                        <a:srgbClr val="E0D5E8"/>
                      </a:solidFill>
                      <a:prstDash val="solid"/>
                      <a:round/>
                      <a:headEnd type="none" w="med" len="med"/>
                      <a:tailEnd type="none" w="med" len="med"/>
                    </a:lnL>
                    <a:lnR w="6350" cap="flat" cmpd="sng" algn="ctr">
                      <a:solidFill>
                        <a:srgbClr val="E0D5E8"/>
                      </a:solidFill>
                      <a:prstDash val="solid"/>
                      <a:round/>
                      <a:headEnd type="none" w="med" len="med"/>
                      <a:tailEnd type="none" w="med" len="med"/>
                    </a:lnR>
                    <a:lnT w="6350" cap="flat" cmpd="sng" algn="ctr">
                      <a:solidFill>
                        <a:srgbClr val="E0D5E8"/>
                      </a:solidFill>
                      <a:prstDash val="solid"/>
                      <a:round/>
                      <a:headEnd type="none" w="med" len="med"/>
                      <a:tailEnd type="none" w="med" len="med"/>
                    </a:lnT>
                    <a:lnB w="6350" cap="flat" cmpd="sng" algn="ctr">
                      <a:solidFill>
                        <a:srgbClr val="E0D5E8"/>
                      </a:solidFill>
                      <a:prstDash val="solid"/>
                      <a:round/>
                      <a:headEnd type="none" w="med" len="med"/>
                      <a:tailEnd type="none" w="med" len="med"/>
                    </a:lnB>
                    <a:solidFill>
                      <a:srgbClr val="FFF3E5"/>
                    </a:solidFill>
                  </a:tcPr>
                </a:tc>
                <a:tc>
                  <a:txBody>
                    <a:bodyPr/>
                    <a:lstStyle/>
                    <a:p>
                      <a:pPr marL="0" indent="0" algn="ctr">
                        <a:buNone/>
                      </a:pPr>
                      <a:r>
                        <a:rPr lang="en-US" sz="1000" dirty="0">
                          <a:solidFill>
                            <a:srgbClr val="999999"/>
                          </a:solidFill>
                          <a:latin typeface="Calibri" pitchFamily="34" charset="0"/>
                          <a:ea typeface="Calibri" pitchFamily="34" charset="-122"/>
                          <a:cs typeface="Calibri" pitchFamily="34" charset="-120"/>
                        </a:rPr>
                        <a:t>○ Review</a:t>
                      </a:r>
                      <a:endParaRPr lang="en-US" sz="1000" dirty="0">
                        <a:latin typeface="Calibri" charset="0"/>
                        <a:ea typeface="Calibri" charset="0"/>
                        <a:cs typeface="Calibri" charset="0"/>
                      </a:endParaRPr>
                    </a:p>
                  </a:txBody>
                  <a:tcPr marL="63500" marR="63500" marT="38100" marB="38100" anchor="ctr">
                    <a:lnL w="6350" cap="flat" cmpd="sng" algn="ctr">
                      <a:solidFill>
                        <a:srgbClr val="E0D5E8"/>
                      </a:solidFill>
                      <a:prstDash val="solid"/>
                      <a:round/>
                      <a:headEnd type="none" w="med" len="med"/>
                      <a:tailEnd type="none" w="med" len="med"/>
                    </a:lnL>
                    <a:lnR w="6350" cap="flat" cmpd="sng" algn="ctr">
                      <a:solidFill>
                        <a:srgbClr val="E0D5E8"/>
                      </a:solidFill>
                      <a:prstDash val="solid"/>
                      <a:round/>
                      <a:headEnd type="none" w="med" len="med"/>
                      <a:tailEnd type="none" w="med" len="med"/>
                    </a:lnR>
                    <a:lnT w="6350" cap="flat" cmpd="sng" algn="ctr">
                      <a:solidFill>
                        <a:srgbClr val="E0D5E8"/>
                      </a:solidFill>
                      <a:prstDash val="solid"/>
                      <a:round/>
                      <a:headEnd type="none" w="med" len="med"/>
                      <a:tailEnd type="none" w="med" len="med"/>
                    </a:lnT>
                    <a:lnB w="6350" cap="flat" cmpd="sng" algn="ctr">
                      <a:solidFill>
                        <a:srgbClr val="E0D5E8"/>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999999"/>
                          </a:solidFill>
                          <a:latin typeface="Calibri" pitchFamily="34" charset="0"/>
                          <a:ea typeface="Calibri" pitchFamily="34" charset="-122"/>
                          <a:cs typeface="Calibri" pitchFamily="34" charset="-120"/>
                        </a:rPr>
                        <a:t>○ Review</a:t>
                      </a:r>
                      <a:endParaRPr lang="en-US" sz="1000" dirty="0">
                        <a:latin typeface="Calibri" charset="0"/>
                        <a:ea typeface="Calibri" charset="0"/>
                        <a:cs typeface="Calibri" charset="0"/>
                      </a:endParaRPr>
                    </a:p>
                  </a:txBody>
                  <a:tcPr marL="63500" marR="63500" marT="38100" marB="38100" anchor="ctr">
                    <a:lnL w="6350" cap="flat" cmpd="sng" algn="ctr">
                      <a:solidFill>
                        <a:srgbClr val="E0D5E8"/>
                      </a:solidFill>
                      <a:prstDash val="solid"/>
                      <a:round/>
                      <a:headEnd type="none" w="med" len="med"/>
                      <a:tailEnd type="none" w="med" len="med"/>
                    </a:lnL>
                    <a:lnR w="6350" cap="flat" cmpd="sng" algn="ctr">
                      <a:solidFill>
                        <a:srgbClr val="E0D5E8"/>
                      </a:solidFill>
                      <a:prstDash val="solid"/>
                      <a:round/>
                      <a:headEnd type="none" w="med" len="med"/>
                      <a:tailEnd type="none" w="med" len="med"/>
                    </a:lnR>
                    <a:lnT w="6350" cap="flat" cmpd="sng" algn="ctr">
                      <a:solidFill>
                        <a:srgbClr val="E0D5E8"/>
                      </a:solidFill>
                      <a:prstDash val="solid"/>
                      <a:round/>
                      <a:headEnd type="none" w="med" len="med"/>
                      <a:tailEnd type="none" w="med" len="med"/>
                    </a:lnT>
                    <a:lnB w="6350" cap="flat" cmpd="sng" algn="ctr">
                      <a:solidFill>
                        <a:srgbClr val="E0D5E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47472">
                <a:tc>
                  <a:txBody>
                    <a:bodyPr/>
                    <a:lstStyle/>
                    <a:p>
                      <a:pPr marL="0" indent="0" algn="ctr">
                        <a:buNone/>
                      </a:pPr>
                      <a:r>
                        <a:rPr lang="en-US" sz="1100" b="1" dirty="0">
                          <a:solidFill>
                            <a:srgbClr val="4F2170"/>
                          </a:solidFill>
                          <a:latin typeface="Arial" pitchFamily="34" charset="0"/>
                          <a:ea typeface="Arial" pitchFamily="34" charset="-122"/>
                          <a:cs typeface="Arial" pitchFamily="34" charset="-120"/>
                        </a:rPr>
                        <a:t>E</a:t>
                      </a:r>
                      <a:endParaRPr lang="en-US" sz="1100" dirty="0">
                        <a:latin typeface="Arial" charset="0"/>
                        <a:ea typeface="Arial" charset="0"/>
                        <a:cs typeface="Arial" charset="0"/>
                      </a:endParaRPr>
                    </a:p>
                  </a:txBody>
                  <a:tcPr marL="63500" marR="63500" marT="38100" marB="38100" anchor="ctr">
                    <a:lnL w="6350" cap="flat" cmpd="sng" algn="ctr">
                      <a:solidFill>
                        <a:srgbClr val="E0D5E8"/>
                      </a:solidFill>
                      <a:prstDash val="solid"/>
                      <a:round/>
                      <a:headEnd type="none" w="med" len="med"/>
                      <a:tailEnd type="none" w="med" len="med"/>
                    </a:lnL>
                    <a:lnR w="6350" cap="flat" cmpd="sng" algn="ctr">
                      <a:solidFill>
                        <a:srgbClr val="E0D5E8"/>
                      </a:solidFill>
                      <a:prstDash val="solid"/>
                      <a:round/>
                      <a:headEnd type="none" w="med" len="med"/>
                      <a:tailEnd type="none" w="med" len="med"/>
                    </a:lnR>
                    <a:lnT w="6350" cap="flat" cmpd="sng" algn="ctr">
                      <a:solidFill>
                        <a:srgbClr val="E0D5E8"/>
                      </a:solidFill>
                      <a:prstDash val="solid"/>
                      <a:round/>
                      <a:headEnd type="none" w="med" len="med"/>
                      <a:tailEnd type="none" w="med" len="med"/>
                    </a:lnT>
                    <a:lnB w="6350" cap="flat" cmpd="sng" algn="ctr">
                      <a:solidFill>
                        <a:srgbClr val="E0D5E8"/>
                      </a:solidFill>
                      <a:prstDash val="solid"/>
                      <a:round/>
                      <a:headEnd type="none" w="med" len="med"/>
                      <a:tailEnd type="none" w="med" len="med"/>
                    </a:lnB>
                    <a:solidFill>
                      <a:srgbClr val="F9F5FC"/>
                    </a:solidFill>
                  </a:tcPr>
                </a:tc>
                <a:tc>
                  <a:txBody>
                    <a:bodyPr/>
                    <a:lstStyle/>
                    <a:p>
                      <a:pPr marL="0" indent="0" algn="l">
                        <a:buNone/>
                      </a:pPr>
                      <a:r>
                        <a:rPr lang="en-US" sz="1000" dirty="0">
                          <a:solidFill>
                            <a:srgbClr val="3D3D3D"/>
                          </a:solidFill>
                          <a:latin typeface="Calibri" pitchFamily="34" charset="0"/>
                          <a:ea typeface="Calibri" pitchFamily="34" charset="-122"/>
                          <a:cs typeface="Calibri" pitchFamily="34" charset="-120"/>
                        </a:rPr>
                        <a:t>Data Loading &amp; Quality Assurance</a:t>
                      </a:r>
                      <a:endParaRPr lang="en-US" sz="1000" dirty="0">
                        <a:latin typeface="Calibri" charset="0"/>
                        <a:ea typeface="Calibri" charset="0"/>
                        <a:cs typeface="Calibri" charset="0"/>
                      </a:endParaRPr>
                    </a:p>
                  </a:txBody>
                  <a:tcPr marL="63500" marR="63500" marT="38100" marB="38100" anchor="ctr">
                    <a:lnL w="6350" cap="flat" cmpd="sng" algn="ctr">
                      <a:solidFill>
                        <a:srgbClr val="E0D5E8"/>
                      </a:solidFill>
                      <a:prstDash val="solid"/>
                      <a:round/>
                      <a:headEnd type="none" w="med" len="med"/>
                      <a:tailEnd type="none" w="med" len="med"/>
                    </a:lnL>
                    <a:lnR w="6350" cap="flat" cmpd="sng" algn="ctr">
                      <a:solidFill>
                        <a:srgbClr val="E0D5E8"/>
                      </a:solidFill>
                      <a:prstDash val="solid"/>
                      <a:round/>
                      <a:headEnd type="none" w="med" len="med"/>
                      <a:tailEnd type="none" w="med" len="med"/>
                    </a:lnR>
                    <a:lnT w="6350" cap="flat" cmpd="sng" algn="ctr">
                      <a:solidFill>
                        <a:srgbClr val="E0D5E8"/>
                      </a:solidFill>
                      <a:prstDash val="solid"/>
                      <a:round/>
                      <a:headEnd type="none" w="med" len="med"/>
                      <a:tailEnd type="none" w="med" len="med"/>
                    </a:lnT>
                    <a:lnB w="6350" cap="flat" cmpd="sng" algn="ctr">
                      <a:solidFill>
                        <a:srgbClr val="E0D5E8"/>
                      </a:solidFill>
                      <a:prstDash val="solid"/>
                      <a:round/>
                      <a:headEnd type="none" w="med" len="med"/>
                      <a:tailEnd type="none" w="med" len="med"/>
                    </a:lnB>
                    <a:solidFill>
                      <a:srgbClr val="F9F5FC"/>
                    </a:solidFill>
                  </a:tcPr>
                </a:tc>
                <a:tc>
                  <a:txBody>
                    <a:bodyPr/>
                    <a:lstStyle/>
                    <a:p>
                      <a:pPr marL="0" indent="0" algn="ctr">
                        <a:buNone/>
                      </a:pPr>
                      <a:r>
                        <a:rPr lang="en-US" sz="1000" dirty="0">
                          <a:solidFill>
                            <a:srgbClr val="999999"/>
                          </a:solidFill>
                          <a:latin typeface="Calibri" pitchFamily="34" charset="0"/>
                          <a:ea typeface="Calibri" pitchFamily="34" charset="-122"/>
                          <a:cs typeface="Calibri" pitchFamily="34" charset="-120"/>
                        </a:rPr>
                        <a:t>○ Prep</a:t>
                      </a:r>
                      <a:endParaRPr lang="en-US" sz="1000" dirty="0">
                        <a:latin typeface="Calibri" charset="0"/>
                        <a:ea typeface="Calibri" charset="0"/>
                        <a:cs typeface="Calibri" charset="0"/>
                      </a:endParaRPr>
                    </a:p>
                  </a:txBody>
                  <a:tcPr marL="63500" marR="63500" marT="38100" marB="38100" anchor="ctr">
                    <a:lnL w="6350" cap="flat" cmpd="sng" algn="ctr">
                      <a:solidFill>
                        <a:srgbClr val="E0D5E8"/>
                      </a:solidFill>
                      <a:prstDash val="solid"/>
                      <a:round/>
                      <a:headEnd type="none" w="med" len="med"/>
                      <a:tailEnd type="none" w="med" len="med"/>
                    </a:lnL>
                    <a:lnR w="6350" cap="flat" cmpd="sng" algn="ctr">
                      <a:solidFill>
                        <a:srgbClr val="E0D5E8"/>
                      </a:solidFill>
                      <a:prstDash val="solid"/>
                      <a:round/>
                      <a:headEnd type="none" w="med" len="med"/>
                      <a:tailEnd type="none" w="med" len="med"/>
                    </a:lnR>
                    <a:lnT w="6350" cap="flat" cmpd="sng" algn="ctr">
                      <a:solidFill>
                        <a:srgbClr val="E0D5E8"/>
                      </a:solidFill>
                      <a:prstDash val="solid"/>
                      <a:round/>
                      <a:headEnd type="none" w="med" len="med"/>
                      <a:tailEnd type="none" w="med" len="med"/>
                    </a:lnT>
                    <a:lnB w="6350" cap="flat" cmpd="sng" algn="ctr">
                      <a:solidFill>
                        <a:srgbClr val="E0D5E8"/>
                      </a:solidFill>
                      <a:prstDash val="solid"/>
                      <a:round/>
                      <a:headEnd type="none" w="med" len="med"/>
                      <a:tailEnd type="none" w="med" len="med"/>
                    </a:lnB>
                    <a:solidFill>
                      <a:srgbClr val="F9F5FC"/>
                    </a:solidFill>
                  </a:tcPr>
                </a:tc>
                <a:tc>
                  <a:txBody>
                    <a:bodyPr/>
                    <a:lstStyle/>
                    <a:p>
                      <a:pPr marL="0" indent="0" algn="ctr">
                        <a:buNone/>
                      </a:pPr>
                      <a:r>
                        <a:rPr lang="en-US" sz="1000" b="1" dirty="0">
                          <a:solidFill>
                            <a:srgbClr val="E18719"/>
                          </a:solidFill>
                          <a:latin typeface="Calibri" pitchFamily="34" charset="0"/>
                          <a:ea typeface="Calibri" pitchFamily="34" charset="-122"/>
                          <a:cs typeface="Calibri" pitchFamily="34" charset="-120"/>
                        </a:rPr>
                        <a:t>⬤ Primary</a:t>
                      </a:r>
                      <a:endParaRPr lang="en-US" sz="1000" dirty="0">
                        <a:latin typeface="Calibri" charset="0"/>
                        <a:ea typeface="Calibri" charset="0"/>
                        <a:cs typeface="Calibri" charset="0"/>
                      </a:endParaRPr>
                    </a:p>
                  </a:txBody>
                  <a:tcPr marL="63500" marR="63500" marT="38100" marB="38100" anchor="ctr">
                    <a:lnL w="6350" cap="flat" cmpd="sng" algn="ctr">
                      <a:solidFill>
                        <a:srgbClr val="E0D5E8"/>
                      </a:solidFill>
                      <a:prstDash val="solid"/>
                      <a:round/>
                      <a:headEnd type="none" w="med" len="med"/>
                      <a:tailEnd type="none" w="med" len="med"/>
                    </a:lnL>
                    <a:lnR w="6350" cap="flat" cmpd="sng" algn="ctr">
                      <a:solidFill>
                        <a:srgbClr val="E0D5E8"/>
                      </a:solidFill>
                      <a:prstDash val="solid"/>
                      <a:round/>
                      <a:headEnd type="none" w="med" len="med"/>
                      <a:tailEnd type="none" w="med" len="med"/>
                    </a:lnR>
                    <a:lnT w="6350" cap="flat" cmpd="sng" algn="ctr">
                      <a:solidFill>
                        <a:srgbClr val="E0D5E8"/>
                      </a:solidFill>
                      <a:prstDash val="solid"/>
                      <a:round/>
                      <a:headEnd type="none" w="med" len="med"/>
                      <a:tailEnd type="none" w="med" len="med"/>
                    </a:lnT>
                    <a:lnB w="6350" cap="flat" cmpd="sng" algn="ctr">
                      <a:solidFill>
                        <a:srgbClr val="E0D5E8"/>
                      </a:solidFill>
                      <a:prstDash val="solid"/>
                      <a:round/>
                      <a:headEnd type="none" w="med" len="med"/>
                      <a:tailEnd type="none" w="med" len="med"/>
                    </a:lnB>
                    <a:solidFill>
                      <a:srgbClr val="FFF3E5"/>
                    </a:solidFill>
                  </a:tcPr>
                </a:tc>
                <a:tc>
                  <a:txBody>
                    <a:bodyPr/>
                    <a:lstStyle/>
                    <a:p>
                      <a:pPr marL="0" indent="0" algn="ctr">
                        <a:buNone/>
                      </a:pPr>
                      <a:r>
                        <a:rPr lang="en-US" sz="1000" dirty="0">
                          <a:solidFill>
                            <a:srgbClr val="999999"/>
                          </a:solidFill>
                          <a:latin typeface="Calibri" pitchFamily="34" charset="0"/>
                          <a:ea typeface="Calibri" pitchFamily="34" charset="-122"/>
                          <a:cs typeface="Calibri" pitchFamily="34" charset="-120"/>
                        </a:rPr>
                        <a:t>○ Review</a:t>
                      </a:r>
                      <a:endParaRPr lang="en-US" sz="1000" dirty="0">
                        <a:latin typeface="Calibri" charset="0"/>
                        <a:ea typeface="Calibri" charset="0"/>
                        <a:cs typeface="Calibri" charset="0"/>
                      </a:endParaRPr>
                    </a:p>
                  </a:txBody>
                  <a:tcPr marL="63500" marR="63500" marT="38100" marB="38100" anchor="ctr">
                    <a:lnL w="6350" cap="flat" cmpd="sng" algn="ctr">
                      <a:solidFill>
                        <a:srgbClr val="E0D5E8"/>
                      </a:solidFill>
                      <a:prstDash val="solid"/>
                      <a:round/>
                      <a:headEnd type="none" w="med" len="med"/>
                      <a:tailEnd type="none" w="med" len="med"/>
                    </a:lnL>
                    <a:lnR w="6350" cap="flat" cmpd="sng" algn="ctr">
                      <a:solidFill>
                        <a:srgbClr val="E0D5E8"/>
                      </a:solidFill>
                      <a:prstDash val="solid"/>
                      <a:round/>
                      <a:headEnd type="none" w="med" len="med"/>
                      <a:tailEnd type="none" w="med" len="med"/>
                    </a:lnR>
                    <a:lnT w="6350" cap="flat" cmpd="sng" algn="ctr">
                      <a:solidFill>
                        <a:srgbClr val="E0D5E8"/>
                      </a:solidFill>
                      <a:prstDash val="solid"/>
                      <a:round/>
                      <a:headEnd type="none" w="med" len="med"/>
                      <a:tailEnd type="none" w="med" len="med"/>
                    </a:lnT>
                    <a:lnB w="6350" cap="flat" cmpd="sng" algn="ctr">
                      <a:solidFill>
                        <a:srgbClr val="E0D5E8"/>
                      </a:solidFill>
                      <a:prstDash val="solid"/>
                      <a:round/>
                      <a:headEnd type="none" w="med" len="med"/>
                      <a:tailEnd type="none" w="med" len="med"/>
                    </a:lnB>
                    <a:solidFill>
                      <a:srgbClr val="F9F5FC"/>
                    </a:solidFill>
                  </a:tcPr>
                </a:tc>
                <a:extLst>
                  <a:ext uri="{0D108BD9-81ED-4DB2-BD59-A6C34878D82A}">
                    <a16:rowId xmlns:a16="http://schemas.microsoft.com/office/drawing/2014/main" val="10005"/>
                  </a:ext>
                </a:extLst>
              </a:tr>
              <a:tr h="347472">
                <a:tc>
                  <a:txBody>
                    <a:bodyPr/>
                    <a:lstStyle/>
                    <a:p>
                      <a:pPr marL="0" indent="0" algn="ctr">
                        <a:buNone/>
                      </a:pPr>
                      <a:r>
                        <a:rPr lang="en-US" sz="1100" b="1" dirty="0">
                          <a:solidFill>
                            <a:srgbClr val="4F2170"/>
                          </a:solidFill>
                          <a:latin typeface="Arial" pitchFamily="34" charset="0"/>
                          <a:ea typeface="Arial" pitchFamily="34" charset="-122"/>
                          <a:cs typeface="Arial" pitchFamily="34" charset="-120"/>
                        </a:rPr>
                        <a:t>F</a:t>
                      </a:r>
                      <a:endParaRPr lang="en-US" sz="1100" dirty="0">
                        <a:latin typeface="Arial" charset="0"/>
                        <a:ea typeface="Arial" charset="0"/>
                        <a:cs typeface="Arial" charset="0"/>
                      </a:endParaRPr>
                    </a:p>
                  </a:txBody>
                  <a:tcPr marL="63500" marR="63500" marT="38100" marB="38100" anchor="ctr">
                    <a:lnL w="6350" cap="flat" cmpd="sng" algn="ctr">
                      <a:solidFill>
                        <a:srgbClr val="E0D5E8"/>
                      </a:solidFill>
                      <a:prstDash val="solid"/>
                      <a:round/>
                      <a:headEnd type="none" w="med" len="med"/>
                      <a:tailEnd type="none" w="med" len="med"/>
                    </a:lnL>
                    <a:lnR w="6350" cap="flat" cmpd="sng" algn="ctr">
                      <a:solidFill>
                        <a:srgbClr val="E0D5E8"/>
                      </a:solidFill>
                      <a:prstDash val="solid"/>
                      <a:round/>
                      <a:headEnd type="none" w="med" len="med"/>
                      <a:tailEnd type="none" w="med" len="med"/>
                    </a:lnR>
                    <a:lnT w="6350" cap="flat" cmpd="sng" algn="ctr">
                      <a:solidFill>
                        <a:srgbClr val="E0D5E8"/>
                      </a:solidFill>
                      <a:prstDash val="solid"/>
                      <a:round/>
                      <a:headEnd type="none" w="med" len="med"/>
                      <a:tailEnd type="none" w="med" len="med"/>
                    </a:lnT>
                    <a:lnB w="6350" cap="flat" cmpd="sng" algn="ctr">
                      <a:solidFill>
                        <a:srgbClr val="E0D5E8"/>
                      </a:solidFill>
                      <a:prstDash val="solid"/>
                      <a:round/>
                      <a:headEnd type="none" w="med" len="med"/>
                      <a:tailEnd type="none" w="med" len="med"/>
                    </a:lnB>
                    <a:solidFill>
                      <a:srgbClr val="FFFFFF"/>
                    </a:solidFill>
                  </a:tcPr>
                </a:tc>
                <a:tc>
                  <a:txBody>
                    <a:bodyPr/>
                    <a:lstStyle/>
                    <a:p>
                      <a:pPr marL="0" indent="0" algn="l">
                        <a:buNone/>
                      </a:pPr>
                      <a:r>
                        <a:rPr lang="en-US" sz="1000" dirty="0">
                          <a:solidFill>
                            <a:srgbClr val="3D3D3D"/>
                          </a:solidFill>
                          <a:latin typeface="Calibri" pitchFamily="34" charset="0"/>
                          <a:ea typeface="Calibri" pitchFamily="34" charset="-122"/>
                          <a:cs typeface="Calibri" pitchFamily="34" charset="-120"/>
                        </a:rPr>
                        <a:t>KPI Calculation, Rules &amp; Accuracy</a:t>
                      </a:r>
                      <a:endParaRPr lang="en-US" sz="1000" dirty="0">
                        <a:latin typeface="Calibri" charset="0"/>
                        <a:ea typeface="Calibri" charset="0"/>
                        <a:cs typeface="Calibri" charset="0"/>
                      </a:endParaRPr>
                    </a:p>
                  </a:txBody>
                  <a:tcPr marL="63500" marR="63500" marT="38100" marB="38100" anchor="ctr">
                    <a:lnL w="6350" cap="flat" cmpd="sng" algn="ctr">
                      <a:solidFill>
                        <a:srgbClr val="E0D5E8"/>
                      </a:solidFill>
                      <a:prstDash val="solid"/>
                      <a:round/>
                      <a:headEnd type="none" w="med" len="med"/>
                      <a:tailEnd type="none" w="med" len="med"/>
                    </a:lnL>
                    <a:lnR w="6350" cap="flat" cmpd="sng" algn="ctr">
                      <a:solidFill>
                        <a:srgbClr val="E0D5E8"/>
                      </a:solidFill>
                      <a:prstDash val="solid"/>
                      <a:round/>
                      <a:headEnd type="none" w="med" len="med"/>
                      <a:tailEnd type="none" w="med" len="med"/>
                    </a:lnR>
                    <a:lnT w="6350" cap="flat" cmpd="sng" algn="ctr">
                      <a:solidFill>
                        <a:srgbClr val="E0D5E8"/>
                      </a:solidFill>
                      <a:prstDash val="solid"/>
                      <a:round/>
                      <a:headEnd type="none" w="med" len="med"/>
                      <a:tailEnd type="none" w="med" len="med"/>
                    </a:lnT>
                    <a:lnB w="6350" cap="flat" cmpd="sng" algn="ctr">
                      <a:solidFill>
                        <a:srgbClr val="E0D5E8"/>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999999"/>
                          </a:solidFill>
                          <a:latin typeface="Calibri" pitchFamily="34" charset="0"/>
                          <a:ea typeface="Calibri" pitchFamily="34" charset="-122"/>
                          <a:cs typeface="Calibri" pitchFamily="34" charset="-120"/>
                        </a:rPr>
                        <a:t>○ Prep</a:t>
                      </a:r>
                      <a:endParaRPr lang="en-US" sz="1000" dirty="0">
                        <a:latin typeface="Calibri" charset="0"/>
                        <a:ea typeface="Calibri" charset="0"/>
                        <a:cs typeface="Calibri" charset="0"/>
                      </a:endParaRPr>
                    </a:p>
                  </a:txBody>
                  <a:tcPr marL="63500" marR="63500" marT="38100" marB="38100" anchor="ctr">
                    <a:lnL w="6350" cap="flat" cmpd="sng" algn="ctr">
                      <a:solidFill>
                        <a:srgbClr val="E0D5E8"/>
                      </a:solidFill>
                      <a:prstDash val="solid"/>
                      <a:round/>
                      <a:headEnd type="none" w="med" len="med"/>
                      <a:tailEnd type="none" w="med" len="med"/>
                    </a:lnL>
                    <a:lnR w="6350" cap="flat" cmpd="sng" algn="ctr">
                      <a:solidFill>
                        <a:srgbClr val="E0D5E8"/>
                      </a:solidFill>
                      <a:prstDash val="solid"/>
                      <a:round/>
                      <a:headEnd type="none" w="med" len="med"/>
                      <a:tailEnd type="none" w="med" len="med"/>
                    </a:lnR>
                    <a:lnT w="6350" cap="flat" cmpd="sng" algn="ctr">
                      <a:solidFill>
                        <a:srgbClr val="E0D5E8"/>
                      </a:solidFill>
                      <a:prstDash val="solid"/>
                      <a:round/>
                      <a:headEnd type="none" w="med" len="med"/>
                      <a:tailEnd type="none" w="med" len="med"/>
                    </a:lnT>
                    <a:lnB w="6350" cap="flat" cmpd="sng" algn="ctr">
                      <a:solidFill>
                        <a:srgbClr val="E0D5E8"/>
                      </a:solidFill>
                      <a:prstDash val="solid"/>
                      <a:round/>
                      <a:headEnd type="none" w="med" len="med"/>
                      <a:tailEnd type="none" w="med" len="med"/>
                    </a:lnB>
                    <a:solidFill>
                      <a:srgbClr val="FFFFFF"/>
                    </a:solidFill>
                  </a:tcPr>
                </a:tc>
                <a:tc>
                  <a:txBody>
                    <a:bodyPr/>
                    <a:lstStyle/>
                    <a:p>
                      <a:pPr marL="0" indent="0" algn="ctr">
                        <a:buNone/>
                      </a:pPr>
                      <a:r>
                        <a:rPr lang="en-US" sz="1000" b="1" dirty="0">
                          <a:solidFill>
                            <a:srgbClr val="E18719"/>
                          </a:solidFill>
                          <a:latin typeface="Calibri" pitchFamily="34" charset="0"/>
                          <a:ea typeface="Calibri" pitchFamily="34" charset="-122"/>
                          <a:cs typeface="Calibri" pitchFamily="34" charset="-120"/>
                        </a:rPr>
                        <a:t>⬤ Primary</a:t>
                      </a:r>
                      <a:endParaRPr lang="en-US" sz="1000" dirty="0">
                        <a:latin typeface="Calibri" charset="0"/>
                        <a:ea typeface="Calibri" charset="0"/>
                        <a:cs typeface="Calibri" charset="0"/>
                      </a:endParaRPr>
                    </a:p>
                  </a:txBody>
                  <a:tcPr marL="63500" marR="63500" marT="38100" marB="38100" anchor="ctr">
                    <a:lnL w="6350" cap="flat" cmpd="sng" algn="ctr">
                      <a:solidFill>
                        <a:srgbClr val="E0D5E8"/>
                      </a:solidFill>
                      <a:prstDash val="solid"/>
                      <a:round/>
                      <a:headEnd type="none" w="med" len="med"/>
                      <a:tailEnd type="none" w="med" len="med"/>
                    </a:lnL>
                    <a:lnR w="6350" cap="flat" cmpd="sng" algn="ctr">
                      <a:solidFill>
                        <a:srgbClr val="E0D5E8"/>
                      </a:solidFill>
                      <a:prstDash val="solid"/>
                      <a:round/>
                      <a:headEnd type="none" w="med" len="med"/>
                      <a:tailEnd type="none" w="med" len="med"/>
                    </a:lnR>
                    <a:lnT w="6350" cap="flat" cmpd="sng" algn="ctr">
                      <a:solidFill>
                        <a:srgbClr val="E0D5E8"/>
                      </a:solidFill>
                      <a:prstDash val="solid"/>
                      <a:round/>
                      <a:headEnd type="none" w="med" len="med"/>
                      <a:tailEnd type="none" w="med" len="med"/>
                    </a:lnT>
                    <a:lnB w="6350" cap="flat" cmpd="sng" algn="ctr">
                      <a:solidFill>
                        <a:srgbClr val="E0D5E8"/>
                      </a:solidFill>
                      <a:prstDash val="solid"/>
                      <a:round/>
                      <a:headEnd type="none" w="med" len="med"/>
                      <a:tailEnd type="none" w="med" len="med"/>
                    </a:lnB>
                    <a:solidFill>
                      <a:srgbClr val="FFF3E5"/>
                    </a:solidFill>
                  </a:tcPr>
                </a:tc>
                <a:tc>
                  <a:txBody>
                    <a:bodyPr/>
                    <a:lstStyle/>
                    <a:p>
                      <a:pPr marL="0" indent="0" algn="ctr">
                        <a:buNone/>
                      </a:pPr>
                      <a:r>
                        <a:rPr lang="en-US" sz="1000" b="1" dirty="0">
                          <a:solidFill>
                            <a:srgbClr val="E18719"/>
                          </a:solidFill>
                          <a:latin typeface="Calibri" pitchFamily="34" charset="0"/>
                          <a:ea typeface="Calibri" pitchFamily="34" charset="-122"/>
                          <a:cs typeface="Calibri" pitchFamily="34" charset="-120"/>
                        </a:rPr>
                        <a:t>⬤ Primary</a:t>
                      </a:r>
                      <a:endParaRPr lang="en-US" sz="1000" dirty="0">
                        <a:latin typeface="Calibri" charset="0"/>
                        <a:ea typeface="Calibri" charset="0"/>
                        <a:cs typeface="Calibri" charset="0"/>
                      </a:endParaRPr>
                    </a:p>
                  </a:txBody>
                  <a:tcPr marL="63500" marR="63500" marT="38100" marB="38100" anchor="ctr">
                    <a:lnL w="6350" cap="flat" cmpd="sng" algn="ctr">
                      <a:solidFill>
                        <a:srgbClr val="E0D5E8"/>
                      </a:solidFill>
                      <a:prstDash val="solid"/>
                      <a:round/>
                      <a:headEnd type="none" w="med" len="med"/>
                      <a:tailEnd type="none" w="med" len="med"/>
                    </a:lnL>
                    <a:lnR w="6350" cap="flat" cmpd="sng" algn="ctr">
                      <a:solidFill>
                        <a:srgbClr val="E0D5E8"/>
                      </a:solidFill>
                      <a:prstDash val="solid"/>
                      <a:round/>
                      <a:headEnd type="none" w="med" len="med"/>
                      <a:tailEnd type="none" w="med" len="med"/>
                    </a:lnR>
                    <a:lnT w="6350" cap="flat" cmpd="sng" algn="ctr">
                      <a:solidFill>
                        <a:srgbClr val="E0D5E8"/>
                      </a:solidFill>
                      <a:prstDash val="solid"/>
                      <a:round/>
                      <a:headEnd type="none" w="med" len="med"/>
                      <a:tailEnd type="none" w="med" len="med"/>
                    </a:lnT>
                    <a:lnB w="6350" cap="flat" cmpd="sng" algn="ctr">
                      <a:solidFill>
                        <a:srgbClr val="E0D5E8"/>
                      </a:solidFill>
                      <a:prstDash val="solid"/>
                      <a:round/>
                      <a:headEnd type="none" w="med" len="med"/>
                      <a:tailEnd type="none" w="med" len="med"/>
                    </a:lnB>
                    <a:solidFill>
                      <a:srgbClr val="FFF3E5"/>
                    </a:solidFill>
                  </a:tcPr>
                </a:tc>
                <a:extLst>
                  <a:ext uri="{0D108BD9-81ED-4DB2-BD59-A6C34878D82A}">
                    <a16:rowId xmlns:a16="http://schemas.microsoft.com/office/drawing/2014/main" val="10006"/>
                  </a:ext>
                </a:extLst>
              </a:tr>
              <a:tr h="347472">
                <a:tc>
                  <a:txBody>
                    <a:bodyPr/>
                    <a:lstStyle/>
                    <a:p>
                      <a:pPr marL="0" indent="0" algn="ctr">
                        <a:buNone/>
                      </a:pPr>
                      <a:r>
                        <a:rPr lang="en-US" sz="1100" b="1" dirty="0">
                          <a:solidFill>
                            <a:srgbClr val="4F2170"/>
                          </a:solidFill>
                          <a:latin typeface="Arial" pitchFamily="34" charset="0"/>
                          <a:ea typeface="Arial" pitchFamily="34" charset="-122"/>
                          <a:cs typeface="Arial" pitchFamily="34" charset="-120"/>
                        </a:rPr>
                        <a:t>G</a:t>
                      </a:r>
                      <a:endParaRPr lang="en-US" sz="1100" dirty="0">
                        <a:latin typeface="Arial" charset="0"/>
                        <a:ea typeface="Arial" charset="0"/>
                        <a:cs typeface="Arial" charset="0"/>
                      </a:endParaRPr>
                    </a:p>
                  </a:txBody>
                  <a:tcPr marL="63500" marR="63500" marT="38100" marB="38100" anchor="ctr">
                    <a:lnL w="6350" cap="flat" cmpd="sng" algn="ctr">
                      <a:solidFill>
                        <a:srgbClr val="E0D5E8"/>
                      </a:solidFill>
                      <a:prstDash val="solid"/>
                      <a:round/>
                      <a:headEnd type="none" w="med" len="med"/>
                      <a:tailEnd type="none" w="med" len="med"/>
                    </a:lnL>
                    <a:lnR w="6350" cap="flat" cmpd="sng" algn="ctr">
                      <a:solidFill>
                        <a:srgbClr val="E0D5E8"/>
                      </a:solidFill>
                      <a:prstDash val="solid"/>
                      <a:round/>
                      <a:headEnd type="none" w="med" len="med"/>
                      <a:tailEnd type="none" w="med" len="med"/>
                    </a:lnR>
                    <a:lnT w="6350" cap="flat" cmpd="sng" algn="ctr">
                      <a:solidFill>
                        <a:srgbClr val="E0D5E8"/>
                      </a:solidFill>
                      <a:prstDash val="solid"/>
                      <a:round/>
                      <a:headEnd type="none" w="med" len="med"/>
                      <a:tailEnd type="none" w="med" len="med"/>
                    </a:lnT>
                    <a:lnB w="6350" cap="flat" cmpd="sng" algn="ctr">
                      <a:solidFill>
                        <a:srgbClr val="E0D5E8"/>
                      </a:solidFill>
                      <a:prstDash val="solid"/>
                      <a:round/>
                      <a:headEnd type="none" w="med" len="med"/>
                      <a:tailEnd type="none" w="med" len="med"/>
                    </a:lnB>
                    <a:solidFill>
                      <a:srgbClr val="F9F5FC"/>
                    </a:solidFill>
                  </a:tcPr>
                </a:tc>
                <a:tc>
                  <a:txBody>
                    <a:bodyPr/>
                    <a:lstStyle/>
                    <a:p>
                      <a:pPr marL="0" indent="0" algn="l">
                        <a:buNone/>
                      </a:pPr>
                      <a:r>
                        <a:rPr lang="en-US" sz="1000" dirty="0">
                          <a:solidFill>
                            <a:srgbClr val="3D3D3D"/>
                          </a:solidFill>
                          <a:latin typeface="Calibri" pitchFamily="34" charset="0"/>
                          <a:ea typeface="Calibri" pitchFamily="34" charset="-122"/>
                          <a:cs typeface="Calibri" pitchFamily="34" charset="-120"/>
                        </a:rPr>
                        <a:t>Performance &amp; Cost Efficiency</a:t>
                      </a:r>
                      <a:endParaRPr lang="en-US" sz="1000" dirty="0">
                        <a:latin typeface="Calibri" charset="0"/>
                        <a:ea typeface="Calibri" charset="0"/>
                        <a:cs typeface="Calibri" charset="0"/>
                      </a:endParaRPr>
                    </a:p>
                  </a:txBody>
                  <a:tcPr marL="63500" marR="63500" marT="38100" marB="38100" anchor="ctr">
                    <a:lnL w="6350" cap="flat" cmpd="sng" algn="ctr">
                      <a:solidFill>
                        <a:srgbClr val="E0D5E8"/>
                      </a:solidFill>
                      <a:prstDash val="solid"/>
                      <a:round/>
                      <a:headEnd type="none" w="med" len="med"/>
                      <a:tailEnd type="none" w="med" len="med"/>
                    </a:lnL>
                    <a:lnR w="6350" cap="flat" cmpd="sng" algn="ctr">
                      <a:solidFill>
                        <a:srgbClr val="E0D5E8"/>
                      </a:solidFill>
                      <a:prstDash val="solid"/>
                      <a:round/>
                      <a:headEnd type="none" w="med" len="med"/>
                      <a:tailEnd type="none" w="med" len="med"/>
                    </a:lnR>
                    <a:lnT w="6350" cap="flat" cmpd="sng" algn="ctr">
                      <a:solidFill>
                        <a:srgbClr val="E0D5E8"/>
                      </a:solidFill>
                      <a:prstDash val="solid"/>
                      <a:round/>
                      <a:headEnd type="none" w="med" len="med"/>
                      <a:tailEnd type="none" w="med" len="med"/>
                    </a:lnT>
                    <a:lnB w="6350" cap="flat" cmpd="sng" algn="ctr">
                      <a:solidFill>
                        <a:srgbClr val="E0D5E8"/>
                      </a:solidFill>
                      <a:prstDash val="solid"/>
                      <a:round/>
                      <a:headEnd type="none" w="med" len="med"/>
                      <a:tailEnd type="none" w="med" len="med"/>
                    </a:lnB>
                    <a:solidFill>
                      <a:srgbClr val="F9F5FC"/>
                    </a:solidFill>
                  </a:tcPr>
                </a:tc>
                <a:tc>
                  <a:txBody>
                    <a:bodyPr/>
                    <a:lstStyle/>
                    <a:p>
                      <a:pPr marL="0" indent="0" algn="ctr">
                        <a:buNone/>
                      </a:pPr>
                      <a:r>
                        <a:rPr lang="en-US" sz="1000" dirty="0">
                          <a:solidFill>
                            <a:srgbClr val="999999"/>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63500" marR="63500" marT="38100" marB="38100" anchor="ctr">
                    <a:lnL w="6350" cap="flat" cmpd="sng" algn="ctr">
                      <a:solidFill>
                        <a:srgbClr val="E0D5E8"/>
                      </a:solidFill>
                      <a:prstDash val="solid"/>
                      <a:round/>
                      <a:headEnd type="none" w="med" len="med"/>
                      <a:tailEnd type="none" w="med" len="med"/>
                    </a:lnL>
                    <a:lnR w="6350" cap="flat" cmpd="sng" algn="ctr">
                      <a:solidFill>
                        <a:srgbClr val="E0D5E8"/>
                      </a:solidFill>
                      <a:prstDash val="solid"/>
                      <a:round/>
                      <a:headEnd type="none" w="med" len="med"/>
                      <a:tailEnd type="none" w="med" len="med"/>
                    </a:lnR>
                    <a:lnT w="6350" cap="flat" cmpd="sng" algn="ctr">
                      <a:solidFill>
                        <a:srgbClr val="E0D5E8"/>
                      </a:solidFill>
                      <a:prstDash val="solid"/>
                      <a:round/>
                      <a:headEnd type="none" w="med" len="med"/>
                      <a:tailEnd type="none" w="med" len="med"/>
                    </a:lnT>
                    <a:lnB w="6350" cap="flat" cmpd="sng" algn="ctr">
                      <a:solidFill>
                        <a:srgbClr val="E0D5E8"/>
                      </a:solidFill>
                      <a:prstDash val="solid"/>
                      <a:round/>
                      <a:headEnd type="none" w="med" len="med"/>
                      <a:tailEnd type="none" w="med" len="med"/>
                    </a:lnB>
                    <a:solidFill>
                      <a:srgbClr val="F9F5FC"/>
                    </a:solidFill>
                  </a:tcPr>
                </a:tc>
                <a:tc>
                  <a:txBody>
                    <a:bodyPr/>
                    <a:lstStyle/>
                    <a:p>
                      <a:pPr marL="0" indent="0" algn="ctr">
                        <a:buNone/>
                      </a:pPr>
                      <a:r>
                        <a:rPr lang="en-US" sz="1000" b="1" dirty="0">
                          <a:solidFill>
                            <a:srgbClr val="E18719"/>
                          </a:solidFill>
                          <a:latin typeface="Calibri" pitchFamily="34" charset="0"/>
                          <a:ea typeface="Calibri" pitchFamily="34" charset="-122"/>
                          <a:cs typeface="Calibri" pitchFamily="34" charset="-120"/>
                        </a:rPr>
                        <a:t>⬤ Primary</a:t>
                      </a:r>
                      <a:endParaRPr lang="en-US" sz="1000" dirty="0">
                        <a:latin typeface="Calibri" charset="0"/>
                        <a:ea typeface="Calibri" charset="0"/>
                        <a:cs typeface="Calibri" charset="0"/>
                      </a:endParaRPr>
                    </a:p>
                  </a:txBody>
                  <a:tcPr marL="63500" marR="63500" marT="38100" marB="38100" anchor="ctr">
                    <a:lnL w="6350" cap="flat" cmpd="sng" algn="ctr">
                      <a:solidFill>
                        <a:srgbClr val="E0D5E8"/>
                      </a:solidFill>
                      <a:prstDash val="solid"/>
                      <a:round/>
                      <a:headEnd type="none" w="med" len="med"/>
                      <a:tailEnd type="none" w="med" len="med"/>
                    </a:lnL>
                    <a:lnR w="6350" cap="flat" cmpd="sng" algn="ctr">
                      <a:solidFill>
                        <a:srgbClr val="E0D5E8"/>
                      </a:solidFill>
                      <a:prstDash val="solid"/>
                      <a:round/>
                      <a:headEnd type="none" w="med" len="med"/>
                      <a:tailEnd type="none" w="med" len="med"/>
                    </a:lnR>
                    <a:lnT w="6350" cap="flat" cmpd="sng" algn="ctr">
                      <a:solidFill>
                        <a:srgbClr val="E0D5E8"/>
                      </a:solidFill>
                      <a:prstDash val="solid"/>
                      <a:round/>
                      <a:headEnd type="none" w="med" len="med"/>
                      <a:tailEnd type="none" w="med" len="med"/>
                    </a:lnT>
                    <a:lnB w="6350" cap="flat" cmpd="sng" algn="ctr">
                      <a:solidFill>
                        <a:srgbClr val="E0D5E8"/>
                      </a:solidFill>
                      <a:prstDash val="solid"/>
                      <a:round/>
                      <a:headEnd type="none" w="med" len="med"/>
                      <a:tailEnd type="none" w="med" len="med"/>
                    </a:lnB>
                    <a:solidFill>
                      <a:srgbClr val="FFF3E5"/>
                    </a:solidFill>
                  </a:tcPr>
                </a:tc>
                <a:tc>
                  <a:txBody>
                    <a:bodyPr/>
                    <a:lstStyle/>
                    <a:p>
                      <a:pPr marL="0" indent="0" algn="ctr">
                        <a:buNone/>
                      </a:pPr>
                      <a:r>
                        <a:rPr lang="en-US" sz="1000" dirty="0">
                          <a:solidFill>
                            <a:srgbClr val="999999"/>
                          </a:solidFill>
                          <a:latin typeface="Calibri" pitchFamily="34" charset="0"/>
                          <a:ea typeface="Calibri" pitchFamily="34" charset="-122"/>
                          <a:cs typeface="Calibri" pitchFamily="34" charset="-120"/>
                        </a:rPr>
                        <a:t>○ Review</a:t>
                      </a:r>
                      <a:endParaRPr lang="en-US" sz="1000" dirty="0">
                        <a:latin typeface="Calibri" charset="0"/>
                        <a:ea typeface="Calibri" charset="0"/>
                        <a:cs typeface="Calibri" charset="0"/>
                      </a:endParaRPr>
                    </a:p>
                  </a:txBody>
                  <a:tcPr marL="63500" marR="63500" marT="38100" marB="38100" anchor="ctr">
                    <a:lnL w="6350" cap="flat" cmpd="sng" algn="ctr">
                      <a:solidFill>
                        <a:srgbClr val="E0D5E8"/>
                      </a:solidFill>
                      <a:prstDash val="solid"/>
                      <a:round/>
                      <a:headEnd type="none" w="med" len="med"/>
                      <a:tailEnd type="none" w="med" len="med"/>
                    </a:lnL>
                    <a:lnR w="6350" cap="flat" cmpd="sng" algn="ctr">
                      <a:solidFill>
                        <a:srgbClr val="E0D5E8"/>
                      </a:solidFill>
                      <a:prstDash val="solid"/>
                      <a:round/>
                      <a:headEnd type="none" w="med" len="med"/>
                      <a:tailEnd type="none" w="med" len="med"/>
                    </a:lnR>
                    <a:lnT w="6350" cap="flat" cmpd="sng" algn="ctr">
                      <a:solidFill>
                        <a:srgbClr val="E0D5E8"/>
                      </a:solidFill>
                      <a:prstDash val="solid"/>
                      <a:round/>
                      <a:headEnd type="none" w="med" len="med"/>
                      <a:tailEnd type="none" w="med" len="med"/>
                    </a:lnT>
                    <a:lnB w="6350" cap="flat" cmpd="sng" algn="ctr">
                      <a:solidFill>
                        <a:srgbClr val="E0D5E8"/>
                      </a:solidFill>
                      <a:prstDash val="solid"/>
                      <a:round/>
                      <a:headEnd type="none" w="med" len="med"/>
                      <a:tailEnd type="none" w="med" len="med"/>
                    </a:lnB>
                    <a:solidFill>
                      <a:srgbClr val="F9F5FC"/>
                    </a:solidFill>
                  </a:tcPr>
                </a:tc>
                <a:extLst>
                  <a:ext uri="{0D108BD9-81ED-4DB2-BD59-A6C34878D82A}">
                    <a16:rowId xmlns:a16="http://schemas.microsoft.com/office/drawing/2014/main" val="10007"/>
                  </a:ext>
                </a:extLst>
              </a:tr>
              <a:tr h="347472">
                <a:tc>
                  <a:txBody>
                    <a:bodyPr/>
                    <a:lstStyle/>
                    <a:p>
                      <a:pPr marL="0" indent="0" algn="ctr">
                        <a:buNone/>
                      </a:pPr>
                      <a:r>
                        <a:rPr lang="en-US" sz="1100" b="1" dirty="0">
                          <a:solidFill>
                            <a:srgbClr val="4F2170"/>
                          </a:solidFill>
                          <a:latin typeface="Arial" pitchFamily="34" charset="0"/>
                          <a:ea typeface="Arial" pitchFamily="34" charset="-122"/>
                          <a:cs typeface="Arial" pitchFamily="34" charset="-120"/>
                        </a:rPr>
                        <a:t>H</a:t>
                      </a:r>
                      <a:endParaRPr lang="en-US" sz="1100" dirty="0">
                        <a:latin typeface="Arial" charset="0"/>
                        <a:ea typeface="Arial" charset="0"/>
                        <a:cs typeface="Arial" charset="0"/>
                      </a:endParaRPr>
                    </a:p>
                  </a:txBody>
                  <a:tcPr marL="63500" marR="63500" marT="38100" marB="38100" anchor="ctr">
                    <a:lnL w="6350" cap="flat" cmpd="sng" algn="ctr">
                      <a:solidFill>
                        <a:srgbClr val="E0D5E8"/>
                      </a:solidFill>
                      <a:prstDash val="solid"/>
                      <a:round/>
                      <a:headEnd type="none" w="med" len="med"/>
                      <a:tailEnd type="none" w="med" len="med"/>
                    </a:lnL>
                    <a:lnR w="6350" cap="flat" cmpd="sng" algn="ctr">
                      <a:solidFill>
                        <a:srgbClr val="E0D5E8"/>
                      </a:solidFill>
                      <a:prstDash val="solid"/>
                      <a:round/>
                      <a:headEnd type="none" w="med" len="med"/>
                      <a:tailEnd type="none" w="med" len="med"/>
                    </a:lnR>
                    <a:lnT w="6350" cap="flat" cmpd="sng" algn="ctr">
                      <a:solidFill>
                        <a:srgbClr val="E0D5E8"/>
                      </a:solidFill>
                      <a:prstDash val="solid"/>
                      <a:round/>
                      <a:headEnd type="none" w="med" len="med"/>
                      <a:tailEnd type="none" w="med" len="med"/>
                    </a:lnT>
                    <a:lnB w="6350" cap="flat" cmpd="sng" algn="ctr">
                      <a:solidFill>
                        <a:srgbClr val="E0D5E8"/>
                      </a:solidFill>
                      <a:prstDash val="solid"/>
                      <a:round/>
                      <a:headEnd type="none" w="med" len="med"/>
                      <a:tailEnd type="none" w="med" len="med"/>
                    </a:lnB>
                    <a:solidFill>
                      <a:srgbClr val="FFFFFF"/>
                    </a:solidFill>
                  </a:tcPr>
                </a:tc>
                <a:tc>
                  <a:txBody>
                    <a:bodyPr/>
                    <a:lstStyle/>
                    <a:p>
                      <a:pPr marL="0" indent="0" algn="l">
                        <a:buNone/>
                      </a:pPr>
                      <a:r>
                        <a:rPr lang="en-US" sz="1000" dirty="0">
                          <a:solidFill>
                            <a:srgbClr val="3D3D3D"/>
                          </a:solidFill>
                          <a:latin typeface="Calibri" pitchFamily="34" charset="0"/>
                          <a:ea typeface="Calibri" pitchFamily="34" charset="-122"/>
                          <a:cs typeface="Calibri" pitchFamily="34" charset="-120"/>
                        </a:rPr>
                        <a:t>Scalability &amp; Multi-Market Readiness</a:t>
                      </a:r>
                      <a:endParaRPr lang="en-US" sz="1000" dirty="0">
                        <a:latin typeface="Calibri" charset="0"/>
                        <a:ea typeface="Calibri" charset="0"/>
                        <a:cs typeface="Calibri" charset="0"/>
                      </a:endParaRPr>
                    </a:p>
                  </a:txBody>
                  <a:tcPr marL="63500" marR="63500" marT="38100" marB="38100" anchor="ctr">
                    <a:lnL w="6350" cap="flat" cmpd="sng" algn="ctr">
                      <a:solidFill>
                        <a:srgbClr val="E0D5E8"/>
                      </a:solidFill>
                      <a:prstDash val="solid"/>
                      <a:round/>
                      <a:headEnd type="none" w="med" len="med"/>
                      <a:tailEnd type="none" w="med" len="med"/>
                    </a:lnL>
                    <a:lnR w="6350" cap="flat" cmpd="sng" algn="ctr">
                      <a:solidFill>
                        <a:srgbClr val="E0D5E8"/>
                      </a:solidFill>
                      <a:prstDash val="solid"/>
                      <a:round/>
                      <a:headEnd type="none" w="med" len="med"/>
                      <a:tailEnd type="none" w="med" len="med"/>
                    </a:lnR>
                    <a:lnT w="6350" cap="flat" cmpd="sng" algn="ctr">
                      <a:solidFill>
                        <a:srgbClr val="E0D5E8"/>
                      </a:solidFill>
                      <a:prstDash val="solid"/>
                      <a:round/>
                      <a:headEnd type="none" w="med" len="med"/>
                      <a:tailEnd type="none" w="med" len="med"/>
                    </a:lnT>
                    <a:lnB w="6350" cap="flat" cmpd="sng" algn="ctr">
                      <a:solidFill>
                        <a:srgbClr val="E0D5E8"/>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999999"/>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63500" marR="63500" marT="38100" marB="38100" anchor="ctr">
                    <a:lnL w="6350" cap="flat" cmpd="sng" algn="ctr">
                      <a:solidFill>
                        <a:srgbClr val="E0D5E8"/>
                      </a:solidFill>
                      <a:prstDash val="solid"/>
                      <a:round/>
                      <a:headEnd type="none" w="med" len="med"/>
                      <a:tailEnd type="none" w="med" len="med"/>
                    </a:lnL>
                    <a:lnR w="6350" cap="flat" cmpd="sng" algn="ctr">
                      <a:solidFill>
                        <a:srgbClr val="E0D5E8"/>
                      </a:solidFill>
                      <a:prstDash val="solid"/>
                      <a:round/>
                      <a:headEnd type="none" w="med" len="med"/>
                      <a:tailEnd type="none" w="med" len="med"/>
                    </a:lnR>
                    <a:lnT w="6350" cap="flat" cmpd="sng" algn="ctr">
                      <a:solidFill>
                        <a:srgbClr val="E0D5E8"/>
                      </a:solidFill>
                      <a:prstDash val="solid"/>
                      <a:round/>
                      <a:headEnd type="none" w="med" len="med"/>
                      <a:tailEnd type="none" w="med" len="med"/>
                    </a:lnT>
                    <a:lnB w="6350" cap="flat" cmpd="sng" algn="ctr">
                      <a:solidFill>
                        <a:srgbClr val="E0D5E8"/>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999999"/>
                          </a:solidFill>
                          <a:latin typeface="Calibri" pitchFamily="34" charset="0"/>
                          <a:ea typeface="Calibri" pitchFamily="34" charset="-122"/>
                          <a:cs typeface="Calibri" pitchFamily="34" charset="-120"/>
                        </a:rPr>
                        <a:t>○ Prep</a:t>
                      </a:r>
                      <a:endParaRPr lang="en-US" sz="1000" dirty="0">
                        <a:latin typeface="Calibri" charset="0"/>
                        <a:ea typeface="Calibri" charset="0"/>
                        <a:cs typeface="Calibri" charset="0"/>
                      </a:endParaRPr>
                    </a:p>
                  </a:txBody>
                  <a:tcPr marL="63500" marR="63500" marT="38100" marB="38100" anchor="ctr">
                    <a:lnL w="6350" cap="flat" cmpd="sng" algn="ctr">
                      <a:solidFill>
                        <a:srgbClr val="E0D5E8"/>
                      </a:solidFill>
                      <a:prstDash val="solid"/>
                      <a:round/>
                      <a:headEnd type="none" w="med" len="med"/>
                      <a:tailEnd type="none" w="med" len="med"/>
                    </a:lnL>
                    <a:lnR w="6350" cap="flat" cmpd="sng" algn="ctr">
                      <a:solidFill>
                        <a:srgbClr val="E0D5E8"/>
                      </a:solidFill>
                      <a:prstDash val="solid"/>
                      <a:round/>
                      <a:headEnd type="none" w="med" len="med"/>
                      <a:tailEnd type="none" w="med" len="med"/>
                    </a:lnR>
                    <a:lnT w="6350" cap="flat" cmpd="sng" algn="ctr">
                      <a:solidFill>
                        <a:srgbClr val="E0D5E8"/>
                      </a:solidFill>
                      <a:prstDash val="solid"/>
                      <a:round/>
                      <a:headEnd type="none" w="med" len="med"/>
                      <a:tailEnd type="none" w="med" len="med"/>
                    </a:lnT>
                    <a:lnB w="6350" cap="flat" cmpd="sng" algn="ctr">
                      <a:solidFill>
                        <a:srgbClr val="E0D5E8"/>
                      </a:solidFill>
                      <a:prstDash val="solid"/>
                      <a:round/>
                      <a:headEnd type="none" w="med" len="med"/>
                      <a:tailEnd type="none" w="med" len="med"/>
                    </a:lnB>
                    <a:solidFill>
                      <a:srgbClr val="FFFFFF"/>
                    </a:solidFill>
                  </a:tcPr>
                </a:tc>
                <a:tc>
                  <a:txBody>
                    <a:bodyPr/>
                    <a:lstStyle/>
                    <a:p>
                      <a:pPr marL="0" indent="0" algn="ctr">
                        <a:buNone/>
                      </a:pPr>
                      <a:r>
                        <a:rPr lang="en-US" sz="1000" b="1" dirty="0">
                          <a:solidFill>
                            <a:srgbClr val="E18719"/>
                          </a:solidFill>
                          <a:latin typeface="Calibri" pitchFamily="34" charset="0"/>
                          <a:ea typeface="Calibri" pitchFamily="34" charset="-122"/>
                          <a:cs typeface="Calibri" pitchFamily="34" charset="-120"/>
                        </a:rPr>
                        <a:t>⬤ Primary</a:t>
                      </a:r>
                      <a:endParaRPr lang="en-US" sz="1000" dirty="0">
                        <a:latin typeface="Calibri" charset="0"/>
                        <a:ea typeface="Calibri" charset="0"/>
                        <a:cs typeface="Calibri" charset="0"/>
                      </a:endParaRPr>
                    </a:p>
                  </a:txBody>
                  <a:tcPr marL="63500" marR="63500" marT="38100" marB="38100" anchor="ctr">
                    <a:lnL w="6350" cap="flat" cmpd="sng" algn="ctr">
                      <a:solidFill>
                        <a:srgbClr val="E0D5E8"/>
                      </a:solidFill>
                      <a:prstDash val="solid"/>
                      <a:round/>
                      <a:headEnd type="none" w="med" len="med"/>
                      <a:tailEnd type="none" w="med" len="med"/>
                    </a:lnL>
                    <a:lnR w="6350" cap="flat" cmpd="sng" algn="ctr">
                      <a:solidFill>
                        <a:srgbClr val="E0D5E8"/>
                      </a:solidFill>
                      <a:prstDash val="solid"/>
                      <a:round/>
                      <a:headEnd type="none" w="med" len="med"/>
                      <a:tailEnd type="none" w="med" len="med"/>
                    </a:lnR>
                    <a:lnT w="6350" cap="flat" cmpd="sng" algn="ctr">
                      <a:solidFill>
                        <a:srgbClr val="E0D5E8"/>
                      </a:solidFill>
                      <a:prstDash val="solid"/>
                      <a:round/>
                      <a:headEnd type="none" w="med" len="med"/>
                      <a:tailEnd type="none" w="med" len="med"/>
                    </a:lnT>
                    <a:lnB w="6350" cap="flat" cmpd="sng" algn="ctr">
                      <a:solidFill>
                        <a:srgbClr val="E0D5E8"/>
                      </a:solidFill>
                      <a:prstDash val="solid"/>
                      <a:round/>
                      <a:headEnd type="none" w="med" len="med"/>
                      <a:tailEnd type="none" w="med" len="med"/>
                    </a:lnB>
                    <a:solidFill>
                      <a:srgbClr val="FFF3E5"/>
                    </a:solidFill>
                  </a:tcPr>
                </a:tc>
                <a:extLst>
                  <a:ext uri="{0D108BD9-81ED-4DB2-BD59-A6C34878D82A}">
                    <a16:rowId xmlns:a16="http://schemas.microsoft.com/office/drawing/2014/main" val="10008"/>
                  </a:ext>
                </a:extLst>
              </a:tr>
              <a:tr h="347472">
                <a:tc>
                  <a:txBody>
                    <a:bodyPr/>
                    <a:lstStyle/>
                    <a:p>
                      <a:pPr marL="0" indent="0" algn="ctr">
                        <a:buNone/>
                      </a:pPr>
                      <a:r>
                        <a:rPr lang="en-US" sz="1100" b="1" dirty="0">
                          <a:solidFill>
                            <a:srgbClr val="4F2170"/>
                          </a:solidFill>
                          <a:latin typeface="Arial" pitchFamily="34" charset="0"/>
                          <a:ea typeface="Arial" pitchFamily="34" charset="-122"/>
                          <a:cs typeface="Arial" pitchFamily="34" charset="-120"/>
                        </a:rPr>
                        <a:t>I</a:t>
                      </a:r>
                      <a:endParaRPr lang="en-US" sz="1100" dirty="0">
                        <a:latin typeface="Arial" charset="0"/>
                        <a:ea typeface="Arial" charset="0"/>
                        <a:cs typeface="Arial" charset="0"/>
                      </a:endParaRPr>
                    </a:p>
                  </a:txBody>
                  <a:tcPr marL="63500" marR="63500" marT="38100" marB="38100" anchor="ctr">
                    <a:lnL w="6350" cap="flat" cmpd="sng" algn="ctr">
                      <a:solidFill>
                        <a:srgbClr val="E0D5E8"/>
                      </a:solidFill>
                      <a:prstDash val="solid"/>
                      <a:round/>
                      <a:headEnd type="none" w="med" len="med"/>
                      <a:tailEnd type="none" w="med" len="med"/>
                    </a:lnL>
                    <a:lnR w="6350" cap="flat" cmpd="sng" algn="ctr">
                      <a:solidFill>
                        <a:srgbClr val="E0D5E8"/>
                      </a:solidFill>
                      <a:prstDash val="solid"/>
                      <a:round/>
                      <a:headEnd type="none" w="med" len="med"/>
                      <a:tailEnd type="none" w="med" len="med"/>
                    </a:lnR>
                    <a:lnT w="6350" cap="flat" cmpd="sng" algn="ctr">
                      <a:solidFill>
                        <a:srgbClr val="E0D5E8"/>
                      </a:solidFill>
                      <a:prstDash val="solid"/>
                      <a:round/>
                      <a:headEnd type="none" w="med" len="med"/>
                      <a:tailEnd type="none" w="med" len="med"/>
                    </a:lnT>
                    <a:lnB w="6350" cap="flat" cmpd="sng" algn="ctr">
                      <a:solidFill>
                        <a:srgbClr val="E0D5E8"/>
                      </a:solidFill>
                      <a:prstDash val="solid"/>
                      <a:round/>
                      <a:headEnd type="none" w="med" len="med"/>
                      <a:tailEnd type="none" w="med" len="med"/>
                    </a:lnB>
                    <a:solidFill>
                      <a:srgbClr val="F9F5FC"/>
                    </a:solidFill>
                  </a:tcPr>
                </a:tc>
                <a:tc>
                  <a:txBody>
                    <a:bodyPr/>
                    <a:lstStyle/>
                    <a:p>
                      <a:pPr marL="0" indent="0" algn="l">
                        <a:buNone/>
                      </a:pPr>
                      <a:r>
                        <a:rPr lang="en-US" sz="1000" dirty="0">
                          <a:solidFill>
                            <a:srgbClr val="3D3D3D"/>
                          </a:solidFill>
                          <a:latin typeface="Calibri" pitchFamily="34" charset="0"/>
                          <a:ea typeface="Calibri" pitchFamily="34" charset="-122"/>
                          <a:cs typeface="Calibri" pitchFamily="34" charset="-120"/>
                        </a:rPr>
                        <a:t>Security &amp; Compliance</a:t>
                      </a:r>
                      <a:endParaRPr lang="en-US" sz="1000" dirty="0">
                        <a:latin typeface="Calibri" charset="0"/>
                        <a:ea typeface="Calibri" charset="0"/>
                        <a:cs typeface="Calibri" charset="0"/>
                      </a:endParaRPr>
                    </a:p>
                  </a:txBody>
                  <a:tcPr marL="63500" marR="63500" marT="38100" marB="38100" anchor="ctr">
                    <a:lnL w="6350" cap="flat" cmpd="sng" algn="ctr">
                      <a:solidFill>
                        <a:srgbClr val="E0D5E8"/>
                      </a:solidFill>
                      <a:prstDash val="solid"/>
                      <a:round/>
                      <a:headEnd type="none" w="med" len="med"/>
                      <a:tailEnd type="none" w="med" len="med"/>
                    </a:lnL>
                    <a:lnR w="6350" cap="flat" cmpd="sng" algn="ctr">
                      <a:solidFill>
                        <a:srgbClr val="E0D5E8"/>
                      </a:solidFill>
                      <a:prstDash val="solid"/>
                      <a:round/>
                      <a:headEnd type="none" w="med" len="med"/>
                      <a:tailEnd type="none" w="med" len="med"/>
                    </a:lnR>
                    <a:lnT w="6350" cap="flat" cmpd="sng" algn="ctr">
                      <a:solidFill>
                        <a:srgbClr val="E0D5E8"/>
                      </a:solidFill>
                      <a:prstDash val="solid"/>
                      <a:round/>
                      <a:headEnd type="none" w="med" len="med"/>
                      <a:tailEnd type="none" w="med" len="med"/>
                    </a:lnT>
                    <a:lnB w="6350" cap="flat" cmpd="sng" algn="ctr">
                      <a:solidFill>
                        <a:srgbClr val="E0D5E8"/>
                      </a:solidFill>
                      <a:prstDash val="solid"/>
                      <a:round/>
                      <a:headEnd type="none" w="med" len="med"/>
                      <a:tailEnd type="none" w="med" len="med"/>
                    </a:lnB>
                    <a:solidFill>
                      <a:srgbClr val="F9F5FC"/>
                    </a:solidFill>
                  </a:tcPr>
                </a:tc>
                <a:tc>
                  <a:txBody>
                    <a:bodyPr/>
                    <a:lstStyle/>
                    <a:p>
                      <a:pPr marL="0" indent="0" algn="ctr">
                        <a:buNone/>
                      </a:pPr>
                      <a:r>
                        <a:rPr lang="en-US" sz="1000" dirty="0">
                          <a:solidFill>
                            <a:srgbClr val="999999"/>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63500" marR="63500" marT="38100" marB="38100" anchor="ctr">
                    <a:lnL w="6350" cap="flat" cmpd="sng" algn="ctr">
                      <a:solidFill>
                        <a:srgbClr val="E0D5E8"/>
                      </a:solidFill>
                      <a:prstDash val="solid"/>
                      <a:round/>
                      <a:headEnd type="none" w="med" len="med"/>
                      <a:tailEnd type="none" w="med" len="med"/>
                    </a:lnL>
                    <a:lnR w="6350" cap="flat" cmpd="sng" algn="ctr">
                      <a:solidFill>
                        <a:srgbClr val="E0D5E8"/>
                      </a:solidFill>
                      <a:prstDash val="solid"/>
                      <a:round/>
                      <a:headEnd type="none" w="med" len="med"/>
                      <a:tailEnd type="none" w="med" len="med"/>
                    </a:lnR>
                    <a:lnT w="6350" cap="flat" cmpd="sng" algn="ctr">
                      <a:solidFill>
                        <a:srgbClr val="E0D5E8"/>
                      </a:solidFill>
                      <a:prstDash val="solid"/>
                      <a:round/>
                      <a:headEnd type="none" w="med" len="med"/>
                      <a:tailEnd type="none" w="med" len="med"/>
                    </a:lnT>
                    <a:lnB w="6350" cap="flat" cmpd="sng" algn="ctr">
                      <a:solidFill>
                        <a:srgbClr val="E0D5E8"/>
                      </a:solidFill>
                      <a:prstDash val="solid"/>
                      <a:round/>
                      <a:headEnd type="none" w="med" len="med"/>
                      <a:tailEnd type="none" w="med" len="med"/>
                    </a:lnB>
                    <a:solidFill>
                      <a:srgbClr val="F9F5FC"/>
                    </a:solidFill>
                  </a:tcPr>
                </a:tc>
                <a:tc>
                  <a:txBody>
                    <a:bodyPr/>
                    <a:lstStyle/>
                    <a:p>
                      <a:pPr marL="0" indent="0" algn="ctr">
                        <a:buNone/>
                      </a:pPr>
                      <a:r>
                        <a:rPr lang="en-US" sz="1000" b="1" dirty="0">
                          <a:solidFill>
                            <a:srgbClr val="E18719"/>
                          </a:solidFill>
                          <a:latin typeface="Calibri" pitchFamily="34" charset="0"/>
                          <a:ea typeface="Calibri" pitchFamily="34" charset="-122"/>
                          <a:cs typeface="Calibri" pitchFamily="34" charset="-120"/>
                        </a:rPr>
                        <a:t>⬤ Primary</a:t>
                      </a:r>
                      <a:endParaRPr lang="en-US" sz="1000" dirty="0">
                        <a:latin typeface="Calibri" charset="0"/>
                        <a:ea typeface="Calibri" charset="0"/>
                        <a:cs typeface="Calibri" charset="0"/>
                      </a:endParaRPr>
                    </a:p>
                  </a:txBody>
                  <a:tcPr marL="63500" marR="63500" marT="38100" marB="38100" anchor="ctr">
                    <a:lnL w="6350" cap="flat" cmpd="sng" algn="ctr">
                      <a:solidFill>
                        <a:srgbClr val="E0D5E8"/>
                      </a:solidFill>
                      <a:prstDash val="solid"/>
                      <a:round/>
                      <a:headEnd type="none" w="med" len="med"/>
                      <a:tailEnd type="none" w="med" len="med"/>
                    </a:lnL>
                    <a:lnR w="6350" cap="flat" cmpd="sng" algn="ctr">
                      <a:solidFill>
                        <a:srgbClr val="E0D5E8"/>
                      </a:solidFill>
                      <a:prstDash val="solid"/>
                      <a:round/>
                      <a:headEnd type="none" w="med" len="med"/>
                      <a:tailEnd type="none" w="med" len="med"/>
                    </a:lnR>
                    <a:lnT w="6350" cap="flat" cmpd="sng" algn="ctr">
                      <a:solidFill>
                        <a:srgbClr val="E0D5E8"/>
                      </a:solidFill>
                      <a:prstDash val="solid"/>
                      <a:round/>
                      <a:headEnd type="none" w="med" len="med"/>
                      <a:tailEnd type="none" w="med" len="med"/>
                    </a:lnT>
                    <a:lnB w="6350" cap="flat" cmpd="sng" algn="ctr">
                      <a:solidFill>
                        <a:srgbClr val="E0D5E8"/>
                      </a:solidFill>
                      <a:prstDash val="solid"/>
                      <a:round/>
                      <a:headEnd type="none" w="med" len="med"/>
                      <a:tailEnd type="none" w="med" len="med"/>
                    </a:lnB>
                    <a:solidFill>
                      <a:srgbClr val="FFF3E5"/>
                    </a:solidFill>
                  </a:tcPr>
                </a:tc>
                <a:tc>
                  <a:txBody>
                    <a:bodyPr/>
                    <a:lstStyle/>
                    <a:p>
                      <a:pPr marL="0" indent="0" algn="ctr">
                        <a:buNone/>
                      </a:pPr>
                      <a:r>
                        <a:rPr lang="en-US" sz="1000" dirty="0">
                          <a:solidFill>
                            <a:srgbClr val="999999"/>
                          </a:solidFill>
                          <a:latin typeface="Calibri" pitchFamily="34" charset="0"/>
                          <a:ea typeface="Calibri" pitchFamily="34" charset="-122"/>
                          <a:cs typeface="Calibri" pitchFamily="34" charset="-120"/>
                        </a:rPr>
                        <a:t>○ Review</a:t>
                      </a:r>
                      <a:endParaRPr lang="en-US" sz="1000" dirty="0">
                        <a:latin typeface="Calibri" charset="0"/>
                        <a:ea typeface="Calibri" charset="0"/>
                        <a:cs typeface="Calibri" charset="0"/>
                      </a:endParaRPr>
                    </a:p>
                  </a:txBody>
                  <a:tcPr marL="63500" marR="63500" marT="38100" marB="38100" anchor="ctr">
                    <a:lnL w="6350" cap="flat" cmpd="sng" algn="ctr">
                      <a:solidFill>
                        <a:srgbClr val="E0D5E8"/>
                      </a:solidFill>
                      <a:prstDash val="solid"/>
                      <a:round/>
                      <a:headEnd type="none" w="med" len="med"/>
                      <a:tailEnd type="none" w="med" len="med"/>
                    </a:lnL>
                    <a:lnR w="6350" cap="flat" cmpd="sng" algn="ctr">
                      <a:solidFill>
                        <a:srgbClr val="E0D5E8"/>
                      </a:solidFill>
                      <a:prstDash val="solid"/>
                      <a:round/>
                      <a:headEnd type="none" w="med" len="med"/>
                      <a:tailEnd type="none" w="med" len="med"/>
                    </a:lnR>
                    <a:lnT w="6350" cap="flat" cmpd="sng" algn="ctr">
                      <a:solidFill>
                        <a:srgbClr val="E0D5E8"/>
                      </a:solidFill>
                      <a:prstDash val="solid"/>
                      <a:round/>
                      <a:headEnd type="none" w="med" len="med"/>
                      <a:tailEnd type="none" w="med" len="med"/>
                    </a:lnT>
                    <a:lnB w="6350" cap="flat" cmpd="sng" algn="ctr">
                      <a:solidFill>
                        <a:srgbClr val="E0D5E8"/>
                      </a:solidFill>
                      <a:prstDash val="solid"/>
                      <a:round/>
                      <a:headEnd type="none" w="med" len="med"/>
                      <a:tailEnd type="none" w="med" len="med"/>
                    </a:lnB>
                    <a:solidFill>
                      <a:srgbClr val="F9F5FC"/>
                    </a:solidFill>
                  </a:tcPr>
                </a:tc>
                <a:extLst>
                  <a:ext uri="{0D108BD9-81ED-4DB2-BD59-A6C34878D82A}">
                    <a16:rowId xmlns:a16="http://schemas.microsoft.com/office/drawing/2014/main" val="10009"/>
                  </a:ext>
                </a:extLst>
              </a:tr>
              <a:tr h="347472">
                <a:tc>
                  <a:txBody>
                    <a:bodyPr/>
                    <a:lstStyle/>
                    <a:p>
                      <a:pPr marL="0" indent="0" algn="ctr">
                        <a:buNone/>
                      </a:pPr>
                      <a:r>
                        <a:rPr lang="en-US" sz="1100" b="1" dirty="0">
                          <a:solidFill>
                            <a:srgbClr val="4F2170"/>
                          </a:solidFill>
                          <a:latin typeface="Arial" pitchFamily="34" charset="0"/>
                          <a:ea typeface="Arial" pitchFamily="34" charset="-122"/>
                          <a:cs typeface="Arial" pitchFamily="34" charset="-120"/>
                        </a:rPr>
                        <a:t>J</a:t>
                      </a:r>
                      <a:endParaRPr lang="en-US" sz="1100" dirty="0">
                        <a:latin typeface="Arial" charset="0"/>
                        <a:ea typeface="Arial" charset="0"/>
                        <a:cs typeface="Arial" charset="0"/>
                      </a:endParaRPr>
                    </a:p>
                  </a:txBody>
                  <a:tcPr marL="63500" marR="63500" marT="38100" marB="38100" anchor="ctr">
                    <a:lnL w="6350" cap="flat" cmpd="sng" algn="ctr">
                      <a:solidFill>
                        <a:srgbClr val="E0D5E8"/>
                      </a:solidFill>
                      <a:prstDash val="solid"/>
                      <a:round/>
                      <a:headEnd type="none" w="med" len="med"/>
                      <a:tailEnd type="none" w="med" len="med"/>
                    </a:lnL>
                    <a:lnR w="6350" cap="flat" cmpd="sng" algn="ctr">
                      <a:solidFill>
                        <a:srgbClr val="E0D5E8"/>
                      </a:solidFill>
                      <a:prstDash val="solid"/>
                      <a:round/>
                      <a:headEnd type="none" w="med" len="med"/>
                      <a:tailEnd type="none" w="med" len="med"/>
                    </a:lnR>
                    <a:lnT w="6350" cap="flat" cmpd="sng" algn="ctr">
                      <a:solidFill>
                        <a:srgbClr val="E0D5E8"/>
                      </a:solidFill>
                      <a:prstDash val="solid"/>
                      <a:round/>
                      <a:headEnd type="none" w="med" len="med"/>
                      <a:tailEnd type="none" w="med" len="med"/>
                    </a:lnT>
                    <a:lnB w="6350" cap="flat" cmpd="sng" algn="ctr">
                      <a:solidFill>
                        <a:srgbClr val="E0D5E8"/>
                      </a:solidFill>
                      <a:prstDash val="solid"/>
                      <a:round/>
                      <a:headEnd type="none" w="med" len="med"/>
                      <a:tailEnd type="none" w="med" len="med"/>
                    </a:lnB>
                    <a:solidFill>
                      <a:srgbClr val="FFFFFF"/>
                    </a:solidFill>
                  </a:tcPr>
                </a:tc>
                <a:tc>
                  <a:txBody>
                    <a:bodyPr/>
                    <a:lstStyle/>
                    <a:p>
                      <a:pPr marL="0" indent="0" algn="l">
                        <a:buNone/>
                      </a:pPr>
                      <a:r>
                        <a:rPr lang="en-US" sz="1000" dirty="0">
                          <a:solidFill>
                            <a:srgbClr val="3D3D3D"/>
                          </a:solidFill>
                          <a:latin typeface="Calibri" pitchFamily="34" charset="0"/>
                          <a:ea typeface="Calibri" pitchFamily="34" charset="-122"/>
                          <a:cs typeface="Calibri" pitchFamily="34" charset="-120"/>
                        </a:rPr>
                        <a:t>Testing &amp; Reconciliation</a:t>
                      </a:r>
                      <a:endParaRPr lang="en-US" sz="1000" dirty="0">
                        <a:latin typeface="Calibri" charset="0"/>
                        <a:ea typeface="Calibri" charset="0"/>
                        <a:cs typeface="Calibri" charset="0"/>
                      </a:endParaRPr>
                    </a:p>
                  </a:txBody>
                  <a:tcPr marL="63500" marR="63500" marT="38100" marB="38100" anchor="ctr">
                    <a:lnL w="6350" cap="flat" cmpd="sng" algn="ctr">
                      <a:solidFill>
                        <a:srgbClr val="E0D5E8"/>
                      </a:solidFill>
                      <a:prstDash val="solid"/>
                      <a:round/>
                      <a:headEnd type="none" w="med" len="med"/>
                      <a:tailEnd type="none" w="med" len="med"/>
                    </a:lnL>
                    <a:lnR w="6350" cap="flat" cmpd="sng" algn="ctr">
                      <a:solidFill>
                        <a:srgbClr val="E0D5E8"/>
                      </a:solidFill>
                      <a:prstDash val="solid"/>
                      <a:round/>
                      <a:headEnd type="none" w="med" len="med"/>
                      <a:tailEnd type="none" w="med" len="med"/>
                    </a:lnR>
                    <a:lnT w="6350" cap="flat" cmpd="sng" algn="ctr">
                      <a:solidFill>
                        <a:srgbClr val="E0D5E8"/>
                      </a:solidFill>
                      <a:prstDash val="solid"/>
                      <a:round/>
                      <a:headEnd type="none" w="med" len="med"/>
                      <a:tailEnd type="none" w="med" len="med"/>
                    </a:lnT>
                    <a:lnB w="6350" cap="flat" cmpd="sng" algn="ctr">
                      <a:solidFill>
                        <a:srgbClr val="E0D5E8"/>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999999"/>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63500" marR="63500" marT="38100" marB="38100" anchor="ctr">
                    <a:lnL w="6350" cap="flat" cmpd="sng" algn="ctr">
                      <a:solidFill>
                        <a:srgbClr val="E0D5E8"/>
                      </a:solidFill>
                      <a:prstDash val="solid"/>
                      <a:round/>
                      <a:headEnd type="none" w="med" len="med"/>
                      <a:tailEnd type="none" w="med" len="med"/>
                    </a:lnL>
                    <a:lnR w="6350" cap="flat" cmpd="sng" algn="ctr">
                      <a:solidFill>
                        <a:srgbClr val="E0D5E8"/>
                      </a:solidFill>
                      <a:prstDash val="solid"/>
                      <a:round/>
                      <a:headEnd type="none" w="med" len="med"/>
                      <a:tailEnd type="none" w="med" len="med"/>
                    </a:lnR>
                    <a:lnT w="6350" cap="flat" cmpd="sng" algn="ctr">
                      <a:solidFill>
                        <a:srgbClr val="E0D5E8"/>
                      </a:solidFill>
                      <a:prstDash val="solid"/>
                      <a:round/>
                      <a:headEnd type="none" w="med" len="med"/>
                      <a:tailEnd type="none" w="med" len="med"/>
                    </a:lnT>
                    <a:lnB w="6350" cap="flat" cmpd="sng" algn="ctr">
                      <a:solidFill>
                        <a:srgbClr val="E0D5E8"/>
                      </a:solidFill>
                      <a:prstDash val="solid"/>
                      <a:round/>
                      <a:headEnd type="none" w="med" len="med"/>
                      <a:tailEnd type="none" w="med" len="med"/>
                    </a:lnB>
                    <a:solidFill>
                      <a:srgbClr val="FFFFFF"/>
                    </a:solidFill>
                  </a:tcPr>
                </a:tc>
                <a:tc>
                  <a:txBody>
                    <a:bodyPr/>
                    <a:lstStyle/>
                    <a:p>
                      <a:pPr marL="0" indent="0" algn="ctr">
                        <a:buNone/>
                      </a:pPr>
                      <a:r>
                        <a:rPr lang="en-US" sz="1000" b="1" dirty="0">
                          <a:solidFill>
                            <a:srgbClr val="E18719"/>
                          </a:solidFill>
                          <a:latin typeface="Calibri" pitchFamily="34" charset="0"/>
                          <a:ea typeface="Calibri" pitchFamily="34" charset="-122"/>
                          <a:cs typeface="Calibri" pitchFamily="34" charset="-120"/>
                        </a:rPr>
                        <a:t>⬤ Primary</a:t>
                      </a:r>
                      <a:endParaRPr lang="en-US" sz="1000" dirty="0">
                        <a:latin typeface="Calibri" charset="0"/>
                        <a:ea typeface="Calibri" charset="0"/>
                        <a:cs typeface="Calibri" charset="0"/>
                      </a:endParaRPr>
                    </a:p>
                  </a:txBody>
                  <a:tcPr marL="63500" marR="63500" marT="38100" marB="38100" anchor="ctr">
                    <a:lnL w="6350" cap="flat" cmpd="sng" algn="ctr">
                      <a:solidFill>
                        <a:srgbClr val="E0D5E8"/>
                      </a:solidFill>
                      <a:prstDash val="solid"/>
                      <a:round/>
                      <a:headEnd type="none" w="med" len="med"/>
                      <a:tailEnd type="none" w="med" len="med"/>
                    </a:lnL>
                    <a:lnR w="6350" cap="flat" cmpd="sng" algn="ctr">
                      <a:solidFill>
                        <a:srgbClr val="E0D5E8"/>
                      </a:solidFill>
                      <a:prstDash val="solid"/>
                      <a:round/>
                      <a:headEnd type="none" w="med" len="med"/>
                      <a:tailEnd type="none" w="med" len="med"/>
                    </a:lnR>
                    <a:lnT w="6350" cap="flat" cmpd="sng" algn="ctr">
                      <a:solidFill>
                        <a:srgbClr val="E0D5E8"/>
                      </a:solidFill>
                      <a:prstDash val="solid"/>
                      <a:round/>
                      <a:headEnd type="none" w="med" len="med"/>
                      <a:tailEnd type="none" w="med" len="med"/>
                    </a:lnT>
                    <a:lnB w="6350" cap="flat" cmpd="sng" algn="ctr">
                      <a:solidFill>
                        <a:srgbClr val="E0D5E8"/>
                      </a:solidFill>
                      <a:prstDash val="solid"/>
                      <a:round/>
                      <a:headEnd type="none" w="med" len="med"/>
                      <a:tailEnd type="none" w="med" len="med"/>
                    </a:lnB>
                    <a:solidFill>
                      <a:srgbClr val="FFF3E5"/>
                    </a:solidFill>
                  </a:tcPr>
                </a:tc>
                <a:tc>
                  <a:txBody>
                    <a:bodyPr/>
                    <a:lstStyle/>
                    <a:p>
                      <a:pPr marL="0" indent="0" algn="ctr">
                        <a:buNone/>
                      </a:pPr>
                      <a:r>
                        <a:rPr lang="en-US" sz="1000" dirty="0">
                          <a:solidFill>
                            <a:srgbClr val="999999"/>
                          </a:solidFill>
                          <a:latin typeface="Calibri" pitchFamily="34" charset="0"/>
                          <a:ea typeface="Calibri" pitchFamily="34" charset="-122"/>
                          <a:cs typeface="Calibri" pitchFamily="34" charset="-120"/>
                        </a:rPr>
                        <a:t>○ Review</a:t>
                      </a:r>
                      <a:endParaRPr lang="en-US" sz="1000" dirty="0">
                        <a:latin typeface="Calibri" charset="0"/>
                        <a:ea typeface="Calibri" charset="0"/>
                        <a:cs typeface="Calibri" charset="0"/>
                      </a:endParaRPr>
                    </a:p>
                  </a:txBody>
                  <a:tcPr marL="63500" marR="63500" marT="38100" marB="38100" anchor="ctr">
                    <a:lnL w="6350" cap="flat" cmpd="sng" algn="ctr">
                      <a:solidFill>
                        <a:srgbClr val="E0D5E8"/>
                      </a:solidFill>
                      <a:prstDash val="solid"/>
                      <a:round/>
                      <a:headEnd type="none" w="med" len="med"/>
                      <a:tailEnd type="none" w="med" len="med"/>
                    </a:lnL>
                    <a:lnR w="6350" cap="flat" cmpd="sng" algn="ctr">
                      <a:solidFill>
                        <a:srgbClr val="E0D5E8"/>
                      </a:solidFill>
                      <a:prstDash val="solid"/>
                      <a:round/>
                      <a:headEnd type="none" w="med" len="med"/>
                      <a:tailEnd type="none" w="med" len="med"/>
                    </a:lnR>
                    <a:lnT w="6350" cap="flat" cmpd="sng" algn="ctr">
                      <a:solidFill>
                        <a:srgbClr val="E0D5E8"/>
                      </a:solidFill>
                      <a:prstDash val="solid"/>
                      <a:round/>
                      <a:headEnd type="none" w="med" len="med"/>
                      <a:tailEnd type="none" w="med" len="med"/>
                    </a:lnT>
                    <a:lnB w="6350" cap="flat" cmpd="sng" algn="ctr">
                      <a:solidFill>
                        <a:srgbClr val="E0D5E8"/>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r h="347472">
                <a:tc>
                  <a:txBody>
                    <a:bodyPr/>
                    <a:lstStyle/>
                    <a:p>
                      <a:pPr marL="0" indent="0" algn="ctr">
                        <a:buNone/>
                      </a:pPr>
                      <a:r>
                        <a:rPr lang="en-US" sz="1100" b="1" dirty="0">
                          <a:solidFill>
                            <a:srgbClr val="4F2170"/>
                          </a:solidFill>
                          <a:latin typeface="Arial" pitchFamily="34" charset="0"/>
                          <a:ea typeface="Arial" pitchFamily="34" charset="-122"/>
                          <a:cs typeface="Arial" pitchFamily="34" charset="-120"/>
                        </a:rPr>
                        <a:t>K</a:t>
                      </a:r>
                      <a:endParaRPr lang="en-US" sz="1100" dirty="0">
                        <a:latin typeface="Arial" charset="0"/>
                        <a:ea typeface="Arial" charset="0"/>
                        <a:cs typeface="Arial" charset="0"/>
                      </a:endParaRPr>
                    </a:p>
                  </a:txBody>
                  <a:tcPr marL="63500" marR="63500" marT="38100" marB="38100" anchor="ctr">
                    <a:lnL w="6350" cap="flat" cmpd="sng" algn="ctr">
                      <a:solidFill>
                        <a:srgbClr val="E0D5E8"/>
                      </a:solidFill>
                      <a:prstDash val="solid"/>
                      <a:round/>
                      <a:headEnd type="none" w="med" len="med"/>
                      <a:tailEnd type="none" w="med" len="med"/>
                    </a:lnL>
                    <a:lnR w="6350" cap="flat" cmpd="sng" algn="ctr">
                      <a:solidFill>
                        <a:srgbClr val="E0D5E8"/>
                      </a:solidFill>
                      <a:prstDash val="solid"/>
                      <a:round/>
                      <a:headEnd type="none" w="med" len="med"/>
                      <a:tailEnd type="none" w="med" len="med"/>
                    </a:lnR>
                    <a:lnT w="6350" cap="flat" cmpd="sng" algn="ctr">
                      <a:solidFill>
                        <a:srgbClr val="E0D5E8"/>
                      </a:solidFill>
                      <a:prstDash val="solid"/>
                      <a:round/>
                      <a:headEnd type="none" w="med" len="med"/>
                      <a:tailEnd type="none" w="med" len="med"/>
                    </a:lnT>
                    <a:lnB w="6350" cap="flat" cmpd="sng" algn="ctr">
                      <a:solidFill>
                        <a:srgbClr val="E0D5E8"/>
                      </a:solidFill>
                      <a:prstDash val="solid"/>
                      <a:round/>
                      <a:headEnd type="none" w="med" len="med"/>
                      <a:tailEnd type="none" w="med" len="med"/>
                    </a:lnB>
                    <a:solidFill>
                      <a:srgbClr val="F9F5FC"/>
                    </a:solidFill>
                  </a:tcPr>
                </a:tc>
                <a:tc>
                  <a:txBody>
                    <a:bodyPr/>
                    <a:lstStyle/>
                    <a:p>
                      <a:pPr marL="0" indent="0" algn="l">
                        <a:buNone/>
                      </a:pPr>
                      <a:r>
                        <a:rPr lang="en-US" sz="1000" dirty="0">
                          <a:solidFill>
                            <a:srgbClr val="3D3D3D"/>
                          </a:solidFill>
                          <a:latin typeface="Calibri" pitchFamily="34" charset="0"/>
                          <a:ea typeface="Calibri" pitchFamily="34" charset="-122"/>
                          <a:cs typeface="Calibri" pitchFamily="34" charset="-120"/>
                        </a:rPr>
                        <a:t>Observability &amp; Operations</a:t>
                      </a:r>
                      <a:endParaRPr lang="en-US" sz="1000" dirty="0">
                        <a:latin typeface="Calibri" charset="0"/>
                        <a:ea typeface="Calibri" charset="0"/>
                        <a:cs typeface="Calibri" charset="0"/>
                      </a:endParaRPr>
                    </a:p>
                  </a:txBody>
                  <a:tcPr marL="63500" marR="63500" marT="38100" marB="38100" anchor="ctr">
                    <a:lnL w="6350" cap="flat" cmpd="sng" algn="ctr">
                      <a:solidFill>
                        <a:srgbClr val="E0D5E8"/>
                      </a:solidFill>
                      <a:prstDash val="solid"/>
                      <a:round/>
                      <a:headEnd type="none" w="med" len="med"/>
                      <a:tailEnd type="none" w="med" len="med"/>
                    </a:lnL>
                    <a:lnR w="6350" cap="flat" cmpd="sng" algn="ctr">
                      <a:solidFill>
                        <a:srgbClr val="E0D5E8"/>
                      </a:solidFill>
                      <a:prstDash val="solid"/>
                      <a:round/>
                      <a:headEnd type="none" w="med" len="med"/>
                      <a:tailEnd type="none" w="med" len="med"/>
                    </a:lnR>
                    <a:lnT w="6350" cap="flat" cmpd="sng" algn="ctr">
                      <a:solidFill>
                        <a:srgbClr val="E0D5E8"/>
                      </a:solidFill>
                      <a:prstDash val="solid"/>
                      <a:round/>
                      <a:headEnd type="none" w="med" len="med"/>
                      <a:tailEnd type="none" w="med" len="med"/>
                    </a:lnT>
                    <a:lnB w="6350" cap="flat" cmpd="sng" algn="ctr">
                      <a:solidFill>
                        <a:srgbClr val="E0D5E8"/>
                      </a:solidFill>
                      <a:prstDash val="solid"/>
                      <a:round/>
                      <a:headEnd type="none" w="med" len="med"/>
                      <a:tailEnd type="none" w="med" len="med"/>
                    </a:lnB>
                    <a:solidFill>
                      <a:srgbClr val="F9F5FC"/>
                    </a:solidFill>
                  </a:tcPr>
                </a:tc>
                <a:tc>
                  <a:txBody>
                    <a:bodyPr/>
                    <a:lstStyle/>
                    <a:p>
                      <a:pPr marL="0" indent="0" algn="ctr">
                        <a:buNone/>
                      </a:pPr>
                      <a:r>
                        <a:rPr lang="en-US" sz="1000" dirty="0">
                          <a:solidFill>
                            <a:srgbClr val="999999"/>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63500" marR="63500" marT="38100" marB="38100" anchor="ctr">
                    <a:lnL w="6350" cap="flat" cmpd="sng" algn="ctr">
                      <a:solidFill>
                        <a:srgbClr val="E0D5E8"/>
                      </a:solidFill>
                      <a:prstDash val="solid"/>
                      <a:round/>
                      <a:headEnd type="none" w="med" len="med"/>
                      <a:tailEnd type="none" w="med" len="med"/>
                    </a:lnL>
                    <a:lnR w="6350" cap="flat" cmpd="sng" algn="ctr">
                      <a:solidFill>
                        <a:srgbClr val="E0D5E8"/>
                      </a:solidFill>
                      <a:prstDash val="solid"/>
                      <a:round/>
                      <a:headEnd type="none" w="med" len="med"/>
                      <a:tailEnd type="none" w="med" len="med"/>
                    </a:lnR>
                    <a:lnT w="6350" cap="flat" cmpd="sng" algn="ctr">
                      <a:solidFill>
                        <a:srgbClr val="E0D5E8"/>
                      </a:solidFill>
                      <a:prstDash val="solid"/>
                      <a:round/>
                      <a:headEnd type="none" w="med" len="med"/>
                      <a:tailEnd type="none" w="med" len="med"/>
                    </a:lnT>
                    <a:lnB w="6350" cap="flat" cmpd="sng" algn="ctr">
                      <a:solidFill>
                        <a:srgbClr val="E0D5E8"/>
                      </a:solidFill>
                      <a:prstDash val="solid"/>
                      <a:round/>
                      <a:headEnd type="none" w="med" len="med"/>
                      <a:tailEnd type="none" w="med" len="med"/>
                    </a:lnB>
                    <a:solidFill>
                      <a:srgbClr val="F9F5FC"/>
                    </a:solidFill>
                  </a:tcPr>
                </a:tc>
                <a:tc>
                  <a:txBody>
                    <a:bodyPr/>
                    <a:lstStyle/>
                    <a:p>
                      <a:pPr marL="0" indent="0" algn="ctr">
                        <a:buNone/>
                      </a:pPr>
                      <a:r>
                        <a:rPr lang="en-US" sz="1000" b="1" dirty="0">
                          <a:solidFill>
                            <a:srgbClr val="E18719"/>
                          </a:solidFill>
                          <a:latin typeface="Calibri" pitchFamily="34" charset="0"/>
                          <a:ea typeface="Calibri" pitchFamily="34" charset="-122"/>
                          <a:cs typeface="Calibri" pitchFamily="34" charset="-120"/>
                        </a:rPr>
                        <a:t>⬤ Primary</a:t>
                      </a:r>
                      <a:endParaRPr lang="en-US" sz="1000" dirty="0">
                        <a:latin typeface="Calibri" charset="0"/>
                        <a:ea typeface="Calibri" charset="0"/>
                        <a:cs typeface="Calibri" charset="0"/>
                      </a:endParaRPr>
                    </a:p>
                  </a:txBody>
                  <a:tcPr marL="63500" marR="63500" marT="38100" marB="38100" anchor="ctr">
                    <a:lnL w="6350" cap="flat" cmpd="sng" algn="ctr">
                      <a:solidFill>
                        <a:srgbClr val="E0D5E8"/>
                      </a:solidFill>
                      <a:prstDash val="solid"/>
                      <a:round/>
                      <a:headEnd type="none" w="med" len="med"/>
                      <a:tailEnd type="none" w="med" len="med"/>
                    </a:lnL>
                    <a:lnR w="6350" cap="flat" cmpd="sng" algn="ctr">
                      <a:solidFill>
                        <a:srgbClr val="E0D5E8"/>
                      </a:solidFill>
                      <a:prstDash val="solid"/>
                      <a:round/>
                      <a:headEnd type="none" w="med" len="med"/>
                      <a:tailEnd type="none" w="med" len="med"/>
                    </a:lnR>
                    <a:lnT w="6350" cap="flat" cmpd="sng" algn="ctr">
                      <a:solidFill>
                        <a:srgbClr val="E0D5E8"/>
                      </a:solidFill>
                      <a:prstDash val="solid"/>
                      <a:round/>
                      <a:headEnd type="none" w="med" len="med"/>
                      <a:tailEnd type="none" w="med" len="med"/>
                    </a:lnT>
                    <a:lnB w="6350" cap="flat" cmpd="sng" algn="ctr">
                      <a:solidFill>
                        <a:srgbClr val="E0D5E8"/>
                      </a:solidFill>
                      <a:prstDash val="solid"/>
                      <a:round/>
                      <a:headEnd type="none" w="med" len="med"/>
                      <a:tailEnd type="none" w="med" len="med"/>
                    </a:lnB>
                    <a:solidFill>
                      <a:srgbClr val="FFF3E5"/>
                    </a:solidFill>
                  </a:tcPr>
                </a:tc>
                <a:tc>
                  <a:txBody>
                    <a:bodyPr/>
                    <a:lstStyle/>
                    <a:p>
                      <a:pPr marL="0" indent="0" algn="ctr">
                        <a:buNone/>
                      </a:pPr>
                      <a:r>
                        <a:rPr lang="en-US" sz="1000" dirty="0">
                          <a:solidFill>
                            <a:srgbClr val="999999"/>
                          </a:solidFill>
                          <a:latin typeface="Calibri" pitchFamily="34" charset="0"/>
                          <a:ea typeface="Calibri" pitchFamily="34" charset="-122"/>
                          <a:cs typeface="Calibri" pitchFamily="34" charset="-120"/>
                        </a:rPr>
                        <a:t>○ Review</a:t>
                      </a:r>
                      <a:endParaRPr lang="en-US" sz="1000" dirty="0">
                        <a:latin typeface="Calibri" charset="0"/>
                        <a:ea typeface="Calibri" charset="0"/>
                        <a:cs typeface="Calibri" charset="0"/>
                      </a:endParaRPr>
                    </a:p>
                  </a:txBody>
                  <a:tcPr marL="63500" marR="63500" marT="38100" marB="38100" anchor="ctr">
                    <a:lnL w="6350" cap="flat" cmpd="sng" algn="ctr">
                      <a:solidFill>
                        <a:srgbClr val="E0D5E8"/>
                      </a:solidFill>
                      <a:prstDash val="solid"/>
                      <a:round/>
                      <a:headEnd type="none" w="med" len="med"/>
                      <a:tailEnd type="none" w="med" len="med"/>
                    </a:lnL>
                    <a:lnR w="6350" cap="flat" cmpd="sng" algn="ctr">
                      <a:solidFill>
                        <a:srgbClr val="E0D5E8"/>
                      </a:solidFill>
                      <a:prstDash val="solid"/>
                      <a:round/>
                      <a:headEnd type="none" w="med" len="med"/>
                      <a:tailEnd type="none" w="med" len="med"/>
                    </a:lnR>
                    <a:lnT w="6350" cap="flat" cmpd="sng" algn="ctr">
                      <a:solidFill>
                        <a:srgbClr val="E0D5E8"/>
                      </a:solidFill>
                      <a:prstDash val="solid"/>
                      <a:round/>
                      <a:headEnd type="none" w="med" len="med"/>
                      <a:tailEnd type="none" w="med" len="med"/>
                    </a:lnT>
                    <a:lnB w="6350" cap="flat" cmpd="sng" algn="ctr">
                      <a:solidFill>
                        <a:srgbClr val="E0D5E8"/>
                      </a:solidFill>
                      <a:prstDash val="solid"/>
                      <a:round/>
                      <a:headEnd type="none" w="med" len="med"/>
                      <a:tailEnd type="none" w="med" len="med"/>
                    </a:lnB>
                    <a:solidFill>
                      <a:srgbClr val="F9F5FC"/>
                    </a:solidFill>
                  </a:tcPr>
                </a:tc>
                <a:extLst>
                  <a:ext uri="{0D108BD9-81ED-4DB2-BD59-A6C34878D82A}">
                    <a16:rowId xmlns:a16="http://schemas.microsoft.com/office/drawing/2014/main" val="10011"/>
                  </a:ext>
                </a:extLst>
              </a:tr>
              <a:tr h="347472">
                <a:tc>
                  <a:txBody>
                    <a:bodyPr/>
                    <a:lstStyle/>
                    <a:p>
                      <a:pPr marL="0" indent="0" algn="ctr">
                        <a:buNone/>
                      </a:pPr>
                      <a:r>
                        <a:rPr lang="en-US" sz="1100" b="1" dirty="0">
                          <a:solidFill>
                            <a:srgbClr val="4F2170"/>
                          </a:solidFill>
                          <a:latin typeface="Arial" pitchFamily="34" charset="0"/>
                          <a:ea typeface="Arial" pitchFamily="34" charset="-122"/>
                          <a:cs typeface="Arial" pitchFamily="34" charset="-120"/>
                        </a:rPr>
                        <a:t>L</a:t>
                      </a:r>
                      <a:endParaRPr lang="en-US" sz="1100" dirty="0">
                        <a:latin typeface="Arial" charset="0"/>
                        <a:ea typeface="Arial" charset="0"/>
                        <a:cs typeface="Arial" charset="0"/>
                      </a:endParaRPr>
                    </a:p>
                  </a:txBody>
                  <a:tcPr marL="63500" marR="63500" marT="38100" marB="38100" anchor="ctr">
                    <a:lnL w="6350" cap="flat" cmpd="sng" algn="ctr">
                      <a:solidFill>
                        <a:srgbClr val="E0D5E8"/>
                      </a:solidFill>
                      <a:prstDash val="solid"/>
                      <a:round/>
                      <a:headEnd type="none" w="med" len="med"/>
                      <a:tailEnd type="none" w="med" len="med"/>
                    </a:lnL>
                    <a:lnR w="6350" cap="flat" cmpd="sng" algn="ctr">
                      <a:solidFill>
                        <a:srgbClr val="E0D5E8"/>
                      </a:solidFill>
                      <a:prstDash val="solid"/>
                      <a:round/>
                      <a:headEnd type="none" w="med" len="med"/>
                      <a:tailEnd type="none" w="med" len="med"/>
                    </a:lnR>
                    <a:lnT w="6350" cap="flat" cmpd="sng" algn="ctr">
                      <a:solidFill>
                        <a:srgbClr val="E0D5E8"/>
                      </a:solidFill>
                      <a:prstDash val="solid"/>
                      <a:round/>
                      <a:headEnd type="none" w="med" len="med"/>
                      <a:tailEnd type="none" w="med" len="med"/>
                    </a:lnT>
                    <a:lnB w="6350" cap="flat" cmpd="sng" algn="ctr">
                      <a:solidFill>
                        <a:srgbClr val="E0D5E8"/>
                      </a:solidFill>
                      <a:prstDash val="solid"/>
                      <a:round/>
                      <a:headEnd type="none" w="med" len="med"/>
                      <a:tailEnd type="none" w="med" len="med"/>
                    </a:lnB>
                    <a:solidFill>
                      <a:srgbClr val="FFFFFF"/>
                    </a:solidFill>
                  </a:tcPr>
                </a:tc>
                <a:tc>
                  <a:txBody>
                    <a:bodyPr/>
                    <a:lstStyle/>
                    <a:p>
                      <a:pPr marL="0" indent="0" algn="l">
                        <a:buNone/>
                      </a:pPr>
                      <a:r>
                        <a:rPr lang="en-US" sz="1000" dirty="0">
                          <a:solidFill>
                            <a:srgbClr val="3D3D3D"/>
                          </a:solidFill>
                          <a:latin typeface="Calibri" pitchFamily="34" charset="0"/>
                          <a:ea typeface="Calibri" pitchFamily="34" charset="-122"/>
                          <a:cs typeface="Calibri" pitchFamily="34" charset="-120"/>
                        </a:rPr>
                        <a:t>Documentation &amp; Governance</a:t>
                      </a:r>
                      <a:endParaRPr lang="en-US" sz="1000" dirty="0">
                        <a:latin typeface="Calibri" charset="0"/>
                        <a:ea typeface="Calibri" charset="0"/>
                        <a:cs typeface="Calibri" charset="0"/>
                      </a:endParaRPr>
                    </a:p>
                  </a:txBody>
                  <a:tcPr marL="63500" marR="63500" marT="38100" marB="38100" anchor="ctr">
                    <a:lnL w="6350" cap="flat" cmpd="sng" algn="ctr">
                      <a:solidFill>
                        <a:srgbClr val="E0D5E8"/>
                      </a:solidFill>
                      <a:prstDash val="solid"/>
                      <a:round/>
                      <a:headEnd type="none" w="med" len="med"/>
                      <a:tailEnd type="none" w="med" len="med"/>
                    </a:lnL>
                    <a:lnR w="6350" cap="flat" cmpd="sng" algn="ctr">
                      <a:solidFill>
                        <a:srgbClr val="E0D5E8"/>
                      </a:solidFill>
                      <a:prstDash val="solid"/>
                      <a:round/>
                      <a:headEnd type="none" w="med" len="med"/>
                      <a:tailEnd type="none" w="med" len="med"/>
                    </a:lnR>
                    <a:lnT w="6350" cap="flat" cmpd="sng" algn="ctr">
                      <a:solidFill>
                        <a:srgbClr val="E0D5E8"/>
                      </a:solidFill>
                      <a:prstDash val="solid"/>
                      <a:round/>
                      <a:headEnd type="none" w="med" len="med"/>
                      <a:tailEnd type="none" w="med" len="med"/>
                    </a:lnT>
                    <a:lnB w="6350" cap="flat" cmpd="sng" algn="ctr">
                      <a:solidFill>
                        <a:srgbClr val="E0D5E8"/>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999999"/>
                          </a:solidFill>
                          <a:latin typeface="Calibri" pitchFamily="34" charset="0"/>
                          <a:ea typeface="Calibri" pitchFamily="34" charset="-122"/>
                          <a:cs typeface="Calibri" pitchFamily="34" charset="-120"/>
                        </a:rPr>
                        <a:t>○ Prep</a:t>
                      </a:r>
                      <a:endParaRPr lang="en-US" sz="1000" dirty="0">
                        <a:latin typeface="Calibri" charset="0"/>
                        <a:ea typeface="Calibri" charset="0"/>
                        <a:cs typeface="Calibri" charset="0"/>
                      </a:endParaRPr>
                    </a:p>
                  </a:txBody>
                  <a:tcPr marL="63500" marR="63500" marT="38100" marB="38100" anchor="ctr">
                    <a:lnL w="6350" cap="flat" cmpd="sng" algn="ctr">
                      <a:solidFill>
                        <a:srgbClr val="E0D5E8"/>
                      </a:solidFill>
                      <a:prstDash val="solid"/>
                      <a:round/>
                      <a:headEnd type="none" w="med" len="med"/>
                      <a:tailEnd type="none" w="med" len="med"/>
                    </a:lnL>
                    <a:lnR w="6350" cap="flat" cmpd="sng" algn="ctr">
                      <a:solidFill>
                        <a:srgbClr val="E0D5E8"/>
                      </a:solidFill>
                      <a:prstDash val="solid"/>
                      <a:round/>
                      <a:headEnd type="none" w="med" len="med"/>
                      <a:tailEnd type="none" w="med" len="med"/>
                    </a:lnR>
                    <a:lnT w="6350" cap="flat" cmpd="sng" algn="ctr">
                      <a:solidFill>
                        <a:srgbClr val="E0D5E8"/>
                      </a:solidFill>
                      <a:prstDash val="solid"/>
                      <a:round/>
                      <a:headEnd type="none" w="med" len="med"/>
                      <a:tailEnd type="none" w="med" len="med"/>
                    </a:lnT>
                    <a:lnB w="6350" cap="flat" cmpd="sng" algn="ctr">
                      <a:solidFill>
                        <a:srgbClr val="E0D5E8"/>
                      </a:solidFill>
                      <a:prstDash val="solid"/>
                      <a:round/>
                      <a:headEnd type="none" w="med" len="med"/>
                      <a:tailEnd type="none" w="med" len="med"/>
                    </a:lnB>
                    <a:solidFill>
                      <a:srgbClr val="FFFFFF"/>
                    </a:solidFill>
                  </a:tcPr>
                </a:tc>
                <a:tc>
                  <a:txBody>
                    <a:bodyPr/>
                    <a:lstStyle/>
                    <a:p>
                      <a:pPr marL="0" indent="0" algn="ctr">
                        <a:buNone/>
                      </a:pPr>
                      <a:r>
                        <a:rPr lang="en-US" sz="1000" b="1" dirty="0">
                          <a:solidFill>
                            <a:srgbClr val="E18719"/>
                          </a:solidFill>
                          <a:latin typeface="Calibri" pitchFamily="34" charset="0"/>
                          <a:ea typeface="Calibri" pitchFamily="34" charset="-122"/>
                          <a:cs typeface="Calibri" pitchFamily="34" charset="-120"/>
                        </a:rPr>
                        <a:t>⬤ Primary</a:t>
                      </a:r>
                      <a:endParaRPr lang="en-US" sz="1000" dirty="0">
                        <a:latin typeface="Calibri" charset="0"/>
                        <a:ea typeface="Calibri" charset="0"/>
                        <a:cs typeface="Calibri" charset="0"/>
                      </a:endParaRPr>
                    </a:p>
                  </a:txBody>
                  <a:tcPr marL="63500" marR="63500" marT="38100" marB="38100" anchor="ctr">
                    <a:lnL w="6350" cap="flat" cmpd="sng" algn="ctr">
                      <a:solidFill>
                        <a:srgbClr val="E0D5E8"/>
                      </a:solidFill>
                      <a:prstDash val="solid"/>
                      <a:round/>
                      <a:headEnd type="none" w="med" len="med"/>
                      <a:tailEnd type="none" w="med" len="med"/>
                    </a:lnL>
                    <a:lnR w="6350" cap="flat" cmpd="sng" algn="ctr">
                      <a:solidFill>
                        <a:srgbClr val="E0D5E8"/>
                      </a:solidFill>
                      <a:prstDash val="solid"/>
                      <a:round/>
                      <a:headEnd type="none" w="med" len="med"/>
                      <a:tailEnd type="none" w="med" len="med"/>
                    </a:lnR>
                    <a:lnT w="6350" cap="flat" cmpd="sng" algn="ctr">
                      <a:solidFill>
                        <a:srgbClr val="E0D5E8"/>
                      </a:solidFill>
                      <a:prstDash val="solid"/>
                      <a:round/>
                      <a:headEnd type="none" w="med" len="med"/>
                      <a:tailEnd type="none" w="med" len="med"/>
                    </a:lnT>
                    <a:lnB w="6350" cap="flat" cmpd="sng" algn="ctr">
                      <a:solidFill>
                        <a:srgbClr val="E0D5E8"/>
                      </a:solidFill>
                      <a:prstDash val="solid"/>
                      <a:round/>
                      <a:headEnd type="none" w="med" len="med"/>
                      <a:tailEnd type="none" w="med" len="med"/>
                    </a:lnB>
                    <a:solidFill>
                      <a:srgbClr val="FFF3E5"/>
                    </a:solidFill>
                  </a:tcPr>
                </a:tc>
                <a:tc>
                  <a:txBody>
                    <a:bodyPr/>
                    <a:lstStyle/>
                    <a:p>
                      <a:pPr marL="0" indent="0" algn="ctr">
                        <a:buNone/>
                      </a:pPr>
                      <a:r>
                        <a:rPr lang="en-US" sz="1000" dirty="0">
                          <a:solidFill>
                            <a:srgbClr val="999999"/>
                          </a:solidFill>
                          <a:latin typeface="Calibri" pitchFamily="34" charset="0"/>
                          <a:ea typeface="Calibri" pitchFamily="34" charset="-122"/>
                          <a:cs typeface="Calibri" pitchFamily="34" charset="-120"/>
                        </a:rPr>
                        <a:t>○ Review</a:t>
                      </a:r>
                      <a:endParaRPr lang="en-US" sz="1000" dirty="0">
                        <a:latin typeface="Calibri" charset="0"/>
                        <a:ea typeface="Calibri" charset="0"/>
                        <a:cs typeface="Calibri" charset="0"/>
                      </a:endParaRPr>
                    </a:p>
                  </a:txBody>
                  <a:tcPr marL="63500" marR="63500" marT="38100" marB="38100" anchor="ctr">
                    <a:lnL w="6350" cap="flat" cmpd="sng" algn="ctr">
                      <a:solidFill>
                        <a:srgbClr val="E0D5E8"/>
                      </a:solidFill>
                      <a:prstDash val="solid"/>
                      <a:round/>
                      <a:headEnd type="none" w="med" len="med"/>
                      <a:tailEnd type="none" w="med" len="med"/>
                    </a:lnL>
                    <a:lnR w="6350" cap="flat" cmpd="sng" algn="ctr">
                      <a:solidFill>
                        <a:srgbClr val="E0D5E8"/>
                      </a:solidFill>
                      <a:prstDash val="solid"/>
                      <a:round/>
                      <a:headEnd type="none" w="med" len="med"/>
                      <a:tailEnd type="none" w="med" len="med"/>
                    </a:lnR>
                    <a:lnT w="6350" cap="flat" cmpd="sng" algn="ctr">
                      <a:solidFill>
                        <a:srgbClr val="E0D5E8"/>
                      </a:solidFill>
                      <a:prstDash val="solid"/>
                      <a:round/>
                      <a:headEnd type="none" w="med" len="med"/>
                      <a:tailEnd type="none" w="med" len="med"/>
                    </a:lnT>
                    <a:lnB w="6350" cap="flat" cmpd="sng" algn="ctr">
                      <a:solidFill>
                        <a:srgbClr val="E0D5E8"/>
                      </a:solidFill>
                      <a:prstDash val="solid"/>
                      <a:round/>
                      <a:headEnd type="none" w="med" len="med"/>
                      <a:tailEnd type="none" w="med" len="med"/>
                    </a:lnB>
                    <a:solidFill>
                      <a:srgbClr val="FFFFFF"/>
                    </a:solidFill>
                  </a:tcPr>
                </a:tc>
                <a:extLst>
                  <a:ext uri="{0D108BD9-81ED-4DB2-BD59-A6C34878D82A}">
                    <a16:rowId xmlns:a16="http://schemas.microsoft.com/office/drawing/2014/main" val="10012"/>
                  </a:ext>
                </a:extLst>
              </a:tr>
            </a:tbl>
          </a:graphicData>
        </a:graphic>
      </p:graphicFrame>
      <p:sp>
        <p:nvSpPr>
          <p:cNvPr id="9" name="Text 6"/>
          <p:cNvSpPr/>
          <p:nvPr/>
        </p:nvSpPr>
        <p:spPr>
          <a:xfrm>
            <a:off x="548640" y="5943600"/>
            <a:ext cx="10972800" cy="320040"/>
          </a:xfrm>
          <a:prstGeom prst="rect">
            <a:avLst/>
          </a:prstGeom>
          <a:noFill/>
          <a:ln/>
        </p:spPr>
        <p:txBody>
          <a:bodyPr wrap="square" rtlCol="0" anchor="ctr"/>
          <a:lstStyle/>
          <a:p>
            <a:pPr marL="0" indent="0">
              <a:buNone/>
            </a:pPr>
            <a:r>
              <a:rPr lang="en-US" sz="1000" b="1" dirty="0">
                <a:solidFill>
                  <a:srgbClr val="E18719"/>
                </a:solidFill>
                <a:latin typeface="Calibri" pitchFamily="34" charset="0"/>
                <a:ea typeface="Calibri" pitchFamily="34" charset="-122"/>
                <a:cs typeface="Calibri" pitchFamily="34" charset="-120"/>
              </a:rPr>
              <a:t>⬤ Primary</a:t>
            </a:r>
            <a:r>
              <a:rPr lang="en-US" sz="1000" dirty="0">
                <a:solidFill>
                  <a:srgbClr val="3D3D3D"/>
                </a:solidFill>
                <a:latin typeface="Calibri" pitchFamily="34" charset="0"/>
                <a:ea typeface="Calibri" pitchFamily="34" charset="-122"/>
                <a:cs typeface="Calibri" pitchFamily="34" charset="-120"/>
              </a:rPr>
              <a:t> = primary quality gate    </a:t>
            </a:r>
            <a:r>
              <a:rPr lang="en-US" sz="1000" dirty="0">
                <a:solidFill>
                  <a:srgbClr val="999999"/>
                </a:solidFill>
                <a:latin typeface="Calibri" pitchFamily="34" charset="0"/>
                <a:ea typeface="Calibri" pitchFamily="34" charset="-122"/>
                <a:cs typeface="Calibri" pitchFamily="34" charset="-120"/>
              </a:rPr>
              <a:t>○ Review</a:t>
            </a:r>
            <a:r>
              <a:rPr lang="en-US" sz="1000" dirty="0">
                <a:solidFill>
                  <a:srgbClr val="3D3D3D"/>
                </a:solidFill>
                <a:latin typeface="Calibri" pitchFamily="34" charset="0"/>
                <a:ea typeface="Calibri" pitchFamily="34" charset="-122"/>
                <a:cs typeface="Calibri" pitchFamily="34" charset="-120"/>
              </a:rPr>
              <a:t> = ongoing review    </a:t>
            </a:r>
            <a:r>
              <a:rPr lang="en-US" sz="1000" dirty="0">
                <a:solidFill>
                  <a:srgbClr val="999999"/>
                </a:solidFill>
                <a:latin typeface="Calibri" pitchFamily="34" charset="0"/>
                <a:ea typeface="Calibri" pitchFamily="34" charset="-122"/>
                <a:cs typeface="Calibri" pitchFamily="34" charset="-120"/>
              </a:rPr>
              <a:t>Prep</a:t>
            </a:r>
            <a:r>
              <a:rPr lang="en-US" sz="1000" dirty="0">
                <a:solidFill>
                  <a:srgbClr val="3D3D3D"/>
                </a:solidFill>
                <a:latin typeface="Calibri" pitchFamily="34" charset="0"/>
                <a:ea typeface="Calibri" pitchFamily="34" charset="-122"/>
                <a:cs typeface="Calibri" pitchFamily="34" charset="-120"/>
              </a:rPr>
              <a:t> = preparation activities    </a:t>
            </a:r>
            <a:r>
              <a:rPr lang="en-US" sz="1000" dirty="0">
                <a:solidFill>
                  <a:srgbClr val="999999"/>
                </a:solidFill>
                <a:latin typeface="Calibri" pitchFamily="34" charset="0"/>
                <a:ea typeface="Calibri" pitchFamily="34" charset="-122"/>
                <a:cs typeface="Calibri" pitchFamily="34" charset="-120"/>
              </a:rPr>
              <a:t>―</a:t>
            </a:r>
            <a:r>
              <a:rPr lang="en-US" sz="1000" dirty="0">
                <a:solidFill>
                  <a:srgbClr val="3D3D3D"/>
                </a:solidFill>
                <a:latin typeface="Calibri" pitchFamily="34" charset="0"/>
                <a:ea typeface="Calibri" pitchFamily="34" charset="-122"/>
                <a:cs typeface="Calibri" pitchFamily="34" charset="-120"/>
              </a:rPr>
              <a:t> = not yet active</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4F2170"/>
          </a:solidFill>
          <a:ln/>
        </p:spPr>
        <p:txBody>
          <a:bodyPr/>
          <a:lstStyle/>
          <a:p>
            <a:endParaRPr lang="en-US"/>
          </a:p>
        </p:txBody>
      </p:sp>
      <p:sp>
        <p:nvSpPr>
          <p:cNvPr id="3" name="Text 1"/>
          <p:cNvSpPr/>
          <p:nvPr/>
        </p:nvSpPr>
        <p:spPr>
          <a:xfrm>
            <a:off x="548640" y="137160"/>
            <a:ext cx="10515600" cy="502920"/>
          </a:xfrm>
          <a:prstGeom prst="rect">
            <a:avLst/>
          </a:prstGeom>
          <a:noFill/>
          <a:ln/>
        </p:spPr>
        <p:txBody>
          <a:bodyPr wrap="square" rtlCol="0" anchor="ctr"/>
          <a:lstStyle/>
          <a:p>
            <a:pPr marL="0" indent="0">
              <a:buNone/>
            </a:pPr>
            <a:r>
              <a:rPr lang="en-US" sz="2400" dirty="0">
                <a:solidFill>
                  <a:srgbClr val="FFFFFF"/>
                </a:solidFill>
                <a:latin typeface="Arial" pitchFamily="34" charset="0"/>
                <a:ea typeface="Arial" pitchFamily="34" charset="-122"/>
                <a:cs typeface="Arial" pitchFamily="34" charset="-120"/>
              </a:rPr>
              <a:t>Expected Outcomes &amp; Transition to WS-2</a:t>
            </a:r>
            <a:endParaRPr lang="en-US" sz="2400" dirty="0"/>
          </a:p>
        </p:txBody>
      </p:sp>
      <p:sp>
        <p:nvSpPr>
          <p:cNvPr id="4" name="Text 2"/>
          <p:cNvSpPr/>
          <p:nvPr/>
        </p:nvSpPr>
        <p:spPr>
          <a:xfrm>
            <a:off x="548640" y="594360"/>
            <a:ext cx="10515600" cy="320040"/>
          </a:xfrm>
          <a:prstGeom prst="rect">
            <a:avLst/>
          </a:prstGeom>
          <a:noFill/>
          <a:ln/>
        </p:spPr>
        <p:txBody>
          <a:bodyPr wrap="square" rtlCol="0" anchor="ctr"/>
          <a:lstStyle/>
          <a:p>
            <a:pPr marL="0" indent="0">
              <a:buNone/>
            </a:pPr>
            <a:r>
              <a:rPr lang="en-US" sz="1300" dirty="0">
                <a:solidFill>
                  <a:srgbClr val="E8DFF0"/>
                </a:solidFill>
                <a:latin typeface="Calibri" pitchFamily="34" charset="0"/>
                <a:ea typeface="Calibri" pitchFamily="34" charset="-122"/>
                <a:cs typeface="Calibri" pitchFamily="34" charset="-120"/>
              </a:rPr>
              <a:t>Closing WS-1 Morning Session</a:t>
            </a:r>
            <a:endParaRPr lang="en-US" sz="1300" dirty="0"/>
          </a:p>
        </p:txBody>
      </p:sp>
      <p:sp>
        <p:nvSpPr>
          <p:cNvPr id="5" name="Shape 3"/>
          <p:cNvSpPr/>
          <p:nvPr/>
        </p:nvSpPr>
        <p:spPr>
          <a:xfrm>
            <a:off x="0" y="6492240"/>
            <a:ext cx="12188952" cy="365760"/>
          </a:xfrm>
          <a:prstGeom prst="rect">
            <a:avLst/>
          </a:prstGeom>
          <a:solidFill>
            <a:srgbClr val="3A1854"/>
          </a:solidFill>
          <a:ln/>
        </p:spPr>
        <p:txBody>
          <a:bodyPr/>
          <a:lstStyle/>
          <a:p>
            <a:endParaRPr lang="en-US"/>
          </a:p>
        </p:txBody>
      </p:sp>
      <p:sp>
        <p:nvSpPr>
          <p:cNvPr id="6" name="Text 4"/>
          <p:cNvSpPr/>
          <p:nvPr/>
        </p:nvSpPr>
        <p:spPr>
          <a:xfrm>
            <a:off x="548640" y="6510528"/>
            <a:ext cx="9144000" cy="320040"/>
          </a:xfrm>
          <a:prstGeom prst="rect">
            <a:avLst/>
          </a:prstGeom>
          <a:noFill/>
          <a:ln/>
        </p:spPr>
        <p:txBody>
          <a:bodyPr wrap="square" rtlCol="0" anchor="ctr"/>
          <a:lstStyle/>
          <a:p>
            <a:pPr marL="0" indent="0">
              <a:buNone/>
            </a:pPr>
            <a:r>
              <a:rPr lang="en-US" sz="900" dirty="0">
                <a:solidFill>
                  <a:srgbClr val="E8DFF0"/>
                </a:solidFill>
                <a:latin typeface="Calibri" pitchFamily="34" charset="0"/>
                <a:ea typeface="Calibri" pitchFamily="34" charset="-122"/>
                <a:cs typeface="Calibri" pitchFamily="34" charset="-120"/>
              </a:rPr>
              <a:t>LA OSA 2.0 Blueprint Workshop  |  Day 3 Morning  |  WS-1: Mexico &amp; Wacam</a:t>
            </a:r>
            <a:endParaRPr lang="en-US" sz="900" dirty="0"/>
          </a:p>
        </p:txBody>
      </p:sp>
      <p:sp>
        <p:nvSpPr>
          <p:cNvPr id="7" name="Text 5"/>
          <p:cNvSpPr/>
          <p:nvPr/>
        </p:nvSpPr>
        <p:spPr>
          <a:xfrm>
            <a:off x="10972800" y="6510528"/>
            <a:ext cx="914400" cy="320040"/>
          </a:xfrm>
          <a:prstGeom prst="rect">
            <a:avLst/>
          </a:prstGeom>
          <a:noFill/>
          <a:ln/>
        </p:spPr>
        <p:txBody>
          <a:bodyPr wrap="square" rtlCol="0" anchor="ctr"/>
          <a:lstStyle/>
          <a:p>
            <a:pPr marL="0" indent="0" algn="r">
              <a:buNone/>
            </a:pPr>
            <a:r>
              <a:rPr lang="en-US" sz="900" dirty="0">
                <a:solidFill>
                  <a:srgbClr val="E8DFF0"/>
                </a:solidFill>
                <a:latin typeface="Calibri" pitchFamily="34" charset="0"/>
                <a:ea typeface="Calibri" pitchFamily="34" charset="-122"/>
                <a:cs typeface="Calibri" pitchFamily="34" charset="-120"/>
              </a:rPr>
              <a:t>20 / 20</a:t>
            </a:r>
            <a:endParaRPr lang="en-US" sz="900" dirty="0"/>
          </a:p>
        </p:txBody>
      </p:sp>
      <p:sp>
        <p:nvSpPr>
          <p:cNvPr id="8" name="Shape 6"/>
          <p:cNvSpPr/>
          <p:nvPr/>
        </p:nvSpPr>
        <p:spPr>
          <a:xfrm>
            <a:off x="548640" y="1371600"/>
            <a:ext cx="10515600" cy="548640"/>
          </a:xfrm>
          <a:prstGeom prst="roundRect">
            <a:avLst>
              <a:gd name="adj" fmla="val 10000"/>
            </a:avLst>
          </a:prstGeom>
          <a:solidFill>
            <a:srgbClr val="E8F5E4"/>
          </a:solidFill>
          <a:ln w="12700">
            <a:solidFill>
              <a:srgbClr val="287819"/>
            </a:solidFill>
            <a:prstDash val="solid"/>
          </a:ln>
        </p:spPr>
        <p:txBody>
          <a:bodyPr/>
          <a:lstStyle/>
          <a:p>
            <a:endParaRPr lang="en-US"/>
          </a:p>
        </p:txBody>
      </p:sp>
      <p:sp>
        <p:nvSpPr>
          <p:cNvPr id="9" name="Text 7"/>
          <p:cNvSpPr/>
          <p:nvPr/>
        </p:nvSpPr>
        <p:spPr>
          <a:xfrm>
            <a:off x="731520" y="1417320"/>
            <a:ext cx="365760" cy="457200"/>
          </a:xfrm>
          <a:prstGeom prst="rect">
            <a:avLst/>
          </a:prstGeom>
          <a:noFill/>
          <a:ln/>
        </p:spPr>
        <p:txBody>
          <a:bodyPr wrap="square" rtlCol="0" anchor="ctr"/>
          <a:lstStyle/>
          <a:p>
            <a:pPr marL="0" indent="0" algn="ctr">
              <a:buNone/>
            </a:pPr>
            <a:r>
              <a:rPr lang="en-US" sz="1800" dirty="0">
                <a:solidFill>
                  <a:srgbClr val="287819"/>
                </a:solidFill>
                <a:latin typeface="Arial" pitchFamily="34" charset="0"/>
                <a:ea typeface="Arial" pitchFamily="34" charset="-122"/>
                <a:cs typeface="Arial" pitchFamily="34" charset="-120"/>
              </a:rPr>
              <a:t>✔</a:t>
            </a:r>
            <a:endParaRPr lang="en-US" sz="1800" dirty="0"/>
          </a:p>
        </p:txBody>
      </p:sp>
      <p:sp>
        <p:nvSpPr>
          <p:cNvPr id="10" name="Text 8"/>
          <p:cNvSpPr/>
          <p:nvPr/>
        </p:nvSpPr>
        <p:spPr>
          <a:xfrm>
            <a:off x="1188720" y="1417320"/>
            <a:ext cx="9692640" cy="457200"/>
          </a:xfrm>
          <a:prstGeom prst="rect">
            <a:avLst/>
          </a:prstGeom>
          <a:noFill/>
          <a:ln/>
        </p:spPr>
        <p:txBody>
          <a:bodyPr wrap="square" rtlCol="0" anchor="ctr"/>
          <a:lstStyle/>
          <a:p>
            <a:pPr marL="0" indent="0">
              <a:buNone/>
            </a:pPr>
            <a:r>
              <a:rPr lang="en-US" sz="1300" dirty="0">
                <a:solidFill>
                  <a:srgbClr val="3D3D3D"/>
                </a:solidFill>
                <a:latin typeface="Calibri" pitchFamily="34" charset="0"/>
                <a:ea typeface="Calibri" pitchFamily="34" charset="-122"/>
                <a:cs typeface="Calibri" pitchFamily="34" charset="-120"/>
              </a:rPr>
              <a:t>Executable WS-1 plan with named Lingaro resources assigned to each business-process track</a:t>
            </a:r>
            <a:endParaRPr lang="en-US" sz="1300" dirty="0"/>
          </a:p>
        </p:txBody>
      </p:sp>
      <p:sp>
        <p:nvSpPr>
          <p:cNvPr id="11" name="Shape 9"/>
          <p:cNvSpPr/>
          <p:nvPr/>
        </p:nvSpPr>
        <p:spPr>
          <a:xfrm>
            <a:off x="548640" y="2057400"/>
            <a:ext cx="10515600" cy="548640"/>
          </a:xfrm>
          <a:prstGeom prst="roundRect">
            <a:avLst>
              <a:gd name="adj" fmla="val 10000"/>
            </a:avLst>
          </a:prstGeom>
          <a:solidFill>
            <a:srgbClr val="E8F5E4"/>
          </a:solidFill>
          <a:ln w="12700">
            <a:solidFill>
              <a:srgbClr val="287819"/>
            </a:solidFill>
            <a:prstDash val="solid"/>
          </a:ln>
        </p:spPr>
        <p:txBody>
          <a:bodyPr/>
          <a:lstStyle/>
          <a:p>
            <a:endParaRPr lang="en-US"/>
          </a:p>
        </p:txBody>
      </p:sp>
      <p:sp>
        <p:nvSpPr>
          <p:cNvPr id="12" name="Text 10"/>
          <p:cNvSpPr/>
          <p:nvPr/>
        </p:nvSpPr>
        <p:spPr>
          <a:xfrm>
            <a:off x="731520" y="2103120"/>
            <a:ext cx="365760" cy="457200"/>
          </a:xfrm>
          <a:prstGeom prst="rect">
            <a:avLst/>
          </a:prstGeom>
          <a:noFill/>
          <a:ln/>
        </p:spPr>
        <p:txBody>
          <a:bodyPr wrap="square" rtlCol="0" anchor="ctr"/>
          <a:lstStyle/>
          <a:p>
            <a:pPr marL="0" indent="0" algn="ctr">
              <a:buNone/>
            </a:pPr>
            <a:r>
              <a:rPr lang="en-US" sz="1800" dirty="0">
                <a:solidFill>
                  <a:srgbClr val="287819"/>
                </a:solidFill>
                <a:latin typeface="Arial" pitchFamily="34" charset="0"/>
                <a:ea typeface="Arial" pitchFamily="34" charset="-122"/>
                <a:cs typeface="Arial" pitchFamily="34" charset="-120"/>
              </a:rPr>
              <a:t>✔</a:t>
            </a:r>
            <a:endParaRPr lang="en-US" sz="1800" dirty="0"/>
          </a:p>
        </p:txBody>
      </p:sp>
      <p:sp>
        <p:nvSpPr>
          <p:cNvPr id="13" name="Text 11"/>
          <p:cNvSpPr/>
          <p:nvPr/>
        </p:nvSpPr>
        <p:spPr>
          <a:xfrm>
            <a:off x="1188720" y="2103120"/>
            <a:ext cx="9692640" cy="457200"/>
          </a:xfrm>
          <a:prstGeom prst="rect">
            <a:avLst/>
          </a:prstGeom>
          <a:noFill/>
          <a:ln/>
        </p:spPr>
        <p:txBody>
          <a:bodyPr wrap="square" rtlCol="0" anchor="ctr"/>
          <a:lstStyle/>
          <a:p>
            <a:pPr marL="0" indent="0">
              <a:buNone/>
            </a:pPr>
            <a:r>
              <a:rPr lang="en-US" sz="1300" dirty="0">
                <a:solidFill>
                  <a:srgbClr val="3D3D3D"/>
                </a:solidFill>
                <a:latin typeface="Calibri" pitchFamily="34" charset="0"/>
                <a:ea typeface="Calibri" pitchFamily="34" charset="-122"/>
                <a:cs typeface="Calibri" pitchFamily="34" charset="-120"/>
              </a:rPr>
              <a:t>Clear daily cadence with same steps and phases applied to each of the 6 tracks</a:t>
            </a:r>
            <a:endParaRPr lang="en-US" sz="1300" dirty="0"/>
          </a:p>
        </p:txBody>
      </p:sp>
      <p:sp>
        <p:nvSpPr>
          <p:cNvPr id="14" name="Shape 12"/>
          <p:cNvSpPr/>
          <p:nvPr/>
        </p:nvSpPr>
        <p:spPr>
          <a:xfrm>
            <a:off x="548640" y="2743200"/>
            <a:ext cx="10515600" cy="548640"/>
          </a:xfrm>
          <a:prstGeom prst="roundRect">
            <a:avLst>
              <a:gd name="adj" fmla="val 10000"/>
            </a:avLst>
          </a:prstGeom>
          <a:solidFill>
            <a:srgbClr val="E8F5E4"/>
          </a:solidFill>
          <a:ln w="12700">
            <a:solidFill>
              <a:srgbClr val="287819"/>
            </a:solidFill>
            <a:prstDash val="solid"/>
          </a:ln>
        </p:spPr>
        <p:txBody>
          <a:bodyPr/>
          <a:lstStyle/>
          <a:p>
            <a:endParaRPr lang="en-US"/>
          </a:p>
        </p:txBody>
      </p:sp>
      <p:sp>
        <p:nvSpPr>
          <p:cNvPr id="15" name="Text 13"/>
          <p:cNvSpPr/>
          <p:nvPr/>
        </p:nvSpPr>
        <p:spPr>
          <a:xfrm>
            <a:off x="731520" y="2788920"/>
            <a:ext cx="365760" cy="457200"/>
          </a:xfrm>
          <a:prstGeom prst="rect">
            <a:avLst/>
          </a:prstGeom>
          <a:noFill/>
          <a:ln/>
        </p:spPr>
        <p:txBody>
          <a:bodyPr wrap="square" rtlCol="0" anchor="ctr"/>
          <a:lstStyle/>
          <a:p>
            <a:pPr marL="0" indent="0" algn="ctr">
              <a:buNone/>
            </a:pPr>
            <a:r>
              <a:rPr lang="en-US" sz="1800" dirty="0">
                <a:solidFill>
                  <a:srgbClr val="287819"/>
                </a:solidFill>
                <a:latin typeface="Arial" pitchFamily="34" charset="0"/>
                <a:ea typeface="Arial" pitchFamily="34" charset="-122"/>
                <a:cs typeface="Arial" pitchFamily="34" charset="-120"/>
              </a:rPr>
              <a:t>✔</a:t>
            </a:r>
            <a:endParaRPr lang="en-US" sz="1800" dirty="0"/>
          </a:p>
        </p:txBody>
      </p:sp>
      <p:sp>
        <p:nvSpPr>
          <p:cNvPr id="16" name="Text 14"/>
          <p:cNvSpPr/>
          <p:nvPr/>
        </p:nvSpPr>
        <p:spPr>
          <a:xfrm>
            <a:off x="1188720" y="2788920"/>
            <a:ext cx="9692640" cy="457200"/>
          </a:xfrm>
          <a:prstGeom prst="rect">
            <a:avLst/>
          </a:prstGeom>
          <a:noFill/>
          <a:ln/>
        </p:spPr>
        <p:txBody>
          <a:bodyPr wrap="square" rtlCol="0" anchor="ctr"/>
          <a:lstStyle/>
          <a:p>
            <a:pPr marL="0" indent="0">
              <a:buNone/>
            </a:pPr>
            <a:r>
              <a:rPr lang="en-US" sz="1300" dirty="0">
                <a:solidFill>
                  <a:srgbClr val="3D3D3D"/>
                </a:solidFill>
                <a:latin typeface="Calibri" pitchFamily="34" charset="0"/>
                <a:ea typeface="Calibri" pitchFamily="34" charset="-122"/>
                <a:cs typeface="Calibri" pitchFamily="34" charset="-120"/>
              </a:rPr>
              <a:t>CDRB review register populated with all applicable items and planned actions per month</a:t>
            </a:r>
            <a:endParaRPr lang="en-US" sz="1300" dirty="0"/>
          </a:p>
        </p:txBody>
      </p:sp>
      <p:sp>
        <p:nvSpPr>
          <p:cNvPr id="17" name="Shape 15"/>
          <p:cNvSpPr/>
          <p:nvPr/>
        </p:nvSpPr>
        <p:spPr>
          <a:xfrm>
            <a:off x="548640" y="3429000"/>
            <a:ext cx="10515600" cy="548640"/>
          </a:xfrm>
          <a:prstGeom prst="roundRect">
            <a:avLst>
              <a:gd name="adj" fmla="val 10000"/>
            </a:avLst>
          </a:prstGeom>
          <a:solidFill>
            <a:srgbClr val="E8F5E4"/>
          </a:solidFill>
          <a:ln w="12700">
            <a:solidFill>
              <a:srgbClr val="287819"/>
            </a:solidFill>
            <a:prstDash val="solid"/>
          </a:ln>
        </p:spPr>
        <p:txBody>
          <a:bodyPr/>
          <a:lstStyle/>
          <a:p>
            <a:endParaRPr lang="en-US"/>
          </a:p>
        </p:txBody>
      </p:sp>
      <p:sp>
        <p:nvSpPr>
          <p:cNvPr id="18" name="Text 16"/>
          <p:cNvSpPr/>
          <p:nvPr/>
        </p:nvSpPr>
        <p:spPr>
          <a:xfrm>
            <a:off x="731520" y="3474720"/>
            <a:ext cx="365760" cy="457200"/>
          </a:xfrm>
          <a:prstGeom prst="rect">
            <a:avLst/>
          </a:prstGeom>
          <a:noFill/>
          <a:ln/>
        </p:spPr>
        <p:txBody>
          <a:bodyPr wrap="square" rtlCol="0" anchor="ctr"/>
          <a:lstStyle/>
          <a:p>
            <a:pPr marL="0" indent="0" algn="ctr">
              <a:buNone/>
            </a:pPr>
            <a:r>
              <a:rPr lang="en-US" sz="1800" dirty="0">
                <a:solidFill>
                  <a:srgbClr val="287819"/>
                </a:solidFill>
                <a:latin typeface="Arial" pitchFamily="34" charset="0"/>
                <a:ea typeface="Arial" pitchFamily="34" charset="-122"/>
                <a:cs typeface="Arial" pitchFamily="34" charset="-120"/>
              </a:rPr>
              <a:t>✔</a:t>
            </a:r>
            <a:endParaRPr lang="en-US" sz="1800" dirty="0"/>
          </a:p>
        </p:txBody>
      </p:sp>
      <p:sp>
        <p:nvSpPr>
          <p:cNvPr id="19" name="Text 17"/>
          <p:cNvSpPr/>
          <p:nvPr/>
        </p:nvSpPr>
        <p:spPr>
          <a:xfrm>
            <a:off x="1188720" y="3474720"/>
            <a:ext cx="9692640" cy="457200"/>
          </a:xfrm>
          <a:prstGeom prst="rect">
            <a:avLst/>
          </a:prstGeom>
          <a:noFill/>
          <a:ln/>
        </p:spPr>
        <p:txBody>
          <a:bodyPr wrap="square" rtlCol="0" anchor="ctr"/>
          <a:lstStyle/>
          <a:p>
            <a:pPr marL="0" indent="0">
              <a:buNone/>
            </a:pPr>
            <a:r>
              <a:rPr lang="en-US" sz="1300" dirty="0">
                <a:solidFill>
                  <a:srgbClr val="3D3D3D"/>
                </a:solidFill>
                <a:latin typeface="Calibri" pitchFamily="34" charset="0"/>
                <a:ea typeface="Calibri" pitchFamily="34" charset="-122"/>
                <a:cs typeface="Calibri" pitchFamily="34" charset="-120"/>
              </a:rPr>
              <a:t>Working prototype foundations in the Databricks exploration zone by end of December</a:t>
            </a:r>
            <a:endParaRPr lang="en-US" sz="1300" dirty="0"/>
          </a:p>
        </p:txBody>
      </p:sp>
      <p:sp>
        <p:nvSpPr>
          <p:cNvPr id="20" name="Shape 18"/>
          <p:cNvSpPr/>
          <p:nvPr/>
        </p:nvSpPr>
        <p:spPr>
          <a:xfrm>
            <a:off x="548640" y="4114800"/>
            <a:ext cx="10515600" cy="548640"/>
          </a:xfrm>
          <a:prstGeom prst="roundRect">
            <a:avLst>
              <a:gd name="adj" fmla="val 10000"/>
            </a:avLst>
          </a:prstGeom>
          <a:solidFill>
            <a:srgbClr val="E8F5E4"/>
          </a:solidFill>
          <a:ln w="12700">
            <a:solidFill>
              <a:srgbClr val="287819"/>
            </a:solidFill>
            <a:prstDash val="solid"/>
          </a:ln>
        </p:spPr>
        <p:txBody>
          <a:bodyPr/>
          <a:lstStyle/>
          <a:p>
            <a:endParaRPr lang="en-US"/>
          </a:p>
        </p:txBody>
      </p:sp>
      <p:sp>
        <p:nvSpPr>
          <p:cNvPr id="21" name="Text 19"/>
          <p:cNvSpPr/>
          <p:nvPr/>
        </p:nvSpPr>
        <p:spPr>
          <a:xfrm>
            <a:off x="731520" y="4160520"/>
            <a:ext cx="365760" cy="457200"/>
          </a:xfrm>
          <a:prstGeom prst="rect">
            <a:avLst/>
          </a:prstGeom>
          <a:noFill/>
          <a:ln/>
        </p:spPr>
        <p:txBody>
          <a:bodyPr wrap="square" rtlCol="0" anchor="ctr"/>
          <a:lstStyle/>
          <a:p>
            <a:pPr marL="0" indent="0" algn="ctr">
              <a:buNone/>
            </a:pPr>
            <a:r>
              <a:rPr lang="en-US" sz="1800" dirty="0">
                <a:solidFill>
                  <a:srgbClr val="287819"/>
                </a:solidFill>
                <a:latin typeface="Arial" pitchFamily="34" charset="0"/>
                <a:ea typeface="Arial" pitchFamily="34" charset="-122"/>
                <a:cs typeface="Arial" pitchFamily="34" charset="-120"/>
              </a:rPr>
              <a:t>✔</a:t>
            </a:r>
            <a:endParaRPr lang="en-US" sz="1800" dirty="0"/>
          </a:p>
        </p:txBody>
      </p:sp>
      <p:sp>
        <p:nvSpPr>
          <p:cNvPr id="22" name="Text 20"/>
          <p:cNvSpPr/>
          <p:nvPr/>
        </p:nvSpPr>
        <p:spPr>
          <a:xfrm>
            <a:off x="1188720" y="4160520"/>
            <a:ext cx="9692640" cy="457200"/>
          </a:xfrm>
          <a:prstGeom prst="rect">
            <a:avLst/>
          </a:prstGeom>
          <a:noFill/>
          <a:ln/>
        </p:spPr>
        <p:txBody>
          <a:bodyPr wrap="square" rtlCol="0" anchor="ctr"/>
          <a:lstStyle/>
          <a:p>
            <a:pPr marL="0" indent="0">
              <a:buNone/>
            </a:pPr>
            <a:r>
              <a:rPr lang="en-US" sz="1300" dirty="0">
                <a:solidFill>
                  <a:srgbClr val="3D3D3D"/>
                </a:solidFill>
                <a:latin typeface="Calibri" pitchFamily="34" charset="0"/>
                <a:ea typeface="Calibri" pitchFamily="34" charset="-122"/>
                <a:cs typeface="Calibri" pitchFamily="34" charset="-120"/>
              </a:rPr>
              <a:t>January delivery commitment confirmed as part of fixed-price SOW</a:t>
            </a:r>
            <a:endParaRPr lang="en-US" sz="1300" dirty="0"/>
          </a:p>
        </p:txBody>
      </p:sp>
      <p:sp>
        <p:nvSpPr>
          <p:cNvPr id="23" name="Shape 21"/>
          <p:cNvSpPr/>
          <p:nvPr/>
        </p:nvSpPr>
        <p:spPr>
          <a:xfrm>
            <a:off x="548640" y="5074920"/>
            <a:ext cx="11064240" cy="1097280"/>
          </a:xfrm>
          <a:prstGeom prst="roundRect">
            <a:avLst>
              <a:gd name="adj" fmla="val 6667"/>
            </a:avLst>
          </a:prstGeom>
          <a:solidFill>
            <a:srgbClr val="E8DFF0"/>
          </a:solidFill>
          <a:ln w="25400">
            <a:solidFill>
              <a:srgbClr val="4F2170"/>
            </a:solidFill>
            <a:prstDash val="solid"/>
          </a:ln>
        </p:spPr>
        <p:txBody>
          <a:bodyPr/>
          <a:lstStyle/>
          <a:p>
            <a:endParaRPr lang="en-US"/>
          </a:p>
        </p:txBody>
      </p:sp>
      <p:sp>
        <p:nvSpPr>
          <p:cNvPr id="24" name="Text 22"/>
          <p:cNvSpPr/>
          <p:nvPr/>
        </p:nvSpPr>
        <p:spPr>
          <a:xfrm>
            <a:off x="777240" y="5120640"/>
            <a:ext cx="10515600" cy="320040"/>
          </a:xfrm>
          <a:prstGeom prst="rect">
            <a:avLst/>
          </a:prstGeom>
          <a:noFill/>
          <a:ln/>
        </p:spPr>
        <p:txBody>
          <a:bodyPr wrap="square" rtlCol="0" anchor="ctr"/>
          <a:lstStyle/>
          <a:p>
            <a:pPr marL="0" indent="0">
              <a:buNone/>
            </a:pPr>
            <a:r>
              <a:rPr lang="en-US" sz="1500" b="1" dirty="0">
                <a:solidFill>
                  <a:srgbClr val="4F2170"/>
                </a:solidFill>
                <a:latin typeface="Arial" pitchFamily="34" charset="0"/>
                <a:ea typeface="Arial" pitchFamily="34" charset="-122"/>
                <a:cs typeface="Arial" pitchFamily="34" charset="-120"/>
              </a:rPr>
              <a:t>▶  Afternoon Session: WS-2 Executable Blueprint</a:t>
            </a:r>
            <a:endParaRPr lang="en-US" sz="1500" dirty="0"/>
          </a:p>
        </p:txBody>
      </p:sp>
      <p:sp>
        <p:nvSpPr>
          <p:cNvPr id="25" name="Text 23"/>
          <p:cNvSpPr/>
          <p:nvPr/>
        </p:nvSpPr>
        <p:spPr>
          <a:xfrm>
            <a:off x="777240" y="5486400"/>
            <a:ext cx="10515600" cy="594360"/>
          </a:xfrm>
          <a:prstGeom prst="rect">
            <a:avLst/>
          </a:prstGeom>
          <a:noFill/>
          <a:ln/>
        </p:spPr>
        <p:txBody>
          <a:bodyPr wrap="square" rtlCol="0" anchor="t"/>
          <a:lstStyle/>
          <a:p>
            <a:pPr marL="0" indent="0">
              <a:lnSpc>
                <a:spcPct val="115000"/>
              </a:lnSpc>
              <a:buNone/>
            </a:pPr>
            <a:r>
              <a:rPr lang="en-US" sz="1200" dirty="0">
                <a:solidFill>
                  <a:srgbClr val="3D3D3D"/>
                </a:solidFill>
                <a:latin typeface="Calibri" pitchFamily="34" charset="0"/>
                <a:ea typeface="Calibri" pitchFamily="34" charset="-122"/>
                <a:cs typeface="Calibri" pitchFamily="34" charset="-120"/>
              </a:rPr>
              <a:t>Workstream 2 builds the parallel plan for Brazil &amp; Southern Cone — 8 business-process tracks (including Brazil PVC/VR and Snacksync), back-office/front-office team split, market visits (São Paulo, Buenos Aires), and full LA harmonization deliverables for November and December.</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1"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B0B32529-7C30-4365-B54A-E32F790C362F}">
  <we:reference id="WA200010606" version="1.0.10036.0" store="en-us" storeType="OMEX"/>
  <we:alternateReferences/>
  <we:properties>
    <we:property name="Office.AutoShowTaskpaneWithDocument" value="true"/>
    <we:property name="conversationId" value="&quot;a59c7059-6146-494f-8477-208f19f4c6be&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10ACD7CA5119F40AF5E91A27074F293" ma:contentTypeVersion="27" ma:contentTypeDescription="Create a new document." ma:contentTypeScope="" ma:versionID="7eb4e591a7f37e13057e46d636c666f9">
  <xsd:schema xmlns:xsd="http://www.w3.org/2001/XMLSchema" xmlns:xs="http://www.w3.org/2001/XMLSchema" xmlns:p="http://schemas.microsoft.com/office/2006/metadata/properties" xmlns:ns1="http://schemas.microsoft.com/sharepoint/v3" xmlns:ns2="5c801c27-1a67-42b9-b7e9-5cda40cc31e5" xmlns:ns3="a6b4ae44-5c5c-43e1-b436-9dc6406f0335" xmlns:ns4="b1c47458-3139-44fa-9453-91c24986b014" xmlns:ns5="http://schemas.microsoft.com/sharepoint/v4" targetNamespace="http://schemas.microsoft.com/office/2006/metadata/properties" ma:root="true" ma:fieldsID="8bd00b6623a4b6d643da9f30c9fcd049" ns1:_="" ns2:_="" ns3:_="" ns4:_="" ns5:_="">
    <xsd:import namespace="http://schemas.microsoft.com/sharepoint/v3"/>
    <xsd:import namespace="5c801c27-1a67-42b9-b7e9-5cda40cc31e5"/>
    <xsd:import namespace="a6b4ae44-5c5c-43e1-b436-9dc6406f0335"/>
    <xsd:import namespace="b1c47458-3139-44fa-9453-91c24986b014"/>
    <xsd:import namespace="http://schemas.microsoft.com/sharepoint/v4"/>
    <xsd:element name="properties">
      <xsd:complexType>
        <xsd:sequence>
          <xsd:element name="documentManagement">
            <xsd:complexType>
              <xsd:all>
                <xsd:element ref="ns2:TaxCatchAll" minOccurs="0"/>
                <xsd:element ref="ns2:TaxCatchAllLabel" minOccurs="0"/>
                <xsd:element ref="ns3:MediaServiceMetadata" minOccurs="0"/>
                <xsd:element ref="ns3:MediaServiceFastMetadata" minOccurs="0"/>
                <xsd:element ref="ns3:MediaServiceObjectDetectorVersions" minOccurs="0"/>
                <xsd:element ref="ns3:MediaServiceDateTaken" minOccurs="0"/>
                <xsd:element ref="ns3:MediaServiceGenerationTime" minOccurs="0"/>
                <xsd:element ref="ns3:MediaServiceEventHashCode" minOccurs="0"/>
                <xsd:element ref="ns3:MediaLengthInSeconds" minOccurs="0"/>
                <xsd:element ref="ns4:SharedWithUsers" minOccurs="0"/>
                <xsd:element ref="ns4:SharedWithDetails" minOccurs="0"/>
                <xsd:element ref="ns3:MediaServiceSearchProperties" minOccurs="0"/>
                <xsd:element ref="ns3:lcf76f155ced4ddcb4097134ff3c332f" minOccurs="0"/>
                <xsd:element ref="ns3:MediaServiceOCR" minOccurs="0"/>
                <xsd:element ref="ns3:ArchiverLinkFileType" minOccurs="0"/>
                <xsd:element ref="ns5:IconOverlay" minOccurs="0"/>
                <xsd:element ref="ns1:_vti_ItemDeclaredRecord" minOccurs="0"/>
                <xsd:element ref="ns1:_vti_ItemHoldRecord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vti_ItemDeclaredRecord" ma:index="25" nillable="true" ma:displayName="Declared Record" ma:hidden="true" ma:internalName="_vti_ItemDeclaredRecord" ma:readOnly="true">
      <xsd:simpleType>
        <xsd:restriction base="dms:DateTime"/>
      </xsd:simpleType>
    </xsd:element>
    <xsd:element name="_vti_ItemHoldRecordStatus" ma:index="26" nillable="true" ma:displayName="Hold and Record Status" ma:decimals="0" ma:hidden="true" ma:internalName="_vti_ItemHoldRecordStatu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5c801c27-1a67-42b9-b7e9-5cda40cc31e5" elementFormDefault="qualified">
    <xsd:import namespace="http://schemas.microsoft.com/office/2006/documentManagement/types"/>
    <xsd:import namespace="http://schemas.microsoft.com/office/infopath/2007/PartnerControls"/>
    <xsd:element name="TaxCatchAll" ma:index="3" nillable="true" ma:displayName="Taxonomy Catch All Column" ma:hidden="true" ma:list="{85da1cb2-e3ac-4454-aaf5-deb7abcfd217}" ma:internalName="TaxCatchAll" ma:showField="CatchAllData" ma:web="b1c47458-3139-44fa-9453-91c24986b014">
      <xsd:complexType>
        <xsd:complexContent>
          <xsd:extension base="dms:MultiChoiceLookup">
            <xsd:sequence>
              <xsd:element name="Value" type="dms:Lookup" maxOccurs="unbounded" minOccurs="0" nillable="true"/>
            </xsd:sequence>
          </xsd:extension>
        </xsd:complexContent>
      </xsd:complexType>
    </xsd:element>
    <xsd:element name="TaxCatchAllLabel" ma:index="4" nillable="true" ma:displayName="Taxonomy Catch All Column1" ma:hidden="true" ma:list="{85da1cb2-e3ac-4454-aaf5-deb7abcfd217}" ma:internalName="TaxCatchAllLabel" ma:readOnly="true" ma:showField="CatchAllDataLabel" ma:web="b1c47458-3139-44fa-9453-91c24986b014">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a6b4ae44-5c5c-43e1-b436-9dc6406f0335"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DateTaken" ma:index="13" nillable="true" ma:displayName="MediaServiceDateTaken" ma:hidden="true" ma:indexed="true" ma:internalName="MediaServiceDateTaken"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LengthInSeconds" ma:index="16" nillable="true" ma:displayName="MediaLengthInSeconds" ma:hidden="true" ma:internalName="MediaLengthInSeconds" ma:readOnly="true">
      <xsd:simpleType>
        <xsd:restriction base="dms:Unknown"/>
      </xsd:simpleType>
    </xsd:element>
    <xsd:element name="MediaServiceSearchProperties" ma:index="19" nillable="true" ma:displayName="MediaServiceSearchProperties" ma:hidden="true" ma:internalName="MediaServiceSearchProperties" ma:readOnly="true">
      <xsd:simpleType>
        <xsd:restriction base="dms:Note"/>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97b8a8d-5f3c-4193-8680-60a4d695ab07" ma:termSetId="09814cd3-568e-fe90-9814-8d621ff8fb84" ma:anchorId="fba54fb3-c3e1-fe81-a776-ca4b69148c4d" ma:open="true" ma:isKeyword="false">
      <xsd:complexType>
        <xsd:sequence>
          <xsd:element ref="pc:Terms" minOccurs="0" maxOccurs="1"/>
        </xsd:sequence>
      </xsd:complexType>
    </xsd:element>
    <xsd:element name="MediaServiceOCR" ma:index="22" nillable="true" ma:displayName="Extracted Text" ma:internalName="MediaServiceOCR" ma:readOnly="true">
      <xsd:simpleType>
        <xsd:restriction base="dms:Note">
          <xsd:maxLength value="255"/>
        </xsd:restriction>
      </xsd:simpleType>
    </xsd:element>
    <xsd:element name="ArchiverLinkFileType" ma:index="23" nillable="true" ma:displayName="ArchiverLinkFileType" ma:hidden="true" ma:internalName="ArchiverLinkFileTyp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1c47458-3139-44fa-9453-91c24986b014"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4" elementFormDefault="qualified">
    <xsd:import namespace="http://schemas.microsoft.com/office/2006/documentManagement/types"/>
    <xsd:import namespace="http://schemas.microsoft.com/office/infopath/2007/PartnerControls"/>
    <xsd:element name="IconOverlay" ma:index="24" nillable="true" ma:displayName="IconOverlay" ma:hidden="true" ma:internalName="IconOverlay">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5"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ct:contentTypeSchema xmlns:ct="http://schemas.microsoft.com/office/2006/metadata/contentType" xmlns:ma="http://schemas.microsoft.com/office/2006/metadata/properties/metaAttributes" ct:_="" ma:_="" ma:contentTypeName="Dokument" ma:contentTypeID="0x010100266914E79E88C442A399C0003F001ABD" ma:contentTypeVersion="28" ma:contentTypeDescription="Utwórz nowy dokument." ma:contentTypeScope="" ma:versionID="33ed517f0fe7881044c0379bf6e6c5e5">
  <xsd:schema xmlns:xsd="http://www.w3.org/2001/XMLSchema" xmlns:xs="http://www.w3.org/2001/XMLSchema" xmlns:p="http://schemas.microsoft.com/office/2006/metadata/properties" xmlns:ns2="14caeef9-b53f-42a6-990e-fcac1125bd35" xmlns:ns3="d12b9936-9868-4837-b2ca-9cd32d14129f" targetNamespace="http://schemas.microsoft.com/office/2006/metadata/properties" ma:root="true" ma:fieldsID="9b0cf918bdf6ad069f10ccd307726346" ns2:_="" ns3:_="">
    <xsd:import namespace="14caeef9-b53f-42a6-990e-fcac1125bd35"/>
    <xsd:import namespace="d12b9936-9868-4837-b2ca-9cd32d14129f"/>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DateTaken" minOccurs="0"/>
                <xsd:element ref="ns2:MediaServiceAutoTags" minOccurs="0"/>
                <xsd:element ref="ns2:MediaServiceOCR" minOccurs="0"/>
                <xsd:element ref="ns3:TaxKeywordTaxHTField" minOccurs="0"/>
                <xsd:element ref="ns3:TaxCatchAll" minOccurs="0"/>
                <xsd:element ref="ns2:MediaServiceLocation" minOccurs="0"/>
                <xsd:element ref="ns2:MediaServiceGenerationTime" minOccurs="0"/>
                <xsd:element ref="ns2:MediaServiceEventHashCode" minOccurs="0"/>
                <xsd:element ref="ns2:MediaServiceAutoKeyPoints" minOccurs="0"/>
                <xsd:element ref="ns2:MediaServiceKeyPoints" minOccurs="0"/>
                <xsd:element ref="ns2:MediaLengthInSeconds" minOccurs="0"/>
                <xsd:element ref="ns2:lcf76f155ced4ddcb4097134ff3c332f" minOccurs="0"/>
                <xsd:element ref="ns2:MediaServiceSearchProperties" minOccurs="0"/>
                <xsd:element ref="ns2:LastUpdate" minOccurs="0"/>
                <xsd:element ref="ns2:SensitivityLevel" minOccurs="0"/>
                <xsd:element ref="ns2:MediaServiceObjectDetectorVersion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4caeef9-b53f-42a6-990e-fcac1125bd35" elementFormDefault="qualified">
    <xsd:import namespace="http://schemas.microsoft.com/office/2006/documentManagement/types"/>
    <xsd:import namespace="http://schemas.microsoft.com/office/infopath/2007/PartnerControls"/>
    <xsd:element name="MediaServiceMetadata" ma:index="8" nillable="true" ma:displayName="MediaServiceMetadata" ma:description="" ma:hidden="true" ma:internalName="MediaServiceMetadata" ma:readOnly="true">
      <xsd:simpleType>
        <xsd:restriction base="dms:Note"/>
      </xsd:simpleType>
    </xsd:element>
    <xsd:element name="MediaServiceFastMetadata" ma:index="9" nillable="true" ma:displayName="MediaServiceFastMetadata" ma:description="" ma:hidden="true" ma:internalName="MediaServiceFastMetadata" ma:readOnly="true">
      <xsd:simpleType>
        <xsd:restriction base="dms:Note"/>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MediaServiceAutoTags" ma:internalName="MediaServiceAutoTags" ma:readOnly="true">
      <xsd:simpleType>
        <xsd:restriction base="dms:Text"/>
      </xsd:simpleType>
    </xsd:element>
    <xsd:element name="MediaServiceOCR" ma:index="14" nillable="true" ma:displayName="MediaServiceOCR" ma:internalName="MediaServiceOCR" ma:readOnly="true">
      <xsd:simpleType>
        <xsd:restriction base="dms:Note">
          <xsd:maxLength value="255"/>
        </xsd:restriction>
      </xsd:simpleType>
    </xsd:element>
    <xsd:element name="MediaServiceLocation" ma:index="18" nillable="true" ma:displayName="MediaServiceLocation" ma:internalName="MediaServiceLocation" ma:readOnly="true">
      <xsd:simpleType>
        <xsd:restriction base="dms:Text"/>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AutoKeyPoints" ma:index="21" nillable="true" ma:displayName="MediaServiceAutoKeyPoints" ma:hidden="true" ma:internalName="MediaServiceAutoKeyPoints" ma:readOnly="true">
      <xsd:simpleType>
        <xsd:restriction base="dms:Note"/>
      </xsd:simpleType>
    </xsd:element>
    <xsd:element name="MediaServiceKeyPoints" ma:index="22" nillable="true" ma:displayName="KeyPoints" ma:internalName="MediaServiceKeyPoints" ma:readOnly="true">
      <xsd:simpleType>
        <xsd:restriction base="dms:Note">
          <xsd:maxLength value="255"/>
        </xsd:restriction>
      </xsd:simpleType>
    </xsd:element>
    <xsd:element name="MediaLengthInSeconds" ma:index="23" nillable="true" ma:displayName="Length (seconds)" ma:internalName="MediaLengthInSeconds" ma:readOnly="true">
      <xsd:simpleType>
        <xsd:restriction base="dms:Unknown"/>
      </xsd:simpleType>
    </xsd:element>
    <xsd:element name="lcf76f155ced4ddcb4097134ff3c332f" ma:index="25" nillable="true" ma:taxonomy="true" ma:internalName="lcf76f155ced4ddcb4097134ff3c332f" ma:taxonomyFieldName="MediaServiceImageTags" ma:displayName="Tagi obrazów" ma:readOnly="false" ma:fieldId="{5cf76f15-5ced-4ddc-b409-7134ff3c332f}" ma:taxonomyMulti="true" ma:sspId="6c14374e-486f-48a9-aaa2-22e79798a661" ma:termSetId="09814cd3-568e-fe90-9814-8d621ff8fb84" ma:anchorId="fba54fb3-c3e1-fe81-a776-ca4b69148c4d" ma:open="true" ma:isKeyword="false">
      <xsd:complexType>
        <xsd:sequence>
          <xsd:element ref="pc:Terms" minOccurs="0" maxOccurs="1"/>
        </xsd:sequence>
      </xsd:complexType>
    </xsd:element>
    <xsd:element name="MediaServiceSearchProperties" ma:index="26" nillable="true" ma:displayName="MediaServiceSearchProperties" ma:hidden="true" ma:internalName="MediaServiceSearchProperties" ma:readOnly="true">
      <xsd:simpleType>
        <xsd:restriction base="dms:Note"/>
      </xsd:simpleType>
    </xsd:element>
    <xsd:element name="LastUpdate" ma:index="27" nillable="true" ma:displayName="Last Update" ma:format="Dropdown" ma:internalName="LastUpdate">
      <xsd:simpleType>
        <xsd:restriction base="dms:Text">
          <xsd:maxLength value="255"/>
        </xsd:restriction>
      </xsd:simpleType>
    </xsd:element>
    <xsd:element name="SensitivityLevel" ma:index="28" nillable="true" ma:displayName="Sensitivity Level" ma:format="Dropdown" ma:internalName="SensitivityLevel">
      <xsd:simpleType>
        <xsd:restriction base="dms:Choice">
          <xsd:enumeration value="General/Internal"/>
          <xsd:enumeration value="General/External"/>
          <xsd:enumeration value="Restricted/External"/>
          <xsd:enumeration value="Restricted/Internal"/>
        </xsd:restriction>
      </xsd:simpleType>
    </xsd:element>
    <xsd:element name="MediaServiceObjectDetectorVersions" ma:index="29" nillable="true" ma:displayName="MediaServiceObjectDetectorVersions" ma:description="" ma:hidden="true" ma:indexed="true" ma:internalName="MediaServiceObjectDetectorVersions" ma:readOnly="true">
      <xsd:simpleType>
        <xsd:restriction base="dms:Text"/>
      </xsd:simpleType>
    </xsd:element>
    <xsd:element name="MediaServiceBillingMetadata" ma:index="30"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d12b9936-9868-4837-b2ca-9cd32d14129f" elementFormDefault="qualified">
    <xsd:import namespace="http://schemas.microsoft.com/office/2006/documentManagement/types"/>
    <xsd:import namespace="http://schemas.microsoft.com/office/infopath/2007/PartnerControls"/>
    <xsd:element name="SharedWithUsers" ma:index="10" nillable="true" ma:displayName="Udostępniani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Udostępnione dla — szczegóły" ma:internalName="SharedWithDetails" ma:readOnly="true">
      <xsd:simpleType>
        <xsd:restriction base="dms:Note">
          <xsd:maxLength value="255"/>
        </xsd:restriction>
      </xsd:simpleType>
    </xsd:element>
    <xsd:element name="TaxKeywordTaxHTField" ma:index="16" nillable="true" ma:taxonomy="true" ma:internalName="TaxKeywordTaxHTField" ma:taxonomyFieldName="TaxKeyword" ma:displayName="Słowa kluczowe przedsiębiorstwa" ma:fieldId="{23f27201-bee3-471e-b2e7-b64fd8b7ca38}" ma:taxonomyMulti="true" ma:sspId="6c14374e-486f-48a9-aaa2-22e79798a661" ma:termSetId="00000000-0000-0000-0000-000000000000" ma:anchorId="00000000-0000-0000-0000-000000000000" ma:open="true" ma:isKeyword="true">
      <xsd:complexType>
        <xsd:sequence>
          <xsd:element ref="pc:Terms" minOccurs="0" maxOccurs="1"/>
        </xsd:sequence>
      </xsd:complexType>
    </xsd:element>
    <xsd:element name="TaxCatchAll" ma:index="17" nillable="true" ma:displayName="Taxonomy Catch All Column" ma:hidden="true" ma:list="{a6e908f1-fb6b-4520-ab7a-943ea3761223}" ma:internalName="TaxCatchAll" ma:showField="CatchAllData" ma:web="d12b9936-9868-4837-b2ca-9cd32d14129f">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 zawartości"/>
        <xsd:element ref="dc:title" minOccurs="0" maxOccurs="1" ma:index="4" ma:displayName="Tytuł"/>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4.xml><?xml version="1.0" encoding="utf-8"?>
<p:properties xmlns:p="http://schemas.microsoft.com/office/2006/metadata/properties" xmlns:xsi="http://www.w3.org/2001/XMLSchema-instance" xmlns:pc="http://schemas.microsoft.com/office/infopath/2007/PartnerControls">
  <documentManagement>
    <TaxCatchAll xmlns="d12b9936-9868-4837-b2ca-9cd32d14129f" xsi:nil="true"/>
    <lcf76f155ced4ddcb4097134ff3c332f xmlns="14caeef9-b53f-42a6-990e-fcac1125bd35">
      <Terms xmlns="http://schemas.microsoft.com/office/infopath/2007/PartnerControls"/>
    </lcf76f155ced4ddcb4097134ff3c332f>
    <LastUpdate xmlns="14caeef9-b53f-42a6-990e-fcac1125bd35" xsi:nil="true"/>
    <TaxKeywordTaxHTField xmlns="d12b9936-9868-4837-b2ca-9cd32d14129f">
      <Terms xmlns="http://schemas.microsoft.com/office/infopath/2007/PartnerControls"/>
    </TaxKeywordTaxHTField>
    <SensitivityLevel xmlns="14caeef9-b53f-42a6-990e-fcac1125bd35" xsi:nil="true"/>
  </documentManagement>
</p:properties>
</file>

<file path=customXml/itemProps1.xml><?xml version="1.0" encoding="utf-8"?>
<ds:datastoreItem xmlns:ds="http://schemas.openxmlformats.org/officeDocument/2006/customXml" ds:itemID="{7E194F45-3F03-4AD9-A56A-8BD1BD771C02}"/>
</file>

<file path=customXml/itemProps2.xml><?xml version="1.0" encoding="utf-8"?>
<ds:datastoreItem xmlns:ds="http://schemas.openxmlformats.org/officeDocument/2006/customXml" ds:itemID="{94E79AB2-FB0E-4C95-93A7-27BD64825C4A}"/>
</file>

<file path=customXml/itemProps3.xml><?xml version="1.0" encoding="utf-8"?>
<ds:datastoreItem xmlns:ds="http://schemas.openxmlformats.org/officeDocument/2006/customXml" ds:itemID="{0D9190A1-F73F-4A34-A814-26C593246D16}"/>
</file>

<file path=customXml/itemProps4.xml><?xml version="1.0" encoding="utf-8"?>
<ds:datastoreItem xmlns:ds="http://schemas.openxmlformats.org/officeDocument/2006/customXml" ds:itemID="{D7F816DD-6D73-4254-B9F1-21BE6B2F5680}"/>
</file>

<file path=docMetadata/LabelInfo.xml><?xml version="1.0" encoding="utf-8"?>
<clbl:labelList xmlns:clbl="http://schemas.microsoft.com/office/2020/mipLabelMetadata">
  <clbl:label id="{a9324442-4656-4fca-b26e-099b64ea741e}" enabled="1" method="Standard" siteId="{18a01ad8-9727-498a-a47d-17374c6fd9f7}" contentBits="2" removed="0"/>
</clbl:labelList>
</file>

<file path=docProps/app.xml><?xml version="1.0" encoding="utf-8"?>
<Properties xmlns="http://schemas.openxmlformats.org/officeDocument/2006/extended-properties" xmlns:vt="http://schemas.openxmlformats.org/officeDocument/2006/docPropsVTypes">
  <TotalTime>0</TotalTime>
  <Words>3887</Words>
  <Application>Microsoft Office PowerPoint</Application>
  <PresentationFormat>Widescreen</PresentationFormat>
  <Paragraphs>493</Paragraphs>
  <Slides>20</Slides>
  <Notes>20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Aptos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MDLZ OSA 2.0 Workshop</dc:creator>
  <cp:lastModifiedBy>Cerqueira, Marcelo</cp:lastModifiedBy>
  <cp:revision>1</cp:revision>
  <dcterms:created xsi:type="dcterms:W3CDTF">2026-10-02T16:09:15Z</dcterms:created>
  <dcterms:modified xsi:type="dcterms:W3CDTF">2026-10-02T16:21:37Z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assificationContentMarkingFooterLocations">
    <vt:lpwstr>Office Theme:3</vt:lpwstr>
  </property>
  <property fmtid="{D5CDD505-2E9C-101B-9397-08002B2CF9AE}" pid="3" name="ClassificationContentMarkingFooterText">
    <vt:lpwstr>Mondelez International Internal</vt:lpwstr>
  </property>
  <property fmtid="{D5CDD505-2E9C-101B-9397-08002B2CF9AE}" pid="4" name="ContentTypeId">
    <vt:lpwstr>0x010100266914E79E88C442A399C0003F001ABD</vt:lpwstr>
  </property>
  <property fmtid="{D5CDD505-2E9C-101B-9397-08002B2CF9AE}" pid="5" name="MSIP_Label_d94663fb-310a-4ae8-a480-b0fe79d42f7a_Enabled">
    <vt:lpwstr>True</vt:lpwstr>
  </property>
  <property fmtid="{D5CDD505-2E9C-101B-9397-08002B2CF9AE}" pid="6" name="MSIP_Label_d94663fb-310a-4ae8-a480-b0fe79d42f7a_SiteId">
    <vt:lpwstr>2ee548e1-6be8-4729-b86e-f482e29d2c9f</vt:lpwstr>
  </property>
  <property fmtid="{D5CDD505-2E9C-101B-9397-08002B2CF9AE}" pid="7" name="MSIP_Label_d94663fb-310a-4ae8-a480-b0fe79d42f7a_SetDate">
    <vt:lpwstr>2026-10-05T08:42:48Z</vt:lpwstr>
  </property>
  <property fmtid="{D5CDD505-2E9C-101B-9397-08002B2CF9AE}" pid="8" name="MSIP_Label_d94663fb-310a-4ae8-a480-b0fe79d42f7a_Name">
    <vt:lpwstr>Restricted \ Internal</vt:lpwstr>
  </property>
  <property fmtid="{D5CDD505-2E9C-101B-9397-08002B2CF9AE}" pid="9" name="MSIP_Label_d94663fb-310a-4ae8-a480-b0fe79d42f7a_ActionId">
    <vt:lpwstr>ffddfea2-8e95-403c-b0c5-f41d921f443e</vt:lpwstr>
  </property>
  <property fmtid="{D5CDD505-2E9C-101B-9397-08002B2CF9AE}" pid="10" name="MSIP_Label_d94663fb-310a-4ae8-a480-b0fe79d42f7a_Removed">
    <vt:lpwstr>False</vt:lpwstr>
  </property>
  <property fmtid="{D5CDD505-2E9C-101B-9397-08002B2CF9AE}" pid="11" name="MSIP_Label_d94663fb-310a-4ae8-a480-b0fe79d42f7a_Parent">
    <vt:lpwstr>3447c18b-a761-48d1-863f-4767c0b8daa1</vt:lpwstr>
  </property>
  <property fmtid="{D5CDD505-2E9C-101B-9397-08002B2CF9AE}" pid="12" name="MSIP_Label_d94663fb-310a-4ae8-a480-b0fe79d42f7a_Extended_MSFT_Method">
    <vt:lpwstr>Standard</vt:lpwstr>
  </property>
  <property fmtid="{D5CDD505-2E9C-101B-9397-08002B2CF9AE}" pid="13" name="MSIP_Label_3447c18b-a761-48d1-863f-4767c0b8daa1_Enabled">
    <vt:lpwstr>True</vt:lpwstr>
  </property>
  <property fmtid="{D5CDD505-2E9C-101B-9397-08002B2CF9AE}" pid="14" name="MSIP_Label_3447c18b-a761-48d1-863f-4767c0b8daa1_SiteId">
    <vt:lpwstr>2ee548e1-6be8-4729-b86e-f482e29d2c9f</vt:lpwstr>
  </property>
  <property fmtid="{D5CDD505-2E9C-101B-9397-08002B2CF9AE}" pid="15" name="MSIP_Label_3447c18b-a761-48d1-863f-4767c0b8daa1_SetDate">
    <vt:lpwstr>2026-10-05T08:42:48Z</vt:lpwstr>
  </property>
  <property fmtid="{D5CDD505-2E9C-101B-9397-08002B2CF9AE}" pid="16" name="MSIP_Label_3447c18b-a761-48d1-863f-4767c0b8daa1_Name">
    <vt:lpwstr>Restricted</vt:lpwstr>
  </property>
  <property fmtid="{D5CDD505-2E9C-101B-9397-08002B2CF9AE}" pid="17" name="MSIP_Label_3447c18b-a761-48d1-863f-4767c0b8daa1_ActionId">
    <vt:lpwstr>e1ab001f-8d4d-44a4-912b-0e426409f17f</vt:lpwstr>
  </property>
  <property fmtid="{D5CDD505-2E9C-101B-9397-08002B2CF9AE}" pid="18" name="MSIP_Label_3447c18b-a761-48d1-863f-4767c0b8daa1_Extended_MSFT_Method">
    <vt:lpwstr>Standard</vt:lpwstr>
  </property>
  <property fmtid="{D5CDD505-2E9C-101B-9397-08002B2CF9AE}" pid="19" name="Sensitivity">
    <vt:lpwstr>Restricted \ Internal Restricted</vt:lpwstr>
  </property>
</Properties>
</file>